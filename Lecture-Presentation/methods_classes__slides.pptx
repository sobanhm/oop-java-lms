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12192000" cy="6858000"/>
  <p:notesSz cx="6858000" cy="9144000"/>
  <p:defaultTextStyle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Java Lecture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defRPr sz="1800" kern="1200">
          <a:latin typeface="+mn-lt"/>
        </a:defRPr>
      </a:lvl1pPr>
    </p:titleStyle>
    <p:bodyStyle>
      <a:lvl1pPr algn="l" defTabSz="914400" rtl="0" eaLnBrk="1" latinLnBrk="0" hangingPunct="1">
        <a:defRPr sz="1800" kern="1200">
          <a:latin typeface="+mn-lt"/>
        </a:defRPr>
      </a:lvl1pPr>
    </p:bodyStyle>
    <p:otherStyle>
      <a:lvl1pPr algn="l" defTabSz="914400" rtl="0" eaLnBrk="1" latinLnBrk="0" hangingPunct="1">
        <a:defRPr sz="1800" kern="1200">
          <a:latin typeface="+mn-lt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OOP–Java • Methods, Objects &amp; Classes • Soban Hussain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1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9"/>
          <p:cNvSpPr txBox="1"/>
          <p:nvPr/>
        </p:nvSpPr>
        <p:spPr>
          <a:xfrm>
            <a:off x="566928" y="530352"/>
            <a:ext cx="164592" cy="5623560"/>
          </a:xfrm>
          <a:prstGeom prst="rect">
            <a:avLst/>
          </a:prstGeom>
          <a:solidFill>
            <a:srgbClr val="D99614"/>
          </a:solidFill>
          <a:ln w="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10"/>
          <p:cNvSpPr txBox="1"/>
          <p:nvPr/>
        </p:nvSpPr>
        <p:spPr>
          <a:xfrm>
            <a:off x="1005840" y="594360"/>
            <a:ext cx="6583680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400" b="1">
                <a:solidFill>
                  <a:srgbClr val="B8D8EE"/>
                </a:solidFill>
                <a:latin typeface="Calibri"/>
              </a:rPr>
              <a:t>TODAY'S OOP–JAVA TEACHING DECK</a:t>
            </a:r>
            <a:endParaRPr lang="en-US" sz="1400">
              <a:latin typeface="Calibri"/>
            </a:endParaRPr>
          </a:p>
        </p:txBody>
      </p:sp>
      <p:sp>
        <p:nvSpPr>
          <p:cNvPr id="11" name="Shape 11"/>
          <p:cNvSpPr txBox="1"/>
          <p:nvPr/>
        </p:nvSpPr>
        <p:spPr>
          <a:xfrm>
            <a:off x="1005840" y="1143000"/>
            <a:ext cx="9966960" cy="123444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3500" b="1">
                <a:solidFill>
                  <a:srgbClr val="FFFFFF"/>
                </a:solidFill>
                <a:latin typeface="Calibri"/>
              </a:rPr>
              <a:t>Methods, Objects,</a:t>
            </a:r>
            <a:endParaRPr lang="en-US" sz="3500">
              <a:latin typeface="Calibri"/>
            </a:endParaRPr>
          </a:p>
          <a:p>
            <a:pPr algn="l">
              <a:buNone/>
            </a:pPr>
            <a:r>
              <a:rPr lang="en-US" sz="3500" b="1">
                <a:solidFill>
                  <a:srgbClr val="FFFFFF"/>
                </a:solidFill>
                <a:latin typeface="Calibri"/>
              </a:rPr>
              <a:t>and Classes in Java</a:t>
            </a:r>
            <a:endParaRPr lang="en-US" sz="3500">
              <a:latin typeface="Calibri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1005840" y="2606040"/>
            <a:ext cx="9692640" cy="64008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100" b="1">
                <a:solidFill>
                  <a:srgbClr val="D9EAF4"/>
                </a:solidFill>
                <a:latin typeface="Calibri"/>
              </a:rPr>
              <a:t>Simple definitions • Real-world analogies • Live Java code</a:t>
            </a:r>
            <a:endParaRPr lang="en-US" sz="2100">
              <a:latin typeface="Calibri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1005840" y="3703320"/>
            <a:ext cx="2322576" cy="960120"/>
          </a:xfrm>
          <a:prstGeom prst="roundRect">
            <a:avLst/>
          </a:prstGeom>
          <a:solidFill>
            <a:srgbClr val="246A9B"/>
          </a:solidFill>
          <a:ln w="12700">
            <a:solidFill>
              <a:srgbClr val="246A9B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</a:rPr>
              <a:t>Method</a:t>
            </a:r>
            <a:endParaRPr lang="en-US" sz="1600">
              <a:latin typeface="Calibri"/>
            </a:endParaRPr>
          </a:p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</a:rPr>
              <a:t>Reusable Task</a:t>
            </a:r>
            <a:endParaRPr lang="en-US" sz="1600">
              <a:latin typeface="Calibri"/>
            </a:endParaRPr>
          </a:p>
        </p:txBody>
      </p:sp>
      <p:cxnSp>
        <p:nvCxnSpPr>
          <p:cNvPr id="14" name="Connector 14"/>
          <p:cNvCxnSpPr/>
          <p:nvPr/>
        </p:nvCxnSpPr>
        <p:spPr>
          <a:xfrm>
            <a:off x="3364992" y="418338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5" name="Shape 15"/>
          <p:cNvSpPr txBox="1"/>
          <p:nvPr/>
        </p:nvSpPr>
        <p:spPr>
          <a:xfrm>
            <a:off x="3639312" y="3703320"/>
            <a:ext cx="2322576" cy="960120"/>
          </a:xfrm>
          <a:prstGeom prst="roundRect">
            <a:avLst/>
          </a:prstGeom>
          <a:solidFill>
            <a:srgbClr val="17807E"/>
          </a:solidFill>
          <a:ln w="12700">
            <a:solidFill>
              <a:srgbClr val="17807E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</a:rPr>
              <a:t>Class</a:t>
            </a:r>
            <a:endParaRPr lang="en-US" sz="1600">
              <a:latin typeface="Calibri"/>
            </a:endParaRPr>
          </a:p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</a:rPr>
              <a:t>Blueprint</a:t>
            </a:r>
            <a:endParaRPr lang="en-US" sz="1600">
              <a:latin typeface="Calibri"/>
            </a:endParaRPr>
          </a:p>
        </p:txBody>
      </p:sp>
      <p:cxnSp>
        <p:nvCxnSpPr>
          <p:cNvPr id="16" name="Connector 16"/>
          <p:cNvCxnSpPr/>
          <p:nvPr/>
        </p:nvCxnSpPr>
        <p:spPr>
          <a:xfrm>
            <a:off x="5998464" y="418338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7" name="Shape 17"/>
          <p:cNvSpPr txBox="1"/>
          <p:nvPr/>
        </p:nvSpPr>
        <p:spPr>
          <a:xfrm>
            <a:off x="6272784" y="3703320"/>
            <a:ext cx="2322576" cy="960120"/>
          </a:xfrm>
          <a:prstGeom prst="roundRect">
            <a:avLst/>
          </a:prstGeom>
          <a:solidFill>
            <a:srgbClr val="D99614"/>
          </a:solidFill>
          <a:ln w="12700">
            <a:solidFill>
              <a:srgbClr val="D99614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</a:rPr>
              <a:t>Object</a:t>
            </a:r>
            <a:endParaRPr lang="en-US" sz="1600">
              <a:latin typeface="Calibri"/>
            </a:endParaRPr>
          </a:p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</a:rPr>
              <a:t>Instance</a:t>
            </a:r>
            <a:endParaRPr lang="en-US" sz="1600">
              <a:latin typeface="Calibri"/>
            </a:endParaRPr>
          </a:p>
        </p:txBody>
      </p:sp>
      <p:sp>
        <p:nvSpPr>
          <p:cNvPr id="18" name="Shape 18"/>
          <p:cNvSpPr txBox="1"/>
          <p:nvPr/>
        </p:nvSpPr>
        <p:spPr>
          <a:xfrm>
            <a:off x="1005840" y="5074920"/>
            <a:ext cx="9601200" cy="77724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900" b="1">
                <a:solidFill>
                  <a:srgbClr val="FFFFFF"/>
                </a:solidFill>
                <a:latin typeface="Calibri"/>
              </a:rPr>
              <a:t>Soban Hussain</a:t>
            </a:r>
            <a:endParaRPr lang="en-US" sz="1900">
              <a:latin typeface="Calibri"/>
            </a:endParaRPr>
          </a:p>
          <a:p>
            <a:pPr algn="l">
              <a:buNone/>
            </a:pPr>
            <a:r>
              <a:rPr lang="en-US" sz="1900" b="1">
                <a:solidFill>
                  <a:srgbClr val="FFFFFF"/>
                </a:solidFill>
                <a:latin typeface="Calibri"/>
              </a:rPr>
              <a:t>Teaching Assistant • The University of Larkano</a:t>
            </a:r>
            <a:endParaRPr lang="en-US" sz="1900">
              <a:latin typeface="Calibri"/>
            </a:endParaRPr>
          </a:p>
        </p:txBody>
      </p:sp>
      <p:sp>
        <p:nvSpPr>
          <p:cNvPr id="19" name="Shape 19"/>
          <p:cNvSpPr txBox="1"/>
          <p:nvPr/>
        </p:nvSpPr>
        <p:spPr>
          <a:xfrm>
            <a:off x="1005840" y="6016752"/>
            <a:ext cx="868680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400" b="0">
                <a:solidFill>
                  <a:srgbClr val="B8CBDC"/>
                </a:solidFill>
                <a:latin typeface="Calibri"/>
              </a:rPr>
              <a:t>Wednesday, September 2, 2026</a:t>
            </a:r>
            <a:endParaRPr lang="en-US" sz="1400"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Learning Outcomes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OOP–Java • Methods, Objects &amp; Classes • Soban Hussain  |  Introduction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2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640080" y="914400"/>
            <a:ext cx="5394960" cy="5212080"/>
          </a:xfrm>
          <a:prstGeom prst="roundRect">
            <a:avLst/>
          </a:prstGeom>
          <a:solidFill>
            <a:srgbClr val="F2F6F9"/>
          </a:solidFill>
          <a:ln w="12700">
            <a:solidFill>
              <a:srgbClr val="CCD6DF"/>
            </a:solidFill>
          </a:ln>
        </p:spPr>
        <p:txBody>
          <a:bodyPr wrap="square" lIns="146304" tIns="118872" rIns="91440" bIns="91440" anchor="t"/>
          <a:lstStyle/>
          <a:p>
            <a:pPr algn="l">
              <a:buNone/>
            </a:pPr>
            <a:r>
              <a:rPr lang="en-US" sz="2200" b="1">
                <a:solidFill>
                  <a:srgbClr val="163D63"/>
                </a:solidFill>
              </a:rPr>
              <a:t>Methods</a:t>
            </a:r>
          </a:p>
          <a:p>
            <a:pPr marL="256032" indent="-146304" algn="l">
              <a:buChar char="•"/>
            </a:pPr>
            <a:r>
              <a:rPr lang="en-US" sz="2000">
                <a:solidFill>
                  <a:srgbClr val="203040"/>
                </a:solidFill>
                <a:latin typeface="Calibri"/>
              </a:rPr>
              <a:t>Explain what a method is and why it is useful</a:t>
            </a:r>
            <a:endParaRPr lang="en-US" sz="2000"/>
          </a:p>
          <a:p>
            <a:pPr marL="256032" indent="-146304" algn="l">
              <a:buChar char="•"/>
            </a:pPr>
            <a:r>
              <a:rPr lang="en-US" sz="2000">
                <a:solidFill>
                  <a:srgbClr val="203040"/>
                </a:solidFill>
                <a:latin typeface="Calibri"/>
              </a:rPr>
              <a:t>Declare and call methods with parameters</a:t>
            </a:r>
            <a:endParaRPr lang="en-US" sz="2000"/>
          </a:p>
          <a:p>
            <a:pPr marL="256032" indent="-146304" algn="l">
              <a:buChar char="•"/>
            </a:pPr>
            <a:r>
              <a:rPr lang="en-US" sz="2000">
                <a:solidFill>
                  <a:srgbClr val="203040"/>
                </a:solidFill>
                <a:latin typeface="Calibri"/>
              </a:rPr>
              <a:t>Use void methods and return-value methods</a:t>
            </a:r>
            <a:endParaRPr lang="en-US" sz="2000"/>
          </a:p>
          <a:p>
            <a:pPr marL="256032" indent="-146304" algn="l">
              <a:buChar char="•"/>
            </a:pPr>
            <a:r>
              <a:rPr lang="en-US" sz="2000">
                <a:solidFill>
                  <a:srgbClr val="203040"/>
                </a:solidFill>
                <a:latin typeface="Calibri"/>
              </a:rPr>
              <a:t>Recognize local scope and method overloading</a:t>
            </a:r>
            <a:endParaRPr lang="en-US" sz="2000"/>
          </a:p>
        </p:txBody>
      </p:sp>
      <p:sp>
        <p:nvSpPr>
          <p:cNvPr id="9" name="Shape 9"/>
          <p:cNvSpPr txBox="1"/>
          <p:nvPr/>
        </p:nvSpPr>
        <p:spPr>
          <a:xfrm>
            <a:off x="6263640" y="914400"/>
            <a:ext cx="5303520" cy="5212080"/>
          </a:xfrm>
          <a:prstGeom prst="roundRect">
            <a:avLst/>
          </a:prstGeom>
          <a:solidFill>
            <a:srgbClr val="F2F6F9"/>
          </a:solidFill>
          <a:ln w="12700">
            <a:solidFill>
              <a:srgbClr val="CCD6DF"/>
            </a:solidFill>
          </a:ln>
        </p:spPr>
        <p:txBody>
          <a:bodyPr wrap="square" lIns="146304" tIns="118872" rIns="91440" bIns="91440" anchor="t"/>
          <a:lstStyle/>
          <a:p>
            <a:pPr algn="l">
              <a:buNone/>
            </a:pPr>
            <a:r>
              <a:rPr lang="en-US" sz="2200" b="1">
                <a:solidFill>
                  <a:srgbClr val="163D63"/>
                </a:solidFill>
              </a:rPr>
              <a:t>Classes and Objects</a:t>
            </a:r>
          </a:p>
          <a:p>
            <a:pPr marL="256032" indent="-146304" algn="l">
              <a:buChar char="•"/>
            </a:pPr>
            <a:r>
              <a:rPr lang="en-US" sz="2000">
                <a:solidFill>
                  <a:srgbClr val="203040"/>
                </a:solidFill>
                <a:latin typeface="Calibri"/>
              </a:rPr>
              <a:t>Explain the difference between a class and an object</a:t>
            </a:r>
            <a:endParaRPr lang="en-US" sz="2000"/>
          </a:p>
          <a:p>
            <a:pPr marL="256032" indent="-146304" algn="l">
              <a:buChar char="•"/>
            </a:pPr>
            <a:r>
              <a:rPr lang="en-US" sz="2000">
                <a:solidFill>
                  <a:srgbClr val="203040"/>
                </a:solidFill>
                <a:latin typeface="Calibri"/>
              </a:rPr>
              <a:t>Create fields, constructors, and instance methods</a:t>
            </a:r>
            <a:endParaRPr lang="en-US" sz="2000"/>
          </a:p>
          <a:p>
            <a:pPr marL="256032" indent="-146304" algn="l">
              <a:buChar char="•"/>
            </a:pPr>
            <a:r>
              <a:rPr lang="en-US" sz="2000">
                <a:solidFill>
                  <a:srgbClr val="203040"/>
                </a:solidFill>
                <a:latin typeface="Calibri"/>
              </a:rPr>
              <a:t>Use this, private fields, and controlled access</a:t>
            </a:r>
            <a:endParaRPr lang="en-US" sz="2000"/>
          </a:p>
          <a:p>
            <a:pPr marL="256032" indent="-146304" algn="l">
              <a:buChar char="•"/>
            </a:pPr>
            <a:r>
              <a:rPr lang="en-US" sz="2000">
                <a:solidFill>
                  <a:srgbClr val="203040"/>
                </a:solidFill>
                <a:latin typeface="Calibri"/>
              </a:rPr>
              <a:t>Build and use multiple objects in a program</a:t>
            </a:r>
            <a:endParaRPr 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Today's Roadmap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OOP–Java • Methods, Objects &amp; Classes • Soban Hussain  |  Introduction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3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411480" y="1828800"/>
            <a:ext cx="1353312" cy="1051560"/>
          </a:xfrm>
          <a:prstGeom prst="roundRect">
            <a:avLst/>
          </a:prstGeom>
          <a:solidFill>
            <a:srgbClr val="246A9B"/>
          </a:solidFill>
          <a:ln w="12700">
            <a:solidFill>
              <a:srgbClr val="246A9B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</a:rPr>
              <a:t>Review</a:t>
            </a:r>
            <a:endParaRPr lang="en-US" sz="1400">
              <a:latin typeface="Calibri"/>
            </a:endParaRPr>
          </a:p>
        </p:txBody>
      </p:sp>
      <p:cxnSp>
        <p:nvCxnSpPr>
          <p:cNvPr id="9" name="Connector 9"/>
          <p:cNvCxnSpPr/>
          <p:nvPr/>
        </p:nvCxnSpPr>
        <p:spPr>
          <a:xfrm>
            <a:off x="1801368" y="235458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0" name="Shape 10"/>
          <p:cNvSpPr txBox="1"/>
          <p:nvPr/>
        </p:nvSpPr>
        <p:spPr>
          <a:xfrm>
            <a:off x="2075688" y="1828800"/>
            <a:ext cx="1353312" cy="1051560"/>
          </a:xfrm>
          <a:prstGeom prst="roundRect">
            <a:avLst/>
          </a:prstGeom>
          <a:solidFill>
            <a:srgbClr val="17807E"/>
          </a:solidFill>
          <a:ln w="12700">
            <a:solidFill>
              <a:srgbClr val="17807E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</a:rPr>
              <a:t>Methods</a:t>
            </a:r>
            <a:endParaRPr lang="en-US" sz="1400">
              <a:latin typeface="Calibri"/>
            </a:endParaRPr>
          </a:p>
        </p:txBody>
      </p:sp>
      <p:cxnSp>
        <p:nvCxnSpPr>
          <p:cNvPr id="11" name="Connector 11"/>
          <p:cNvCxnSpPr/>
          <p:nvPr/>
        </p:nvCxnSpPr>
        <p:spPr>
          <a:xfrm>
            <a:off x="3465576" y="235458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2" name="Shape 12"/>
          <p:cNvSpPr txBox="1"/>
          <p:nvPr/>
        </p:nvSpPr>
        <p:spPr>
          <a:xfrm>
            <a:off x="3739896" y="1828800"/>
            <a:ext cx="1353312" cy="1051560"/>
          </a:xfrm>
          <a:prstGeom prst="roundRect">
            <a:avLst/>
          </a:prstGeom>
          <a:solidFill>
            <a:srgbClr val="D99614"/>
          </a:solidFill>
          <a:ln w="12700">
            <a:solidFill>
              <a:srgbClr val="D99614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</a:rPr>
              <a:t>Parameters</a:t>
            </a:r>
            <a:endParaRPr lang="en-US" sz="1400">
              <a:latin typeface="Calibri"/>
            </a:endParaRPr>
          </a:p>
        </p:txBody>
      </p:sp>
      <p:cxnSp>
        <p:nvCxnSpPr>
          <p:cNvPr id="13" name="Connector 13"/>
          <p:cNvCxnSpPr/>
          <p:nvPr/>
        </p:nvCxnSpPr>
        <p:spPr>
          <a:xfrm>
            <a:off x="5129784" y="235458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4" name="Shape 14"/>
          <p:cNvSpPr txBox="1"/>
          <p:nvPr/>
        </p:nvSpPr>
        <p:spPr>
          <a:xfrm>
            <a:off x="5404104" y="1828800"/>
            <a:ext cx="1353312" cy="1051560"/>
          </a:xfrm>
          <a:prstGeom prst="roundRect">
            <a:avLst/>
          </a:prstGeom>
          <a:solidFill>
            <a:srgbClr val="3C8C5A"/>
          </a:solidFill>
          <a:ln w="12700">
            <a:solidFill>
              <a:srgbClr val="3C8C5A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</a:rPr>
              <a:t>Classes</a:t>
            </a:r>
            <a:endParaRPr lang="en-US" sz="1400">
              <a:latin typeface="Calibri"/>
            </a:endParaRPr>
          </a:p>
        </p:txBody>
      </p:sp>
      <p:cxnSp>
        <p:nvCxnSpPr>
          <p:cNvPr id="15" name="Connector 15"/>
          <p:cNvCxnSpPr/>
          <p:nvPr/>
        </p:nvCxnSpPr>
        <p:spPr>
          <a:xfrm>
            <a:off x="6793992" y="235458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6" name="Shape 16"/>
          <p:cNvSpPr txBox="1"/>
          <p:nvPr/>
        </p:nvSpPr>
        <p:spPr>
          <a:xfrm>
            <a:off x="7068312" y="1828800"/>
            <a:ext cx="1353312" cy="1051560"/>
          </a:xfrm>
          <a:prstGeom prst="roundRect">
            <a:avLst/>
          </a:prstGeom>
          <a:solidFill>
            <a:srgbClr val="246A9B"/>
          </a:solidFill>
          <a:ln w="12700">
            <a:solidFill>
              <a:srgbClr val="246A9B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</a:rPr>
              <a:t>Objects</a:t>
            </a:r>
            <a:endParaRPr lang="en-US" sz="1400">
              <a:latin typeface="Calibri"/>
            </a:endParaRPr>
          </a:p>
        </p:txBody>
      </p:sp>
      <p:cxnSp>
        <p:nvCxnSpPr>
          <p:cNvPr id="17" name="Connector 17"/>
          <p:cNvCxnSpPr/>
          <p:nvPr/>
        </p:nvCxnSpPr>
        <p:spPr>
          <a:xfrm>
            <a:off x="8458200" y="235458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8" name="Shape 18"/>
          <p:cNvSpPr txBox="1"/>
          <p:nvPr/>
        </p:nvSpPr>
        <p:spPr>
          <a:xfrm>
            <a:off x="8732520" y="1828800"/>
            <a:ext cx="1353312" cy="1051560"/>
          </a:xfrm>
          <a:prstGeom prst="roundRect">
            <a:avLst/>
          </a:prstGeom>
          <a:solidFill>
            <a:srgbClr val="17807E"/>
          </a:solidFill>
          <a:ln w="12700">
            <a:solidFill>
              <a:srgbClr val="17807E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</a:rPr>
              <a:t>Constructors</a:t>
            </a:r>
            <a:endParaRPr lang="en-US" sz="1400">
              <a:latin typeface="Calibri"/>
            </a:endParaRPr>
          </a:p>
        </p:txBody>
      </p:sp>
      <p:cxnSp>
        <p:nvCxnSpPr>
          <p:cNvPr id="19" name="Connector 19"/>
          <p:cNvCxnSpPr/>
          <p:nvPr/>
        </p:nvCxnSpPr>
        <p:spPr>
          <a:xfrm>
            <a:off x="10122408" y="235458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20" name="Shape 20"/>
          <p:cNvSpPr txBox="1"/>
          <p:nvPr/>
        </p:nvSpPr>
        <p:spPr>
          <a:xfrm>
            <a:off x="10396728" y="1828800"/>
            <a:ext cx="1353312" cy="1051560"/>
          </a:xfrm>
          <a:prstGeom prst="roundRect">
            <a:avLst/>
          </a:prstGeom>
          <a:solidFill>
            <a:srgbClr val="D99614"/>
          </a:solidFill>
          <a:ln w="12700">
            <a:solidFill>
              <a:srgbClr val="D99614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</a:rPr>
              <a:t>Practice</a:t>
            </a:r>
            <a:endParaRPr lang="en-US" sz="1400">
              <a:latin typeface="Calibri"/>
            </a:endParaRPr>
          </a:p>
        </p:txBody>
      </p:sp>
      <p:sp>
        <p:nvSpPr>
          <p:cNvPr id="21" name="Shape 21"/>
          <p:cNvSpPr txBox="1"/>
          <p:nvPr/>
        </p:nvSpPr>
        <p:spPr>
          <a:xfrm>
            <a:off x="777240" y="4160520"/>
            <a:ext cx="10652760" cy="621792"/>
          </a:xfrm>
          <a:prstGeom prst="roundRect">
            <a:avLst/>
          </a:prstGeom>
          <a:solidFill>
            <a:srgbClr val="FFF6E5"/>
          </a:solidFill>
          <a:ln w="12700">
            <a:solidFill>
              <a:srgbClr val="17807E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800" b="1">
                <a:solidFill>
                  <a:srgbClr val="203040"/>
                </a:solidFill>
                <a:latin typeface="Calibri"/>
              </a:rPr>
              <a:t>Move from reusable tasks to complete real-world software entities.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The Big Idea of OOP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OOP–Java • Methods, Objects &amp; Classes • Soban Hussain  |  Introduction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4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731520" y="1143000"/>
            <a:ext cx="3246120" cy="356616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9"/>
          <p:cNvSpPr txBox="1"/>
          <p:nvPr/>
        </p:nvSpPr>
        <p:spPr>
          <a:xfrm>
            <a:off x="731520" y="1143000"/>
            <a:ext cx="3246120" cy="393192"/>
          </a:xfrm>
          <a:prstGeom prst="roundRect">
            <a:avLst/>
          </a:prstGeom>
          <a:solidFill>
            <a:srgbClr val="246A9B"/>
          </a:solidFill>
          <a:ln w="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10"/>
          <p:cNvSpPr txBox="1"/>
          <p:nvPr/>
        </p:nvSpPr>
        <p:spPr>
          <a:xfrm>
            <a:off x="841248" y="1197864"/>
            <a:ext cx="302666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Data / State</a:t>
            </a:r>
            <a:endParaRPr lang="en-US" sz="1700">
              <a:latin typeface="Calibri"/>
            </a:endParaRPr>
          </a:p>
        </p:txBody>
      </p:sp>
      <p:sp>
        <p:nvSpPr>
          <p:cNvPr id="11" name="Shape 11"/>
          <p:cNvSpPr txBox="1"/>
          <p:nvPr/>
        </p:nvSpPr>
        <p:spPr>
          <a:xfrm>
            <a:off x="859536" y="1645920"/>
            <a:ext cx="2990088" cy="297180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What an entity has</a:t>
            </a:r>
            <a:endParaRPr lang="en-US" sz="2000">
              <a:latin typeface="Calibri"/>
            </a:endParaRPr>
          </a:p>
          <a:p>
            <a:pPr algn="l">
              <a:buNone/>
            </a:pPr>
            <a:endParaRPr lang="en-US" sz="2000">
              <a:latin typeface="Calibri"/>
            </a:endParaRPr>
          </a:p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Student: name, roll number, marks</a:t>
            </a:r>
            <a:endParaRPr lang="en-US" sz="2000">
              <a:latin typeface="Calibri"/>
            </a:endParaRPr>
          </a:p>
          <a:p>
            <a:pPr algn="l">
              <a:buNone/>
            </a:pPr>
            <a:endParaRPr lang="en-US" sz="2000">
              <a:latin typeface="Calibri"/>
            </a:endParaRPr>
          </a:p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Car: color, speed, fuel</a:t>
            </a:r>
            <a:endParaRPr lang="en-US" sz="2000">
              <a:latin typeface="Calibri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4480560" y="1143000"/>
            <a:ext cx="3246120" cy="356616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3"/>
          <p:cNvSpPr txBox="1"/>
          <p:nvPr/>
        </p:nvSpPr>
        <p:spPr>
          <a:xfrm>
            <a:off x="4480560" y="1143000"/>
            <a:ext cx="3246120" cy="393192"/>
          </a:xfrm>
          <a:prstGeom prst="roundRect">
            <a:avLst/>
          </a:prstGeom>
          <a:solidFill>
            <a:srgbClr val="17807E"/>
          </a:solidFill>
          <a:ln w="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4"/>
          <p:cNvSpPr txBox="1"/>
          <p:nvPr/>
        </p:nvSpPr>
        <p:spPr>
          <a:xfrm>
            <a:off x="4590288" y="1197864"/>
            <a:ext cx="302666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Behavior</a:t>
            </a:r>
            <a:endParaRPr lang="en-US" sz="1700">
              <a:latin typeface="Calibri"/>
            </a:endParaRPr>
          </a:p>
        </p:txBody>
      </p:sp>
      <p:sp>
        <p:nvSpPr>
          <p:cNvPr id="15" name="Shape 15"/>
          <p:cNvSpPr txBox="1"/>
          <p:nvPr/>
        </p:nvSpPr>
        <p:spPr>
          <a:xfrm>
            <a:off x="4608576" y="1645920"/>
            <a:ext cx="2990088" cy="297180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What an entity does</a:t>
            </a:r>
            <a:endParaRPr lang="en-US" sz="2000">
              <a:latin typeface="Calibri"/>
            </a:endParaRPr>
          </a:p>
          <a:p>
            <a:pPr algn="l">
              <a:buNone/>
            </a:pPr>
            <a:endParaRPr lang="en-US" sz="2000">
              <a:latin typeface="Calibri"/>
            </a:endParaRPr>
          </a:p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Student: study, calculate result</a:t>
            </a:r>
            <a:endParaRPr lang="en-US" sz="2000">
              <a:latin typeface="Calibri"/>
            </a:endParaRPr>
          </a:p>
          <a:p>
            <a:pPr algn="l">
              <a:buNone/>
            </a:pPr>
            <a:endParaRPr lang="en-US" sz="2000">
              <a:latin typeface="Calibri"/>
            </a:endParaRPr>
          </a:p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Car: start, accelerate, stop</a:t>
            </a:r>
            <a:endParaRPr lang="en-US" sz="20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8229600" y="1143000"/>
            <a:ext cx="3246120" cy="356616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7"/>
          <p:cNvSpPr txBox="1"/>
          <p:nvPr/>
        </p:nvSpPr>
        <p:spPr>
          <a:xfrm>
            <a:off x="8229600" y="1143000"/>
            <a:ext cx="3246120" cy="393192"/>
          </a:xfrm>
          <a:prstGeom prst="roundRect">
            <a:avLst/>
          </a:prstGeom>
          <a:solidFill>
            <a:srgbClr val="D99614"/>
          </a:solidFill>
          <a:ln w="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8"/>
          <p:cNvSpPr txBox="1"/>
          <p:nvPr/>
        </p:nvSpPr>
        <p:spPr>
          <a:xfrm>
            <a:off x="8339328" y="1197864"/>
            <a:ext cx="302666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Object</a:t>
            </a:r>
            <a:endParaRPr lang="en-US" sz="1700">
              <a:latin typeface="Calibri"/>
            </a:endParaRPr>
          </a:p>
        </p:txBody>
      </p:sp>
      <p:sp>
        <p:nvSpPr>
          <p:cNvPr id="19" name="Shape 19"/>
          <p:cNvSpPr txBox="1"/>
          <p:nvPr/>
        </p:nvSpPr>
        <p:spPr>
          <a:xfrm>
            <a:off x="8357616" y="1645920"/>
            <a:ext cx="2990088" cy="297180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Data and behavior organized together</a:t>
            </a:r>
            <a:endParaRPr lang="en-US" sz="2000">
              <a:latin typeface="Calibri"/>
            </a:endParaRPr>
          </a:p>
          <a:p>
            <a:pPr algn="l">
              <a:buNone/>
            </a:pPr>
            <a:endParaRPr lang="en-US" sz="2000">
              <a:latin typeface="Calibri"/>
            </a:endParaRPr>
          </a:p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One object represents one actual entity in memory.</a:t>
            </a:r>
            <a:endParaRPr lang="en-US" sz="2000">
              <a:latin typeface="Calibri"/>
            </a:endParaRPr>
          </a:p>
        </p:txBody>
      </p:sp>
      <p:cxnSp>
        <p:nvCxnSpPr>
          <p:cNvPr id="20" name="Connector 20"/>
          <p:cNvCxnSpPr/>
          <p:nvPr/>
        </p:nvCxnSpPr>
        <p:spPr>
          <a:xfrm>
            <a:off x="3977640" y="2880360"/>
            <a:ext cx="457200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cxnSp>
        <p:nvCxnSpPr>
          <p:cNvPr id="21" name="Connector 21"/>
          <p:cNvCxnSpPr/>
          <p:nvPr/>
        </p:nvCxnSpPr>
        <p:spPr>
          <a:xfrm>
            <a:off x="7726680" y="2880360"/>
            <a:ext cx="457200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22" name="Shape 22"/>
          <p:cNvSpPr txBox="1"/>
          <p:nvPr/>
        </p:nvSpPr>
        <p:spPr>
          <a:xfrm>
            <a:off x="777240" y="5166360"/>
            <a:ext cx="10652760" cy="621792"/>
          </a:xfrm>
          <a:prstGeom prst="roundRect">
            <a:avLst/>
          </a:prstGeom>
          <a:solidFill>
            <a:srgbClr val="FFF6E5"/>
          </a:solidFill>
          <a:ln w="12700">
            <a:solidFill>
              <a:srgbClr val="D99614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800" b="1">
                <a:solidFill>
                  <a:srgbClr val="203040"/>
                </a:solidFill>
                <a:latin typeface="Calibri"/>
              </a:rPr>
              <a:t>OOP = data + behavior organized inside objects.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What Is a Method?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OOP–Java • Methods, Objects &amp; Classes • Soban Hussain  |  Part 1 • Methods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5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777240" y="1005840"/>
            <a:ext cx="10652760" cy="77724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ctr">
              <a:buNone/>
            </a:pPr>
            <a:r>
              <a:rPr lang="en-US" sz="2600" b="1">
                <a:solidFill>
                  <a:srgbClr val="163D63"/>
                </a:solidFill>
                <a:latin typeface="Calibri"/>
              </a:rPr>
              <a:t>A method is a named block of code that performs one specific task.</a:t>
            </a:r>
            <a:endParaRPr lang="en-US" sz="2600">
              <a:latin typeface="Calibri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914400" y="2331720"/>
            <a:ext cx="2350008" cy="1005840"/>
          </a:xfrm>
          <a:prstGeom prst="roundRect">
            <a:avLst/>
          </a:prstGeom>
          <a:solidFill>
            <a:srgbClr val="246A9B"/>
          </a:solidFill>
          <a:ln w="12700">
            <a:solidFill>
              <a:srgbClr val="246A9B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Method Name</a:t>
            </a:r>
            <a:endParaRPr lang="en-US" sz="1700">
              <a:latin typeface="Calibri"/>
            </a:endParaRPr>
          </a:p>
        </p:txBody>
      </p:sp>
      <p:cxnSp>
        <p:nvCxnSpPr>
          <p:cNvPr id="10" name="Connector 10"/>
          <p:cNvCxnSpPr/>
          <p:nvPr/>
        </p:nvCxnSpPr>
        <p:spPr>
          <a:xfrm>
            <a:off x="3300984" y="283464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1" name="Shape 11"/>
          <p:cNvSpPr txBox="1"/>
          <p:nvPr/>
        </p:nvSpPr>
        <p:spPr>
          <a:xfrm>
            <a:off x="3575304" y="2331720"/>
            <a:ext cx="2350008" cy="1005840"/>
          </a:xfrm>
          <a:prstGeom prst="roundRect">
            <a:avLst/>
          </a:prstGeom>
          <a:solidFill>
            <a:srgbClr val="17807E"/>
          </a:solidFill>
          <a:ln w="12700">
            <a:solidFill>
              <a:srgbClr val="17807E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Inputs</a:t>
            </a:r>
            <a:endParaRPr lang="en-US" sz="1700">
              <a:latin typeface="Calibri"/>
            </a:endParaRPr>
          </a:p>
        </p:txBody>
      </p:sp>
      <p:cxnSp>
        <p:nvCxnSpPr>
          <p:cNvPr id="12" name="Connector 12"/>
          <p:cNvCxnSpPr/>
          <p:nvPr/>
        </p:nvCxnSpPr>
        <p:spPr>
          <a:xfrm>
            <a:off x="5961888" y="283464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3" name="Shape 13"/>
          <p:cNvSpPr txBox="1"/>
          <p:nvPr/>
        </p:nvSpPr>
        <p:spPr>
          <a:xfrm>
            <a:off x="6236208" y="2331720"/>
            <a:ext cx="2350008" cy="1005840"/>
          </a:xfrm>
          <a:prstGeom prst="roundRect">
            <a:avLst/>
          </a:prstGeom>
          <a:solidFill>
            <a:srgbClr val="D99614"/>
          </a:solidFill>
          <a:ln w="12700">
            <a:solidFill>
              <a:srgbClr val="D99614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Instructions</a:t>
            </a:r>
            <a:endParaRPr lang="en-US" sz="1700">
              <a:latin typeface="Calibri"/>
            </a:endParaRPr>
          </a:p>
        </p:txBody>
      </p:sp>
      <p:cxnSp>
        <p:nvCxnSpPr>
          <p:cNvPr id="14" name="Connector 14"/>
          <p:cNvCxnSpPr/>
          <p:nvPr/>
        </p:nvCxnSpPr>
        <p:spPr>
          <a:xfrm>
            <a:off x="8622792" y="283464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5" name="Shape 15"/>
          <p:cNvSpPr txBox="1"/>
          <p:nvPr/>
        </p:nvSpPr>
        <p:spPr>
          <a:xfrm>
            <a:off x="8897112" y="2331720"/>
            <a:ext cx="2350008" cy="1005840"/>
          </a:xfrm>
          <a:prstGeom prst="roundRect">
            <a:avLst/>
          </a:prstGeom>
          <a:solidFill>
            <a:srgbClr val="3C8C5A"/>
          </a:solidFill>
          <a:ln w="12700">
            <a:solidFill>
              <a:srgbClr val="3C8C5A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Optional Result</a:t>
            </a:r>
            <a:endParaRPr lang="en-US" sz="17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777240" y="4343400"/>
            <a:ext cx="10652760" cy="621792"/>
          </a:xfrm>
          <a:prstGeom prst="roundRect">
            <a:avLst/>
          </a:prstGeom>
          <a:solidFill>
            <a:srgbClr val="FFF6E5"/>
          </a:solidFill>
          <a:ln w="12700">
            <a:solidFill>
              <a:srgbClr val="B64040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800" b="1">
                <a:solidFill>
                  <a:srgbClr val="203040"/>
                </a:solidFill>
                <a:latin typeface="Calibri"/>
              </a:rPr>
              <a:t>A method runs only when it is called.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Real-World Analogy: A Recipe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OOP–Java • Methods, Objects &amp; Classes • Soban Hussain  |  Part 1 • Methods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6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594360" y="1097280"/>
            <a:ext cx="3383280" cy="274320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9"/>
          <p:cNvSpPr txBox="1"/>
          <p:nvPr/>
        </p:nvSpPr>
        <p:spPr>
          <a:xfrm>
            <a:off x="594360" y="1097280"/>
            <a:ext cx="3383280" cy="393192"/>
          </a:xfrm>
          <a:prstGeom prst="roundRect">
            <a:avLst/>
          </a:prstGeom>
          <a:solidFill>
            <a:srgbClr val="246A9B"/>
          </a:solidFill>
          <a:ln w="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10"/>
          <p:cNvSpPr txBox="1"/>
          <p:nvPr/>
        </p:nvSpPr>
        <p:spPr>
          <a:xfrm>
            <a:off x="704088" y="1152144"/>
            <a:ext cx="316382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Recipe Name</a:t>
            </a:r>
            <a:endParaRPr lang="en-US" sz="1700">
              <a:latin typeface="Calibri"/>
            </a:endParaRPr>
          </a:p>
        </p:txBody>
      </p:sp>
      <p:sp>
        <p:nvSpPr>
          <p:cNvPr id="11" name="Shape 11"/>
          <p:cNvSpPr txBox="1"/>
          <p:nvPr/>
        </p:nvSpPr>
        <p:spPr>
          <a:xfrm>
            <a:off x="722376" y="1600200"/>
            <a:ext cx="3127248" cy="214884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alibri"/>
              </a:rPr>
              <a:t>makeTea</a:t>
            </a:r>
            <a:endParaRPr lang="en-US" sz="1900">
              <a:latin typeface="Calibri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4407408" y="1097280"/>
            <a:ext cx="3383280" cy="274320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3"/>
          <p:cNvSpPr txBox="1"/>
          <p:nvPr/>
        </p:nvSpPr>
        <p:spPr>
          <a:xfrm>
            <a:off x="4407408" y="1097280"/>
            <a:ext cx="3383280" cy="393192"/>
          </a:xfrm>
          <a:prstGeom prst="roundRect">
            <a:avLst/>
          </a:prstGeom>
          <a:solidFill>
            <a:srgbClr val="17807E"/>
          </a:solidFill>
          <a:ln w="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4"/>
          <p:cNvSpPr txBox="1"/>
          <p:nvPr/>
        </p:nvSpPr>
        <p:spPr>
          <a:xfrm>
            <a:off x="4517136" y="1152144"/>
            <a:ext cx="316382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Ingredients</a:t>
            </a:r>
            <a:endParaRPr lang="en-US" sz="1700">
              <a:latin typeface="Calibri"/>
            </a:endParaRPr>
          </a:p>
        </p:txBody>
      </p:sp>
      <p:sp>
        <p:nvSpPr>
          <p:cNvPr id="15" name="Shape 15"/>
          <p:cNvSpPr txBox="1"/>
          <p:nvPr/>
        </p:nvSpPr>
        <p:spPr>
          <a:xfrm>
            <a:off x="4535424" y="1600200"/>
            <a:ext cx="3127248" cy="214884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alibri"/>
              </a:rPr>
              <a:t>water</a:t>
            </a:r>
            <a:endParaRPr lang="en-US" sz="1900">
              <a:latin typeface="Calibri"/>
            </a:endParaRPr>
          </a:p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alibri"/>
              </a:rPr>
              <a:t>tea leaves</a:t>
            </a:r>
            <a:endParaRPr lang="en-US" sz="1900">
              <a:latin typeface="Calibri"/>
            </a:endParaRPr>
          </a:p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alibri"/>
              </a:rPr>
              <a:t>milk</a:t>
            </a:r>
            <a:endParaRPr lang="en-US" sz="19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8211312" y="1097280"/>
            <a:ext cx="3383280" cy="274320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7"/>
          <p:cNvSpPr txBox="1"/>
          <p:nvPr/>
        </p:nvSpPr>
        <p:spPr>
          <a:xfrm>
            <a:off x="8211312" y="1097280"/>
            <a:ext cx="3383280" cy="393192"/>
          </a:xfrm>
          <a:prstGeom prst="roundRect">
            <a:avLst/>
          </a:prstGeom>
          <a:solidFill>
            <a:srgbClr val="D99614"/>
          </a:solidFill>
          <a:ln w="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8"/>
          <p:cNvSpPr txBox="1"/>
          <p:nvPr/>
        </p:nvSpPr>
        <p:spPr>
          <a:xfrm>
            <a:off x="8321040" y="1152144"/>
            <a:ext cx="316382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Result</a:t>
            </a:r>
            <a:endParaRPr lang="en-US" sz="1700">
              <a:latin typeface="Calibri"/>
            </a:endParaRPr>
          </a:p>
        </p:txBody>
      </p:sp>
      <p:sp>
        <p:nvSpPr>
          <p:cNvPr id="19" name="Shape 19"/>
          <p:cNvSpPr txBox="1"/>
          <p:nvPr/>
        </p:nvSpPr>
        <p:spPr>
          <a:xfrm>
            <a:off x="8339328" y="1600200"/>
            <a:ext cx="3127248" cy="214884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alibri"/>
              </a:rPr>
              <a:t>one cup of tea</a:t>
            </a:r>
            <a:endParaRPr lang="en-US" sz="1900">
              <a:latin typeface="Calibri"/>
            </a:endParaRPr>
          </a:p>
        </p:txBody>
      </p:sp>
      <p:cxnSp>
        <p:nvCxnSpPr>
          <p:cNvPr id="20" name="Connector 20"/>
          <p:cNvCxnSpPr/>
          <p:nvPr/>
        </p:nvCxnSpPr>
        <p:spPr>
          <a:xfrm>
            <a:off x="3977640" y="2468880"/>
            <a:ext cx="384048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cxnSp>
        <p:nvCxnSpPr>
          <p:cNvPr id="21" name="Connector 21"/>
          <p:cNvCxnSpPr/>
          <p:nvPr/>
        </p:nvCxnSpPr>
        <p:spPr>
          <a:xfrm>
            <a:off x="7790688" y="2468880"/>
            <a:ext cx="384048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22" name="Shape 22"/>
          <p:cNvSpPr txBox="1"/>
          <p:nvPr/>
        </p:nvSpPr>
        <p:spPr>
          <a:xfrm>
            <a:off x="777240" y="4800600"/>
            <a:ext cx="10652760" cy="621792"/>
          </a:xfrm>
          <a:prstGeom prst="roundRect">
            <a:avLst/>
          </a:prstGeom>
          <a:solidFill>
            <a:srgbClr val="FFF6E5"/>
          </a:solidFill>
          <a:ln w="12700">
            <a:solidFill>
              <a:srgbClr val="D99614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800" b="1">
                <a:solidFill>
                  <a:srgbClr val="203040"/>
                </a:solidFill>
                <a:latin typeface="Calibri"/>
              </a:rPr>
              <a:t>Recipe name = method name • ingredients = parameters • result = return value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Why Do We Use Methods?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OOP–Java • Methods, Objects &amp; Classes • Soban Hussain  |  Part 1 • Methods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7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640080" y="960120"/>
            <a:ext cx="5074920" cy="187452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9"/>
          <p:cNvSpPr txBox="1"/>
          <p:nvPr/>
        </p:nvSpPr>
        <p:spPr>
          <a:xfrm>
            <a:off x="640080" y="960120"/>
            <a:ext cx="5074920" cy="393192"/>
          </a:xfrm>
          <a:prstGeom prst="roundRect">
            <a:avLst/>
          </a:prstGeom>
          <a:solidFill>
            <a:srgbClr val="246A9B"/>
          </a:solidFill>
          <a:ln w="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10"/>
          <p:cNvSpPr txBox="1"/>
          <p:nvPr/>
        </p:nvSpPr>
        <p:spPr>
          <a:xfrm>
            <a:off x="749808" y="1014984"/>
            <a:ext cx="485546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Reuse</a:t>
            </a:r>
            <a:endParaRPr lang="en-US" sz="1700">
              <a:latin typeface="Calibri"/>
            </a:endParaRPr>
          </a:p>
        </p:txBody>
      </p:sp>
      <p:sp>
        <p:nvSpPr>
          <p:cNvPr id="11" name="Shape 11"/>
          <p:cNvSpPr txBox="1"/>
          <p:nvPr/>
        </p:nvSpPr>
        <p:spPr>
          <a:xfrm>
            <a:off x="768096" y="1463040"/>
            <a:ext cx="4818888" cy="128016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Call the same task many times</a:t>
            </a:r>
            <a:endParaRPr lang="en-US" sz="2000">
              <a:latin typeface="Calibri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6217920" y="960120"/>
            <a:ext cx="5074920" cy="187452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3"/>
          <p:cNvSpPr txBox="1"/>
          <p:nvPr/>
        </p:nvSpPr>
        <p:spPr>
          <a:xfrm>
            <a:off x="6217920" y="960120"/>
            <a:ext cx="5074920" cy="393192"/>
          </a:xfrm>
          <a:prstGeom prst="roundRect">
            <a:avLst/>
          </a:prstGeom>
          <a:solidFill>
            <a:srgbClr val="17807E"/>
          </a:solidFill>
          <a:ln w="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4"/>
          <p:cNvSpPr txBox="1"/>
          <p:nvPr/>
        </p:nvSpPr>
        <p:spPr>
          <a:xfrm>
            <a:off x="6327648" y="1014984"/>
            <a:ext cx="485546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Readability</a:t>
            </a:r>
            <a:endParaRPr lang="en-US" sz="1700">
              <a:latin typeface="Calibri"/>
            </a:endParaRPr>
          </a:p>
        </p:txBody>
      </p:sp>
      <p:sp>
        <p:nvSpPr>
          <p:cNvPr id="15" name="Shape 15"/>
          <p:cNvSpPr txBox="1"/>
          <p:nvPr/>
        </p:nvSpPr>
        <p:spPr>
          <a:xfrm>
            <a:off x="6345936" y="1463040"/>
            <a:ext cx="4818888" cy="128016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Give each task a meaningful name</a:t>
            </a:r>
            <a:endParaRPr lang="en-US" sz="20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640080" y="3291840"/>
            <a:ext cx="5074920" cy="187452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7"/>
          <p:cNvSpPr txBox="1"/>
          <p:nvPr/>
        </p:nvSpPr>
        <p:spPr>
          <a:xfrm>
            <a:off x="640080" y="3291840"/>
            <a:ext cx="5074920" cy="393192"/>
          </a:xfrm>
          <a:prstGeom prst="roundRect">
            <a:avLst/>
          </a:prstGeom>
          <a:solidFill>
            <a:srgbClr val="D99614"/>
          </a:solidFill>
          <a:ln w="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8"/>
          <p:cNvSpPr txBox="1"/>
          <p:nvPr/>
        </p:nvSpPr>
        <p:spPr>
          <a:xfrm>
            <a:off x="749808" y="3346704"/>
            <a:ext cx="485546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Testing</a:t>
            </a:r>
            <a:endParaRPr lang="en-US" sz="1700">
              <a:latin typeface="Calibri"/>
            </a:endParaRPr>
          </a:p>
        </p:txBody>
      </p:sp>
      <p:sp>
        <p:nvSpPr>
          <p:cNvPr id="19" name="Shape 19"/>
          <p:cNvSpPr txBox="1"/>
          <p:nvPr/>
        </p:nvSpPr>
        <p:spPr>
          <a:xfrm>
            <a:off x="768096" y="3794760"/>
            <a:ext cx="4818888" cy="128016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Check one small task separately</a:t>
            </a:r>
            <a:endParaRPr lang="en-US" sz="2000">
              <a:latin typeface="Calibri"/>
            </a:endParaRPr>
          </a:p>
        </p:txBody>
      </p:sp>
      <p:sp>
        <p:nvSpPr>
          <p:cNvPr id="20" name="Shape 20"/>
          <p:cNvSpPr txBox="1"/>
          <p:nvPr/>
        </p:nvSpPr>
        <p:spPr>
          <a:xfrm>
            <a:off x="6217920" y="3291840"/>
            <a:ext cx="5074920" cy="187452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3C8C5A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21" name="Shape 21"/>
          <p:cNvSpPr txBox="1"/>
          <p:nvPr/>
        </p:nvSpPr>
        <p:spPr>
          <a:xfrm>
            <a:off x="6217920" y="3291840"/>
            <a:ext cx="5074920" cy="393192"/>
          </a:xfrm>
          <a:prstGeom prst="roundRect">
            <a:avLst/>
          </a:prstGeom>
          <a:solidFill>
            <a:srgbClr val="3C8C5A"/>
          </a:solidFill>
          <a:ln w="0">
            <a:solidFill>
              <a:srgbClr val="3C8C5A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22"/>
          <p:cNvSpPr txBox="1"/>
          <p:nvPr/>
        </p:nvSpPr>
        <p:spPr>
          <a:xfrm>
            <a:off x="6327648" y="3346704"/>
            <a:ext cx="485546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Maintenance</a:t>
            </a:r>
            <a:endParaRPr lang="en-US" sz="1700">
              <a:latin typeface="Calibri"/>
            </a:endParaRPr>
          </a:p>
        </p:txBody>
      </p:sp>
      <p:sp>
        <p:nvSpPr>
          <p:cNvPr id="23" name="Shape 23"/>
          <p:cNvSpPr txBox="1"/>
          <p:nvPr/>
        </p:nvSpPr>
        <p:spPr>
          <a:xfrm>
            <a:off x="6345936" y="3794760"/>
            <a:ext cx="4818888" cy="128016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Change logic in one place</a:t>
            </a:r>
            <a:endParaRPr lang="en-US" sz="2000"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First Method Example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OOP–Java • Methods, Objects &amp; Classes • Soban Hussain  |  Part 1 • Methods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8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640080" y="868680"/>
            <a:ext cx="6400800" cy="52120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CD6DF"/>
            </a:solidFill>
          </a:ln>
        </p:spPr>
        <p:txBody>
          <a:bodyPr wrap="square" lIns="137160" tIns="137160" rIns="137160" bIns="137160" anchor="t"/>
          <a:lstStyle/>
          <a:p>
            <a:pPr algn="l">
              <a:buNone/>
            </a:pPr>
            <a:r>
              <a:rPr lang="en-US" sz="1700" b="0">
                <a:solidFill>
                  <a:srgbClr val="203040"/>
                </a:solidFill>
                <a:latin typeface="Consolas"/>
              </a:rPr>
              <a:t>public class MethodDemo {</a:t>
            </a:r>
            <a:endParaRPr lang="en-US" sz="1700">
              <a:latin typeface="Consolas"/>
            </a:endParaRPr>
          </a:p>
          <a:p>
            <a:pPr algn="l">
              <a:buNone/>
            </a:pPr>
            <a:r>
              <a:rPr lang="en-US" sz="1700" b="0">
                <a:solidFill>
                  <a:srgbClr val="203040"/>
                </a:solidFill>
                <a:latin typeface="Consolas"/>
              </a:rPr>
              <a:t>    static void sayHello() {</a:t>
            </a:r>
            <a:endParaRPr lang="en-US" sz="1700">
              <a:latin typeface="Consolas"/>
            </a:endParaRPr>
          </a:p>
          <a:p>
            <a:pPr algn="l">
              <a:buNone/>
            </a:pPr>
            <a:r>
              <a:rPr lang="en-US" sz="1700" b="0">
                <a:solidFill>
                  <a:srgbClr val="203040"/>
                </a:solidFill>
                <a:latin typeface="Consolas"/>
              </a:rPr>
              <a:t>        System.out.println("Hello students!");</a:t>
            </a:r>
            <a:endParaRPr lang="en-US" sz="1700">
              <a:latin typeface="Consolas"/>
            </a:endParaRPr>
          </a:p>
          <a:p>
            <a:pPr algn="l">
              <a:buNone/>
            </a:pPr>
            <a:r>
              <a:rPr lang="en-US" sz="1700" b="0">
                <a:solidFill>
                  <a:srgbClr val="203040"/>
                </a:solidFill>
                <a:latin typeface="Consolas"/>
              </a:rPr>
              <a:t>    }</a:t>
            </a:r>
            <a:endParaRPr lang="en-US" sz="1700">
              <a:latin typeface="Consolas"/>
            </a:endParaRPr>
          </a:p>
          <a:p>
            <a:pPr algn="l">
              <a:buNone/>
            </a:pPr>
            <a:endParaRPr lang="en-US" sz="1700">
              <a:latin typeface="Consolas"/>
            </a:endParaRPr>
          </a:p>
          <a:p>
            <a:pPr algn="l">
              <a:buNone/>
            </a:pPr>
            <a:r>
              <a:rPr lang="en-US" sz="1700" b="0">
                <a:solidFill>
                  <a:srgbClr val="203040"/>
                </a:solidFill>
                <a:latin typeface="Consolas"/>
              </a:rPr>
              <a:t>    public static void main(String[] args) {</a:t>
            </a:r>
            <a:endParaRPr lang="en-US" sz="1700">
              <a:latin typeface="Consolas"/>
            </a:endParaRPr>
          </a:p>
          <a:p>
            <a:pPr algn="l">
              <a:buNone/>
            </a:pPr>
            <a:r>
              <a:rPr lang="en-US" sz="1700" b="0">
                <a:solidFill>
                  <a:srgbClr val="203040"/>
                </a:solidFill>
                <a:latin typeface="Consolas"/>
              </a:rPr>
              <a:t>        sayHello();</a:t>
            </a:r>
            <a:endParaRPr lang="en-US" sz="1700">
              <a:latin typeface="Consolas"/>
            </a:endParaRPr>
          </a:p>
          <a:p>
            <a:pPr algn="l">
              <a:buNone/>
            </a:pPr>
            <a:r>
              <a:rPr lang="en-US" sz="1700" b="0">
                <a:solidFill>
                  <a:srgbClr val="203040"/>
                </a:solidFill>
                <a:latin typeface="Consolas"/>
              </a:rPr>
              <a:t>        sayHello();</a:t>
            </a:r>
            <a:endParaRPr lang="en-US" sz="1700">
              <a:latin typeface="Consolas"/>
            </a:endParaRPr>
          </a:p>
          <a:p>
            <a:pPr algn="l">
              <a:buNone/>
            </a:pPr>
            <a:r>
              <a:rPr lang="en-US" sz="1700" b="0">
                <a:solidFill>
                  <a:srgbClr val="203040"/>
                </a:solidFill>
                <a:latin typeface="Consolas"/>
              </a:rPr>
              <a:t>    }</a:t>
            </a:r>
            <a:endParaRPr lang="en-US" sz="1700">
              <a:latin typeface="Consolas"/>
            </a:endParaRPr>
          </a:p>
          <a:p>
            <a:pPr algn="l">
              <a:buNone/>
            </a:pPr>
            <a:r>
              <a:rPr lang="en-US" sz="1700" b="0">
                <a:solidFill>
                  <a:srgbClr val="203040"/>
                </a:solidFill>
                <a:latin typeface="Consolas"/>
              </a:rPr>
              <a:t>}</a:t>
            </a:r>
            <a:endParaRPr lang="en-US" sz="1700">
              <a:latin typeface="Consolas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7360920" y="914400"/>
            <a:ext cx="3886200" cy="160020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10"/>
          <p:cNvSpPr txBox="1"/>
          <p:nvPr/>
        </p:nvSpPr>
        <p:spPr>
          <a:xfrm>
            <a:off x="7360920" y="914400"/>
            <a:ext cx="3886200" cy="393192"/>
          </a:xfrm>
          <a:prstGeom prst="roundRect">
            <a:avLst/>
          </a:prstGeom>
          <a:solidFill>
            <a:srgbClr val="246A9B"/>
          </a:solidFill>
          <a:ln w="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11"/>
          <p:cNvSpPr txBox="1"/>
          <p:nvPr/>
        </p:nvSpPr>
        <p:spPr>
          <a:xfrm>
            <a:off x="7470648" y="969264"/>
            <a:ext cx="366674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Definition</a:t>
            </a:r>
            <a:endParaRPr lang="en-US" sz="1700">
              <a:latin typeface="Calibri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7488936" y="1417320"/>
            <a:ext cx="3630168" cy="100584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alibri"/>
              </a:rPr>
              <a:t>The method body describes the task.</a:t>
            </a:r>
            <a:endParaRPr lang="en-US" sz="1900">
              <a:latin typeface="Calibri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7360920" y="2834640"/>
            <a:ext cx="3886200" cy="160020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4"/>
          <p:cNvSpPr txBox="1"/>
          <p:nvPr/>
        </p:nvSpPr>
        <p:spPr>
          <a:xfrm>
            <a:off x="7360920" y="2834640"/>
            <a:ext cx="3886200" cy="393192"/>
          </a:xfrm>
          <a:prstGeom prst="roundRect">
            <a:avLst/>
          </a:prstGeom>
          <a:solidFill>
            <a:srgbClr val="17807E"/>
          </a:solidFill>
          <a:ln w="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5"/>
          <p:cNvSpPr txBox="1"/>
          <p:nvPr/>
        </p:nvSpPr>
        <p:spPr>
          <a:xfrm>
            <a:off x="7470648" y="2889504"/>
            <a:ext cx="366674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Calls</a:t>
            </a:r>
            <a:endParaRPr lang="en-US" sz="17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7488936" y="3337560"/>
            <a:ext cx="3630168" cy="100584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alibri"/>
              </a:rPr>
              <a:t>Two calls produce the message twice.</a:t>
            </a:r>
            <a:endParaRPr lang="en-US" sz="1900">
              <a:latin typeface="Calibri"/>
            </a:endParaRPr>
          </a:p>
        </p:txBody>
      </p:sp>
      <p:sp>
        <p:nvSpPr>
          <p:cNvPr id="17" name="Shape 17"/>
          <p:cNvSpPr txBox="1"/>
          <p:nvPr/>
        </p:nvSpPr>
        <p:spPr>
          <a:xfrm>
            <a:off x="777240" y="4892040"/>
            <a:ext cx="10652760" cy="621792"/>
          </a:xfrm>
          <a:prstGeom prst="roundRect">
            <a:avLst/>
          </a:prstGeom>
          <a:solidFill>
            <a:srgbClr val="FFF6E5"/>
          </a:solidFill>
          <a:ln w="12700">
            <a:solidFill>
              <a:srgbClr val="D99614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800" b="1">
                <a:solidFill>
                  <a:srgbClr val="203040"/>
                </a:solidFill>
                <a:latin typeface="Calibri"/>
              </a:rPr>
              <a:t>Ask: What happens if both method calls are removed?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Anatomy of a Method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OOP–Java • Methods, Objects &amp; Classes • Soban Hussain  |  Part 1 • Methods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9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640080" y="914400"/>
            <a:ext cx="6400800" cy="19659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CD6DF"/>
            </a:solidFill>
          </a:ln>
        </p:spPr>
        <p:txBody>
          <a:bodyPr wrap="square" lIns="137160" tIns="137160" rIns="137160" bIns="137160" anchor="t"/>
          <a:lstStyle/>
          <a:p>
            <a:pPr algn="l">
              <a:buNone/>
            </a:pPr>
            <a:r>
              <a:rPr lang="en-US" sz="2300" b="0">
                <a:solidFill>
                  <a:srgbClr val="203040"/>
                </a:solidFill>
                <a:latin typeface="Consolas"/>
              </a:rPr>
              <a:t>static int add(int first, int second) {</a:t>
            </a:r>
            <a:endParaRPr lang="en-US" sz="2300">
              <a:latin typeface="Consolas"/>
            </a:endParaRPr>
          </a:p>
          <a:p>
            <a:pPr algn="l">
              <a:buNone/>
            </a:pPr>
            <a:r>
              <a:rPr lang="en-US" sz="2300" b="0">
                <a:solidFill>
                  <a:srgbClr val="203040"/>
                </a:solidFill>
                <a:latin typeface="Consolas"/>
              </a:rPr>
              <a:t>    return first + second;</a:t>
            </a:r>
            <a:endParaRPr lang="en-US" sz="2300">
              <a:latin typeface="Consolas"/>
            </a:endParaRPr>
          </a:p>
          <a:p>
            <a:pPr algn="l">
              <a:buNone/>
            </a:pPr>
            <a:r>
              <a:rPr lang="en-US" sz="2300" b="0">
                <a:solidFill>
                  <a:srgbClr val="203040"/>
                </a:solidFill>
                <a:latin typeface="Consolas"/>
              </a:rPr>
              <a:t>}</a:t>
            </a:r>
            <a:endParaRPr lang="en-US" sz="2300">
              <a:latin typeface="Consolas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640080" y="3337560"/>
            <a:ext cx="2514600" cy="150876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10"/>
          <p:cNvSpPr txBox="1"/>
          <p:nvPr/>
        </p:nvSpPr>
        <p:spPr>
          <a:xfrm>
            <a:off x="640080" y="3337560"/>
            <a:ext cx="2514600" cy="393192"/>
          </a:xfrm>
          <a:prstGeom prst="roundRect">
            <a:avLst/>
          </a:prstGeom>
          <a:solidFill>
            <a:srgbClr val="246A9B"/>
          </a:solidFill>
          <a:ln w="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11"/>
          <p:cNvSpPr txBox="1"/>
          <p:nvPr/>
        </p:nvSpPr>
        <p:spPr>
          <a:xfrm>
            <a:off x="749808" y="3392424"/>
            <a:ext cx="229514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Modifier</a:t>
            </a:r>
            <a:endParaRPr lang="en-US" sz="1700">
              <a:latin typeface="Calibri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768096" y="3840480"/>
            <a:ext cx="2258568" cy="91440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alibri"/>
              </a:rPr>
              <a:t>static</a:t>
            </a:r>
            <a:endParaRPr lang="en-US" sz="1800">
              <a:latin typeface="Calibri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3429000" y="3337560"/>
            <a:ext cx="2514600" cy="150876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4"/>
          <p:cNvSpPr txBox="1"/>
          <p:nvPr/>
        </p:nvSpPr>
        <p:spPr>
          <a:xfrm>
            <a:off x="3429000" y="3337560"/>
            <a:ext cx="2514600" cy="393192"/>
          </a:xfrm>
          <a:prstGeom prst="roundRect">
            <a:avLst/>
          </a:prstGeom>
          <a:solidFill>
            <a:srgbClr val="17807E"/>
          </a:solidFill>
          <a:ln w="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5"/>
          <p:cNvSpPr txBox="1"/>
          <p:nvPr/>
        </p:nvSpPr>
        <p:spPr>
          <a:xfrm>
            <a:off x="3538728" y="3392424"/>
            <a:ext cx="229514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Return type</a:t>
            </a:r>
            <a:endParaRPr lang="en-US" sz="17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3557016" y="3840480"/>
            <a:ext cx="2258568" cy="91440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alibri"/>
              </a:rPr>
              <a:t>int</a:t>
            </a:r>
            <a:endParaRPr lang="en-US" sz="1800">
              <a:latin typeface="Calibri"/>
            </a:endParaRPr>
          </a:p>
        </p:txBody>
      </p:sp>
      <p:sp>
        <p:nvSpPr>
          <p:cNvPr id="17" name="Shape 17"/>
          <p:cNvSpPr txBox="1"/>
          <p:nvPr/>
        </p:nvSpPr>
        <p:spPr>
          <a:xfrm>
            <a:off x="6217920" y="3337560"/>
            <a:ext cx="2514600" cy="150876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8"/>
          <p:cNvSpPr txBox="1"/>
          <p:nvPr/>
        </p:nvSpPr>
        <p:spPr>
          <a:xfrm>
            <a:off x="6217920" y="3337560"/>
            <a:ext cx="2514600" cy="393192"/>
          </a:xfrm>
          <a:prstGeom prst="roundRect">
            <a:avLst/>
          </a:prstGeom>
          <a:solidFill>
            <a:srgbClr val="D99614"/>
          </a:solidFill>
          <a:ln w="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9" name="Shape 19"/>
          <p:cNvSpPr txBox="1"/>
          <p:nvPr/>
        </p:nvSpPr>
        <p:spPr>
          <a:xfrm>
            <a:off x="6327648" y="3392424"/>
            <a:ext cx="229514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Method name</a:t>
            </a:r>
            <a:endParaRPr lang="en-US" sz="1700">
              <a:latin typeface="Calibri"/>
            </a:endParaRPr>
          </a:p>
        </p:txBody>
      </p:sp>
      <p:sp>
        <p:nvSpPr>
          <p:cNvPr id="20" name="Shape 20"/>
          <p:cNvSpPr txBox="1"/>
          <p:nvPr/>
        </p:nvSpPr>
        <p:spPr>
          <a:xfrm>
            <a:off x="6345936" y="3840480"/>
            <a:ext cx="2258568" cy="91440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alibri"/>
              </a:rPr>
              <a:t>add</a:t>
            </a:r>
            <a:endParaRPr lang="en-US" sz="1800">
              <a:latin typeface="Calibri"/>
            </a:endParaRPr>
          </a:p>
        </p:txBody>
      </p:sp>
      <p:sp>
        <p:nvSpPr>
          <p:cNvPr id="21" name="Shape 21"/>
          <p:cNvSpPr txBox="1"/>
          <p:nvPr/>
        </p:nvSpPr>
        <p:spPr>
          <a:xfrm>
            <a:off x="9006840" y="3337560"/>
            <a:ext cx="2514600" cy="150876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3C8C5A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22"/>
          <p:cNvSpPr txBox="1"/>
          <p:nvPr/>
        </p:nvSpPr>
        <p:spPr>
          <a:xfrm>
            <a:off x="9006840" y="3337560"/>
            <a:ext cx="2514600" cy="393192"/>
          </a:xfrm>
          <a:prstGeom prst="roundRect">
            <a:avLst/>
          </a:prstGeom>
          <a:solidFill>
            <a:srgbClr val="3C8C5A"/>
          </a:solidFill>
          <a:ln w="0">
            <a:solidFill>
              <a:srgbClr val="3C8C5A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23" name="Shape 23"/>
          <p:cNvSpPr txBox="1"/>
          <p:nvPr/>
        </p:nvSpPr>
        <p:spPr>
          <a:xfrm>
            <a:off x="9116568" y="3392424"/>
            <a:ext cx="229514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Parameters</a:t>
            </a:r>
            <a:endParaRPr lang="en-US" sz="1700">
              <a:latin typeface="Calibri"/>
            </a:endParaRPr>
          </a:p>
        </p:txBody>
      </p:sp>
      <p:sp>
        <p:nvSpPr>
          <p:cNvPr id="24" name="Shape 24"/>
          <p:cNvSpPr txBox="1"/>
          <p:nvPr/>
        </p:nvSpPr>
        <p:spPr>
          <a:xfrm>
            <a:off x="9134856" y="3840480"/>
            <a:ext cx="2258568" cy="91440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alibri"/>
              </a:rPr>
              <a:t>first, second</a:t>
            </a:r>
            <a:endParaRPr lang="en-US" sz="1800">
              <a:latin typeface="Calibri"/>
            </a:endParaRPr>
          </a:p>
        </p:txBody>
      </p:sp>
      <p:sp>
        <p:nvSpPr>
          <p:cNvPr id="25" name="Shape 25"/>
          <p:cNvSpPr txBox="1"/>
          <p:nvPr/>
        </p:nvSpPr>
        <p:spPr>
          <a:xfrm>
            <a:off x="777240" y="5166360"/>
            <a:ext cx="10652760" cy="621792"/>
          </a:xfrm>
          <a:prstGeom prst="roundRect">
            <a:avLst/>
          </a:prstGeom>
          <a:solidFill>
            <a:srgbClr val="FFF6E5"/>
          </a:solidFill>
          <a:ln w="12700">
            <a:solidFill>
              <a:srgbClr val="D99614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800" b="1">
                <a:solidFill>
                  <a:srgbClr val="203040"/>
                </a:solidFill>
                <a:latin typeface="Calibri"/>
              </a:rPr>
              <a:t>Read the declaration from left to right.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Parameters and Arguments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OOP–Java • Methods, Objects &amp; Classes • Soban Hussain  |  Part 1 • Methods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10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640080" y="914400"/>
            <a:ext cx="5349240" cy="32918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CD6DF"/>
            </a:solidFill>
          </a:ln>
        </p:spPr>
        <p:txBody>
          <a:bodyPr wrap="square" lIns="137160" tIns="137160" rIns="137160" bIns="137160" anchor="t"/>
          <a:lstStyle/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onsolas"/>
              </a:rPr>
              <a:t>static void greet(String name) {</a:t>
            </a:r>
            <a:endParaRPr lang="en-US" sz="2000">
              <a:latin typeface="Consolas"/>
            </a:endParaRPr>
          </a:p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onsolas"/>
              </a:rPr>
              <a:t>    System.out.println("Hello " + name);</a:t>
            </a:r>
            <a:endParaRPr lang="en-US" sz="2000">
              <a:latin typeface="Consolas"/>
            </a:endParaRPr>
          </a:p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onsolas"/>
              </a:rPr>
              <a:t>}</a:t>
            </a:r>
            <a:endParaRPr lang="en-US" sz="2000">
              <a:latin typeface="Consolas"/>
            </a:endParaRPr>
          </a:p>
          <a:p>
            <a:pPr algn="l">
              <a:buNone/>
            </a:pPr>
            <a:endParaRPr lang="en-US" sz="2000">
              <a:latin typeface="Consolas"/>
            </a:endParaRPr>
          </a:p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onsolas"/>
              </a:rPr>
              <a:t>greet("Ali");</a:t>
            </a:r>
            <a:endParaRPr lang="en-US" sz="2000">
              <a:latin typeface="Consolas"/>
            </a:endParaRPr>
          </a:p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onsolas"/>
              </a:rPr>
              <a:t>greet("Sara");</a:t>
            </a:r>
            <a:endParaRPr lang="en-US" sz="2000">
              <a:latin typeface="Consolas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6309360" y="914400"/>
            <a:ext cx="4892040" cy="160020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10"/>
          <p:cNvSpPr txBox="1"/>
          <p:nvPr/>
        </p:nvSpPr>
        <p:spPr>
          <a:xfrm>
            <a:off x="6309360" y="914400"/>
            <a:ext cx="4892040" cy="393192"/>
          </a:xfrm>
          <a:prstGeom prst="roundRect">
            <a:avLst/>
          </a:prstGeom>
          <a:solidFill>
            <a:srgbClr val="246A9B"/>
          </a:solidFill>
          <a:ln w="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11"/>
          <p:cNvSpPr txBox="1"/>
          <p:nvPr/>
        </p:nvSpPr>
        <p:spPr>
          <a:xfrm>
            <a:off x="6419088" y="969264"/>
            <a:ext cx="467258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Parameter</a:t>
            </a:r>
            <a:endParaRPr lang="en-US" sz="1700">
              <a:latin typeface="Calibri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6437376" y="1417320"/>
            <a:ext cx="4636008" cy="100584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alibri"/>
              </a:rPr>
              <a:t>name is a variable in the method declaration.</a:t>
            </a:r>
            <a:endParaRPr lang="en-US" sz="1900">
              <a:latin typeface="Calibri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6309360" y="2880360"/>
            <a:ext cx="4892040" cy="160020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4"/>
          <p:cNvSpPr txBox="1"/>
          <p:nvPr/>
        </p:nvSpPr>
        <p:spPr>
          <a:xfrm>
            <a:off x="6309360" y="2880360"/>
            <a:ext cx="4892040" cy="393192"/>
          </a:xfrm>
          <a:prstGeom prst="roundRect">
            <a:avLst/>
          </a:prstGeom>
          <a:solidFill>
            <a:srgbClr val="17807E"/>
          </a:solidFill>
          <a:ln w="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5"/>
          <p:cNvSpPr txBox="1"/>
          <p:nvPr/>
        </p:nvSpPr>
        <p:spPr>
          <a:xfrm>
            <a:off x="6419088" y="2935224"/>
            <a:ext cx="467258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Argument</a:t>
            </a:r>
            <a:endParaRPr lang="en-US" sz="17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6437376" y="3383280"/>
            <a:ext cx="4636008" cy="100584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alibri"/>
              </a:rPr>
              <a:t>"Ali" and "Sara" are actual values supplied in calls.</a:t>
            </a:r>
            <a:endParaRPr lang="en-US" sz="1900">
              <a:latin typeface="Calibri"/>
            </a:endParaRPr>
          </a:p>
        </p:txBody>
      </p:sp>
      <p:sp>
        <p:nvSpPr>
          <p:cNvPr id="17" name="Shape 17"/>
          <p:cNvSpPr txBox="1"/>
          <p:nvPr/>
        </p:nvSpPr>
        <p:spPr>
          <a:xfrm>
            <a:off x="777240" y="4892040"/>
            <a:ext cx="10652760" cy="621792"/>
          </a:xfrm>
          <a:prstGeom prst="roundRect">
            <a:avLst/>
          </a:prstGeom>
          <a:solidFill>
            <a:srgbClr val="FFF6E5"/>
          </a:solidFill>
          <a:ln w="12700">
            <a:solidFill>
              <a:srgbClr val="D99614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800" b="1">
                <a:solidFill>
                  <a:srgbClr val="203040"/>
                </a:solidFill>
                <a:latin typeface="Calibri"/>
              </a:rPr>
              <a:t>Parameter receives; argument supplies.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Analogy: A Service Counter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OOP–Java • Methods, Objects &amp; Classes • Soban Hussain  |  Part 1 • Methods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11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685800" y="1828800"/>
            <a:ext cx="2475738" cy="1143000"/>
          </a:xfrm>
          <a:prstGeom prst="roundRect">
            <a:avLst/>
          </a:prstGeom>
          <a:solidFill>
            <a:srgbClr val="246A9B"/>
          </a:solidFill>
          <a:ln w="12700">
            <a:solidFill>
              <a:srgbClr val="246A9B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</a:rPr>
              <a:t>Customer gives</a:t>
            </a:r>
            <a:endParaRPr lang="en-US" sz="1600">
              <a:latin typeface="Calibri"/>
            </a:endParaRPr>
          </a:p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</a:rPr>
              <a:t>a request</a:t>
            </a:r>
            <a:endParaRPr lang="en-US" sz="1600">
              <a:latin typeface="Calibri"/>
            </a:endParaRPr>
          </a:p>
        </p:txBody>
      </p:sp>
      <p:cxnSp>
        <p:nvCxnSpPr>
          <p:cNvPr id="9" name="Connector 9"/>
          <p:cNvCxnSpPr/>
          <p:nvPr/>
        </p:nvCxnSpPr>
        <p:spPr>
          <a:xfrm>
            <a:off x="3198114" y="240030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0" name="Shape 10"/>
          <p:cNvSpPr txBox="1"/>
          <p:nvPr/>
        </p:nvSpPr>
        <p:spPr>
          <a:xfrm>
            <a:off x="3472434" y="1828800"/>
            <a:ext cx="2475738" cy="1143000"/>
          </a:xfrm>
          <a:prstGeom prst="roundRect">
            <a:avLst/>
          </a:prstGeom>
          <a:solidFill>
            <a:srgbClr val="17807E"/>
          </a:solidFill>
          <a:ln w="12700">
            <a:solidFill>
              <a:srgbClr val="17807E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</a:rPr>
              <a:t>Employee receives</a:t>
            </a:r>
            <a:endParaRPr lang="en-US" sz="1600">
              <a:latin typeface="Calibri"/>
            </a:endParaRPr>
          </a:p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</a:rPr>
              <a:t>information</a:t>
            </a:r>
            <a:endParaRPr lang="en-US" sz="1600">
              <a:latin typeface="Calibri"/>
            </a:endParaRPr>
          </a:p>
        </p:txBody>
      </p:sp>
      <p:cxnSp>
        <p:nvCxnSpPr>
          <p:cNvPr id="11" name="Connector 11"/>
          <p:cNvCxnSpPr/>
          <p:nvPr/>
        </p:nvCxnSpPr>
        <p:spPr>
          <a:xfrm>
            <a:off x="5984748" y="240030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2" name="Shape 12"/>
          <p:cNvSpPr txBox="1"/>
          <p:nvPr/>
        </p:nvSpPr>
        <p:spPr>
          <a:xfrm>
            <a:off x="6259068" y="1828800"/>
            <a:ext cx="2475738" cy="1143000"/>
          </a:xfrm>
          <a:prstGeom prst="roundRect">
            <a:avLst/>
          </a:prstGeom>
          <a:solidFill>
            <a:srgbClr val="D99614"/>
          </a:solidFill>
          <a:ln w="12700">
            <a:solidFill>
              <a:srgbClr val="D99614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</a:rPr>
              <a:t>Work is</a:t>
            </a:r>
            <a:endParaRPr lang="en-US" sz="1600">
              <a:latin typeface="Calibri"/>
            </a:endParaRPr>
          </a:p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</a:rPr>
              <a:t>performed</a:t>
            </a:r>
            <a:endParaRPr lang="en-US" sz="1600">
              <a:latin typeface="Calibri"/>
            </a:endParaRPr>
          </a:p>
        </p:txBody>
      </p:sp>
      <p:cxnSp>
        <p:nvCxnSpPr>
          <p:cNvPr id="13" name="Connector 13"/>
          <p:cNvCxnSpPr/>
          <p:nvPr/>
        </p:nvCxnSpPr>
        <p:spPr>
          <a:xfrm>
            <a:off x="8771382" y="240030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4" name="Shape 14"/>
          <p:cNvSpPr txBox="1"/>
          <p:nvPr/>
        </p:nvSpPr>
        <p:spPr>
          <a:xfrm>
            <a:off x="9045702" y="1828800"/>
            <a:ext cx="2475738" cy="1143000"/>
          </a:xfrm>
          <a:prstGeom prst="roundRect">
            <a:avLst/>
          </a:prstGeom>
          <a:solidFill>
            <a:srgbClr val="3C8C5A"/>
          </a:solidFill>
          <a:ln w="12700">
            <a:solidFill>
              <a:srgbClr val="3C8C5A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</a:rPr>
              <a:t>Customer receives</a:t>
            </a:r>
            <a:endParaRPr lang="en-US" sz="1600">
              <a:latin typeface="Calibri"/>
            </a:endParaRPr>
          </a:p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</a:rPr>
              <a:t>a result</a:t>
            </a:r>
            <a:endParaRPr lang="en-US" sz="1600">
              <a:latin typeface="Calibri"/>
            </a:endParaRPr>
          </a:p>
        </p:txBody>
      </p:sp>
      <p:sp>
        <p:nvSpPr>
          <p:cNvPr id="15" name="Shape 15"/>
          <p:cNvSpPr txBox="1"/>
          <p:nvPr/>
        </p:nvSpPr>
        <p:spPr>
          <a:xfrm>
            <a:off x="914400" y="3749040"/>
            <a:ext cx="10332720" cy="777240"/>
          </a:xfrm>
          <a:prstGeom prst="roundRect">
            <a:avLst/>
          </a:prstGeom>
          <a:solidFill>
            <a:srgbClr val="F2F6F9"/>
          </a:solidFill>
          <a:ln w="12700">
            <a:solidFill>
              <a:srgbClr val="CCD6DF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2500" b="1">
                <a:solidFill>
                  <a:srgbClr val="163D63"/>
                </a:solidFill>
                <a:latin typeface="Calibri"/>
              </a:rPr>
              <a:t>Argument → Parameter → Method Body → Return Value</a:t>
            </a:r>
            <a:endParaRPr lang="en-US" sz="2500"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void vs Return Value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OOP–Java • Methods, Objects &amp; Classes • Soban Hussain  |  Part 1 • Methods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12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640080" y="914400"/>
            <a:ext cx="5212080" cy="33375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CD6DF"/>
            </a:solidFill>
          </a:ln>
        </p:spPr>
        <p:txBody>
          <a:bodyPr wrap="square" lIns="137160" tIns="137160" rIns="137160" bIns="137160" anchor="t"/>
          <a:lstStyle/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onsolas"/>
              </a:rPr>
              <a:t>static void displayMessage() {</a:t>
            </a:r>
            <a:endParaRPr lang="en-US" sz="2000">
              <a:latin typeface="Consolas"/>
            </a:endParaRPr>
          </a:p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onsolas"/>
              </a:rPr>
              <a:t>    System.out.println("Welcome");</a:t>
            </a:r>
            <a:endParaRPr lang="en-US" sz="2000">
              <a:latin typeface="Consolas"/>
            </a:endParaRPr>
          </a:p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onsolas"/>
              </a:rPr>
              <a:t>}</a:t>
            </a:r>
            <a:endParaRPr lang="en-US" sz="2000">
              <a:latin typeface="Consolas"/>
            </a:endParaRPr>
          </a:p>
          <a:p>
            <a:pPr algn="l">
              <a:buNone/>
            </a:pPr>
            <a:endParaRPr lang="en-US" sz="2000">
              <a:latin typeface="Consolas"/>
            </a:endParaRPr>
          </a:p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onsolas"/>
              </a:rPr>
              <a:t>displayMessage();</a:t>
            </a:r>
            <a:endParaRPr lang="en-US" sz="2000">
              <a:latin typeface="Consolas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6263640" y="914400"/>
            <a:ext cx="5212080" cy="33375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CD6DF"/>
            </a:solidFill>
          </a:ln>
        </p:spPr>
        <p:txBody>
          <a:bodyPr wrap="square" lIns="137160" tIns="137160" rIns="137160" bIns="137160" anchor="t"/>
          <a:lstStyle/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onsolas"/>
              </a:rPr>
              <a:t>static int square(int number) {</a:t>
            </a:r>
            <a:endParaRPr lang="en-US" sz="2000">
              <a:latin typeface="Consolas"/>
            </a:endParaRPr>
          </a:p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onsolas"/>
              </a:rPr>
              <a:t>    return number * number;</a:t>
            </a:r>
            <a:endParaRPr lang="en-US" sz="2000">
              <a:latin typeface="Consolas"/>
            </a:endParaRPr>
          </a:p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onsolas"/>
              </a:rPr>
              <a:t>}</a:t>
            </a:r>
            <a:endParaRPr lang="en-US" sz="2000">
              <a:latin typeface="Consolas"/>
            </a:endParaRPr>
          </a:p>
          <a:p>
            <a:pPr algn="l">
              <a:buNone/>
            </a:pPr>
            <a:endParaRPr lang="en-US" sz="2000">
              <a:latin typeface="Consolas"/>
            </a:endParaRPr>
          </a:p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onsolas"/>
              </a:rPr>
              <a:t>int result = square(5);</a:t>
            </a:r>
            <a:endParaRPr lang="en-US" sz="2000">
              <a:latin typeface="Consolas"/>
            </a:endParaRPr>
          </a:p>
        </p:txBody>
      </p:sp>
      <p:sp>
        <p:nvSpPr>
          <p:cNvPr id="10" name="Shape 10"/>
          <p:cNvSpPr txBox="1"/>
          <p:nvPr/>
        </p:nvSpPr>
        <p:spPr>
          <a:xfrm>
            <a:off x="1188720" y="4617720"/>
            <a:ext cx="4114800" cy="59436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ctr">
              <a:buNone/>
            </a:pPr>
            <a:r>
              <a:rPr lang="en-US" sz="2000" b="1">
                <a:solidFill>
                  <a:srgbClr val="246A9B"/>
                </a:solidFill>
                <a:latin typeface="Calibri"/>
              </a:rPr>
              <a:t>Performs an action</a:t>
            </a:r>
            <a:endParaRPr lang="en-US" sz="2000">
              <a:latin typeface="Calibri"/>
            </a:endParaRPr>
          </a:p>
        </p:txBody>
      </p:sp>
      <p:sp>
        <p:nvSpPr>
          <p:cNvPr id="11" name="Shape 11"/>
          <p:cNvSpPr txBox="1"/>
          <p:nvPr/>
        </p:nvSpPr>
        <p:spPr>
          <a:xfrm>
            <a:off x="6812280" y="4617720"/>
            <a:ext cx="4114800" cy="59436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ctr">
              <a:buNone/>
            </a:pPr>
            <a:r>
              <a:rPr lang="en-US" sz="2000" b="1">
                <a:solidFill>
                  <a:srgbClr val="17807E"/>
                </a:solidFill>
                <a:latin typeface="Calibri"/>
              </a:rPr>
              <a:t>Produces a usable value</a:t>
            </a:r>
            <a:endParaRPr lang="en-US" sz="2000"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Four Common Method Forms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OOP–Java • Methods, Objects &amp; Classes • Soban Hussain  |  Part 1 • Methods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13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594360" y="914400"/>
            <a:ext cx="2377440" cy="594360"/>
          </a:xfrm>
          <a:prstGeom prst="rect">
            <a:avLst/>
          </a:prstGeom>
          <a:solidFill>
            <a:srgbClr val="163D63"/>
          </a:solidFill>
          <a:ln w="12700">
            <a:solidFill>
              <a:srgbClr val="FFFFFF"/>
            </a:solidFill>
          </a:ln>
        </p:spPr>
        <p:txBody>
          <a:bodyPr wrap="square" lIns="54864" tIns="54864" rIns="54864" bIns="54864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</a:rPr>
              <a:t>Form</a:t>
            </a:r>
            <a:endParaRPr lang="en-US" sz="1600">
              <a:latin typeface="Calibri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2971800" y="914400"/>
            <a:ext cx="2057400" cy="594360"/>
          </a:xfrm>
          <a:prstGeom prst="rect">
            <a:avLst/>
          </a:prstGeom>
          <a:solidFill>
            <a:srgbClr val="163D63"/>
          </a:solidFill>
          <a:ln w="12700">
            <a:solidFill>
              <a:srgbClr val="FFFFFF"/>
            </a:solidFill>
          </a:ln>
        </p:spPr>
        <p:txBody>
          <a:bodyPr wrap="square" lIns="54864" tIns="54864" rIns="54864" bIns="54864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</a:rPr>
              <a:t>Parameters</a:t>
            </a:r>
            <a:endParaRPr lang="en-US" sz="1600">
              <a:latin typeface="Calibri"/>
            </a:endParaRPr>
          </a:p>
        </p:txBody>
      </p:sp>
      <p:sp>
        <p:nvSpPr>
          <p:cNvPr id="10" name="Shape 10"/>
          <p:cNvSpPr txBox="1"/>
          <p:nvPr/>
        </p:nvSpPr>
        <p:spPr>
          <a:xfrm>
            <a:off x="5029200" y="914400"/>
            <a:ext cx="2057400" cy="594360"/>
          </a:xfrm>
          <a:prstGeom prst="rect">
            <a:avLst/>
          </a:prstGeom>
          <a:solidFill>
            <a:srgbClr val="163D63"/>
          </a:solidFill>
          <a:ln w="12700">
            <a:solidFill>
              <a:srgbClr val="FFFFFF"/>
            </a:solidFill>
          </a:ln>
        </p:spPr>
        <p:txBody>
          <a:bodyPr wrap="square" lIns="54864" tIns="54864" rIns="54864" bIns="54864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</a:rPr>
              <a:t>Returns</a:t>
            </a:r>
            <a:endParaRPr lang="en-US" sz="1600">
              <a:latin typeface="Calibri"/>
            </a:endParaRPr>
          </a:p>
        </p:txBody>
      </p:sp>
      <p:sp>
        <p:nvSpPr>
          <p:cNvPr id="11" name="Shape 11"/>
          <p:cNvSpPr txBox="1"/>
          <p:nvPr/>
        </p:nvSpPr>
        <p:spPr>
          <a:xfrm>
            <a:off x="7086600" y="914400"/>
            <a:ext cx="4480560" cy="594360"/>
          </a:xfrm>
          <a:prstGeom prst="rect">
            <a:avLst/>
          </a:prstGeom>
          <a:solidFill>
            <a:srgbClr val="163D63"/>
          </a:solidFill>
          <a:ln w="12700">
            <a:solidFill>
              <a:srgbClr val="FFFFFF"/>
            </a:solidFill>
          </a:ln>
        </p:spPr>
        <p:txBody>
          <a:bodyPr wrap="square" lIns="54864" tIns="54864" rIns="54864" bIns="54864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</a:rPr>
              <a:t>Example</a:t>
            </a:r>
            <a:endParaRPr lang="en-US" sz="1600">
              <a:latin typeface="Calibri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594360" y="1508760"/>
            <a:ext cx="2377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DF"/>
            </a:solidFill>
          </a:ln>
        </p:spPr>
        <p:txBody>
          <a:bodyPr wrap="square" lIns="73152" tIns="73152" rIns="73152" bIns="73152" anchor="ctr"/>
          <a:lstStyle/>
          <a:p>
            <a:pPr algn="l">
              <a:buNone/>
            </a:pPr>
            <a:r>
              <a:rPr lang="en-US" sz="1600" b="0">
                <a:solidFill>
                  <a:srgbClr val="203040"/>
                </a:solidFill>
                <a:latin typeface="Calibri"/>
              </a:rPr>
              <a:t>Action only</a:t>
            </a:r>
            <a:endParaRPr lang="en-US" sz="1600">
              <a:latin typeface="Calibri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2971800" y="1508760"/>
            <a:ext cx="2057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DF"/>
            </a:solidFill>
          </a:ln>
        </p:spPr>
        <p:txBody>
          <a:bodyPr wrap="square" lIns="73152" tIns="73152" rIns="73152" bIns="73152" anchor="ctr"/>
          <a:lstStyle/>
          <a:p>
            <a:pPr algn="l">
              <a:buNone/>
            </a:pPr>
            <a:r>
              <a:rPr lang="en-US" sz="1600" b="0">
                <a:solidFill>
                  <a:srgbClr val="203040"/>
                </a:solidFill>
                <a:latin typeface="Calibri"/>
              </a:rPr>
              <a:t>No</a:t>
            </a:r>
            <a:endParaRPr lang="en-US" sz="1600">
              <a:latin typeface="Calibri"/>
            </a:endParaRPr>
          </a:p>
        </p:txBody>
      </p:sp>
      <p:sp>
        <p:nvSpPr>
          <p:cNvPr id="14" name="Shape 14"/>
          <p:cNvSpPr txBox="1"/>
          <p:nvPr/>
        </p:nvSpPr>
        <p:spPr>
          <a:xfrm>
            <a:off x="5029200" y="1508760"/>
            <a:ext cx="2057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DF"/>
            </a:solidFill>
          </a:ln>
        </p:spPr>
        <p:txBody>
          <a:bodyPr wrap="square" lIns="73152" tIns="73152" rIns="73152" bIns="73152" anchor="ctr"/>
          <a:lstStyle/>
          <a:p>
            <a:pPr algn="l">
              <a:buNone/>
            </a:pPr>
            <a:r>
              <a:rPr lang="en-US" sz="1600" b="0">
                <a:solidFill>
                  <a:srgbClr val="203040"/>
                </a:solidFill>
                <a:latin typeface="Calibri"/>
              </a:rPr>
              <a:t>No</a:t>
            </a:r>
            <a:endParaRPr lang="en-US" sz="1600">
              <a:latin typeface="Calibri"/>
            </a:endParaRPr>
          </a:p>
        </p:txBody>
      </p:sp>
      <p:sp>
        <p:nvSpPr>
          <p:cNvPr id="15" name="Shape 15"/>
          <p:cNvSpPr txBox="1"/>
          <p:nvPr/>
        </p:nvSpPr>
        <p:spPr>
          <a:xfrm>
            <a:off x="7086600" y="1508760"/>
            <a:ext cx="4480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DF"/>
            </a:solidFill>
          </a:ln>
        </p:spPr>
        <p:txBody>
          <a:bodyPr wrap="square" lIns="73152" tIns="73152" rIns="73152" bIns="73152" anchor="ctr"/>
          <a:lstStyle/>
          <a:p>
            <a:pPr algn="l">
              <a:buNone/>
            </a:pPr>
            <a:r>
              <a:rPr lang="en-US" sz="1600" b="0">
                <a:solidFill>
                  <a:srgbClr val="203040"/>
                </a:solidFill>
                <a:latin typeface="Calibri"/>
              </a:rPr>
              <a:t>showMenu()</a:t>
            </a:r>
            <a:endParaRPr lang="en-US" sz="16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594360" y="2103120"/>
            <a:ext cx="2377440" cy="594360"/>
          </a:xfrm>
          <a:prstGeom prst="rect">
            <a:avLst/>
          </a:prstGeom>
          <a:solidFill>
            <a:srgbClr val="F2F6F9"/>
          </a:solidFill>
          <a:ln w="12700">
            <a:solidFill>
              <a:srgbClr val="CCD6DF"/>
            </a:solidFill>
          </a:ln>
        </p:spPr>
        <p:txBody>
          <a:bodyPr wrap="square" lIns="73152" tIns="73152" rIns="73152" bIns="73152" anchor="ctr"/>
          <a:lstStyle/>
          <a:p>
            <a:pPr algn="l">
              <a:buNone/>
            </a:pPr>
            <a:r>
              <a:rPr lang="en-US" sz="1600" b="0">
                <a:solidFill>
                  <a:srgbClr val="203040"/>
                </a:solidFill>
                <a:latin typeface="Calibri"/>
              </a:rPr>
              <a:t>Input action</a:t>
            </a:r>
            <a:endParaRPr lang="en-US" sz="1600">
              <a:latin typeface="Calibri"/>
            </a:endParaRPr>
          </a:p>
        </p:txBody>
      </p:sp>
      <p:sp>
        <p:nvSpPr>
          <p:cNvPr id="17" name="Shape 17"/>
          <p:cNvSpPr txBox="1"/>
          <p:nvPr/>
        </p:nvSpPr>
        <p:spPr>
          <a:xfrm>
            <a:off x="2971800" y="2103120"/>
            <a:ext cx="2057400" cy="594360"/>
          </a:xfrm>
          <a:prstGeom prst="rect">
            <a:avLst/>
          </a:prstGeom>
          <a:solidFill>
            <a:srgbClr val="F2F6F9"/>
          </a:solidFill>
          <a:ln w="12700">
            <a:solidFill>
              <a:srgbClr val="CCD6DF"/>
            </a:solidFill>
          </a:ln>
        </p:spPr>
        <p:txBody>
          <a:bodyPr wrap="square" lIns="73152" tIns="73152" rIns="73152" bIns="73152" anchor="ctr"/>
          <a:lstStyle/>
          <a:p>
            <a:pPr algn="l">
              <a:buNone/>
            </a:pPr>
            <a:r>
              <a:rPr lang="en-US" sz="1600" b="0">
                <a:solidFill>
                  <a:srgbClr val="203040"/>
                </a:solidFill>
                <a:latin typeface="Calibri"/>
              </a:rPr>
              <a:t>Yes</a:t>
            </a:r>
            <a:endParaRPr lang="en-US" sz="1600">
              <a:latin typeface="Calibri"/>
            </a:endParaRPr>
          </a:p>
        </p:txBody>
      </p:sp>
      <p:sp>
        <p:nvSpPr>
          <p:cNvPr id="18" name="Shape 18"/>
          <p:cNvSpPr txBox="1"/>
          <p:nvPr/>
        </p:nvSpPr>
        <p:spPr>
          <a:xfrm>
            <a:off x="5029200" y="2103120"/>
            <a:ext cx="2057400" cy="594360"/>
          </a:xfrm>
          <a:prstGeom prst="rect">
            <a:avLst/>
          </a:prstGeom>
          <a:solidFill>
            <a:srgbClr val="F2F6F9"/>
          </a:solidFill>
          <a:ln w="12700">
            <a:solidFill>
              <a:srgbClr val="CCD6DF"/>
            </a:solidFill>
          </a:ln>
        </p:spPr>
        <p:txBody>
          <a:bodyPr wrap="square" lIns="73152" tIns="73152" rIns="73152" bIns="73152" anchor="ctr"/>
          <a:lstStyle/>
          <a:p>
            <a:pPr algn="l">
              <a:buNone/>
            </a:pPr>
            <a:r>
              <a:rPr lang="en-US" sz="1600" b="0">
                <a:solidFill>
                  <a:srgbClr val="203040"/>
                </a:solidFill>
                <a:latin typeface="Calibri"/>
              </a:rPr>
              <a:t>No</a:t>
            </a:r>
            <a:endParaRPr lang="en-US" sz="1600">
              <a:latin typeface="Calibri"/>
            </a:endParaRPr>
          </a:p>
        </p:txBody>
      </p:sp>
      <p:sp>
        <p:nvSpPr>
          <p:cNvPr id="19" name="Shape 19"/>
          <p:cNvSpPr txBox="1"/>
          <p:nvPr/>
        </p:nvSpPr>
        <p:spPr>
          <a:xfrm>
            <a:off x="7086600" y="2103120"/>
            <a:ext cx="4480560" cy="594360"/>
          </a:xfrm>
          <a:prstGeom prst="rect">
            <a:avLst/>
          </a:prstGeom>
          <a:solidFill>
            <a:srgbClr val="F2F6F9"/>
          </a:solidFill>
          <a:ln w="12700">
            <a:solidFill>
              <a:srgbClr val="CCD6DF"/>
            </a:solidFill>
          </a:ln>
        </p:spPr>
        <p:txBody>
          <a:bodyPr wrap="square" lIns="73152" tIns="73152" rIns="73152" bIns="73152" anchor="ctr"/>
          <a:lstStyle/>
          <a:p>
            <a:pPr algn="l">
              <a:buNone/>
            </a:pPr>
            <a:r>
              <a:rPr lang="en-US" sz="1600" b="0">
                <a:solidFill>
                  <a:srgbClr val="203040"/>
                </a:solidFill>
                <a:latin typeface="Calibri"/>
              </a:rPr>
              <a:t>greet(name)</a:t>
            </a:r>
            <a:endParaRPr lang="en-US" sz="1600">
              <a:latin typeface="Calibri"/>
            </a:endParaRPr>
          </a:p>
        </p:txBody>
      </p:sp>
      <p:sp>
        <p:nvSpPr>
          <p:cNvPr id="20" name="Shape 20"/>
          <p:cNvSpPr txBox="1"/>
          <p:nvPr/>
        </p:nvSpPr>
        <p:spPr>
          <a:xfrm>
            <a:off x="594360" y="2697480"/>
            <a:ext cx="2377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DF"/>
            </a:solidFill>
          </a:ln>
        </p:spPr>
        <p:txBody>
          <a:bodyPr wrap="square" lIns="73152" tIns="73152" rIns="73152" bIns="73152" anchor="ctr"/>
          <a:lstStyle/>
          <a:p>
            <a:pPr algn="l">
              <a:buNone/>
            </a:pPr>
            <a:r>
              <a:rPr lang="en-US" sz="1600" b="0">
                <a:solidFill>
                  <a:srgbClr val="203040"/>
                </a:solidFill>
                <a:latin typeface="Calibri"/>
              </a:rPr>
              <a:t>Calculation</a:t>
            </a:r>
            <a:endParaRPr lang="en-US" sz="1600">
              <a:latin typeface="Calibri"/>
            </a:endParaRPr>
          </a:p>
        </p:txBody>
      </p:sp>
      <p:sp>
        <p:nvSpPr>
          <p:cNvPr id="21" name="Shape 21"/>
          <p:cNvSpPr txBox="1"/>
          <p:nvPr/>
        </p:nvSpPr>
        <p:spPr>
          <a:xfrm>
            <a:off x="2971800" y="2697480"/>
            <a:ext cx="2057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DF"/>
            </a:solidFill>
          </a:ln>
        </p:spPr>
        <p:txBody>
          <a:bodyPr wrap="square" lIns="73152" tIns="73152" rIns="73152" bIns="73152" anchor="ctr"/>
          <a:lstStyle/>
          <a:p>
            <a:pPr algn="l">
              <a:buNone/>
            </a:pPr>
            <a:r>
              <a:rPr lang="en-US" sz="1600" b="0">
                <a:solidFill>
                  <a:srgbClr val="203040"/>
                </a:solidFill>
                <a:latin typeface="Calibri"/>
              </a:rPr>
              <a:t>No</a:t>
            </a:r>
            <a:endParaRPr lang="en-US" sz="1600">
              <a:latin typeface="Calibri"/>
            </a:endParaRPr>
          </a:p>
        </p:txBody>
      </p:sp>
      <p:sp>
        <p:nvSpPr>
          <p:cNvPr id="22" name="Shape 22"/>
          <p:cNvSpPr txBox="1"/>
          <p:nvPr/>
        </p:nvSpPr>
        <p:spPr>
          <a:xfrm>
            <a:off x="5029200" y="2697480"/>
            <a:ext cx="2057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DF"/>
            </a:solidFill>
          </a:ln>
        </p:spPr>
        <p:txBody>
          <a:bodyPr wrap="square" lIns="73152" tIns="73152" rIns="73152" bIns="73152" anchor="ctr"/>
          <a:lstStyle/>
          <a:p>
            <a:pPr algn="l">
              <a:buNone/>
            </a:pPr>
            <a:r>
              <a:rPr lang="en-US" sz="1600" b="0">
                <a:solidFill>
                  <a:srgbClr val="203040"/>
                </a:solidFill>
                <a:latin typeface="Calibri"/>
              </a:rPr>
              <a:t>Yes</a:t>
            </a:r>
            <a:endParaRPr lang="en-US" sz="1600">
              <a:latin typeface="Calibri"/>
            </a:endParaRPr>
          </a:p>
        </p:txBody>
      </p:sp>
      <p:sp>
        <p:nvSpPr>
          <p:cNvPr id="23" name="Shape 23"/>
          <p:cNvSpPr txBox="1"/>
          <p:nvPr/>
        </p:nvSpPr>
        <p:spPr>
          <a:xfrm>
            <a:off x="7086600" y="2697480"/>
            <a:ext cx="4480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DF"/>
            </a:solidFill>
          </a:ln>
        </p:spPr>
        <p:txBody>
          <a:bodyPr wrap="square" lIns="73152" tIns="73152" rIns="73152" bIns="73152" anchor="ctr"/>
          <a:lstStyle/>
          <a:p>
            <a:pPr algn="l">
              <a:buNone/>
            </a:pPr>
            <a:r>
              <a:rPr lang="en-US" sz="1600" b="0">
                <a:solidFill>
                  <a:srgbClr val="203040"/>
                </a:solidFill>
                <a:latin typeface="Calibri"/>
              </a:rPr>
              <a:t>getCurrentYear()</a:t>
            </a:r>
            <a:endParaRPr lang="en-US" sz="1600">
              <a:latin typeface="Calibri"/>
            </a:endParaRPr>
          </a:p>
        </p:txBody>
      </p:sp>
      <p:sp>
        <p:nvSpPr>
          <p:cNvPr id="24" name="Shape 24"/>
          <p:cNvSpPr txBox="1"/>
          <p:nvPr/>
        </p:nvSpPr>
        <p:spPr>
          <a:xfrm>
            <a:off x="594360" y="3291840"/>
            <a:ext cx="2377440" cy="594360"/>
          </a:xfrm>
          <a:prstGeom prst="rect">
            <a:avLst/>
          </a:prstGeom>
          <a:solidFill>
            <a:srgbClr val="F2F6F9"/>
          </a:solidFill>
          <a:ln w="12700">
            <a:solidFill>
              <a:srgbClr val="CCD6DF"/>
            </a:solidFill>
          </a:ln>
        </p:spPr>
        <p:txBody>
          <a:bodyPr wrap="square" lIns="73152" tIns="73152" rIns="73152" bIns="73152" anchor="ctr"/>
          <a:lstStyle/>
          <a:p>
            <a:pPr algn="l">
              <a:buNone/>
            </a:pPr>
            <a:r>
              <a:rPr lang="en-US" sz="1600" b="0">
                <a:solidFill>
                  <a:srgbClr val="203040"/>
                </a:solidFill>
                <a:latin typeface="Calibri"/>
              </a:rPr>
              <a:t>Input + result</a:t>
            </a:r>
            <a:endParaRPr lang="en-US" sz="1600">
              <a:latin typeface="Calibri"/>
            </a:endParaRPr>
          </a:p>
        </p:txBody>
      </p:sp>
      <p:sp>
        <p:nvSpPr>
          <p:cNvPr id="25" name="Shape 25"/>
          <p:cNvSpPr txBox="1"/>
          <p:nvPr/>
        </p:nvSpPr>
        <p:spPr>
          <a:xfrm>
            <a:off x="2971800" y="3291840"/>
            <a:ext cx="2057400" cy="594360"/>
          </a:xfrm>
          <a:prstGeom prst="rect">
            <a:avLst/>
          </a:prstGeom>
          <a:solidFill>
            <a:srgbClr val="F2F6F9"/>
          </a:solidFill>
          <a:ln w="12700">
            <a:solidFill>
              <a:srgbClr val="CCD6DF"/>
            </a:solidFill>
          </a:ln>
        </p:spPr>
        <p:txBody>
          <a:bodyPr wrap="square" lIns="73152" tIns="73152" rIns="73152" bIns="73152" anchor="ctr"/>
          <a:lstStyle/>
          <a:p>
            <a:pPr algn="l">
              <a:buNone/>
            </a:pPr>
            <a:r>
              <a:rPr lang="en-US" sz="1600" b="0">
                <a:solidFill>
                  <a:srgbClr val="203040"/>
                </a:solidFill>
                <a:latin typeface="Calibri"/>
              </a:rPr>
              <a:t>Yes</a:t>
            </a:r>
            <a:endParaRPr lang="en-US" sz="1600">
              <a:latin typeface="Calibri"/>
            </a:endParaRPr>
          </a:p>
        </p:txBody>
      </p:sp>
      <p:sp>
        <p:nvSpPr>
          <p:cNvPr id="26" name="Shape 26"/>
          <p:cNvSpPr txBox="1"/>
          <p:nvPr/>
        </p:nvSpPr>
        <p:spPr>
          <a:xfrm>
            <a:off x="5029200" y="3291840"/>
            <a:ext cx="2057400" cy="594360"/>
          </a:xfrm>
          <a:prstGeom prst="rect">
            <a:avLst/>
          </a:prstGeom>
          <a:solidFill>
            <a:srgbClr val="F2F6F9"/>
          </a:solidFill>
          <a:ln w="12700">
            <a:solidFill>
              <a:srgbClr val="CCD6DF"/>
            </a:solidFill>
          </a:ln>
        </p:spPr>
        <p:txBody>
          <a:bodyPr wrap="square" lIns="73152" tIns="73152" rIns="73152" bIns="73152" anchor="ctr"/>
          <a:lstStyle/>
          <a:p>
            <a:pPr algn="l">
              <a:buNone/>
            </a:pPr>
            <a:r>
              <a:rPr lang="en-US" sz="1600" b="0">
                <a:solidFill>
                  <a:srgbClr val="203040"/>
                </a:solidFill>
                <a:latin typeface="Calibri"/>
              </a:rPr>
              <a:t>Yes</a:t>
            </a:r>
            <a:endParaRPr lang="en-US" sz="1600">
              <a:latin typeface="Calibri"/>
            </a:endParaRPr>
          </a:p>
        </p:txBody>
      </p:sp>
      <p:sp>
        <p:nvSpPr>
          <p:cNvPr id="27" name="Shape 27"/>
          <p:cNvSpPr txBox="1"/>
          <p:nvPr/>
        </p:nvSpPr>
        <p:spPr>
          <a:xfrm>
            <a:off x="7086600" y="3291840"/>
            <a:ext cx="4480560" cy="594360"/>
          </a:xfrm>
          <a:prstGeom prst="rect">
            <a:avLst/>
          </a:prstGeom>
          <a:solidFill>
            <a:srgbClr val="F2F6F9"/>
          </a:solidFill>
          <a:ln w="12700">
            <a:solidFill>
              <a:srgbClr val="CCD6DF"/>
            </a:solidFill>
          </a:ln>
        </p:spPr>
        <p:txBody>
          <a:bodyPr wrap="square" lIns="73152" tIns="73152" rIns="73152" bIns="73152" anchor="ctr"/>
          <a:lstStyle/>
          <a:p>
            <a:pPr algn="l">
              <a:buNone/>
            </a:pPr>
            <a:r>
              <a:rPr lang="en-US" sz="1600" b="0">
                <a:solidFill>
                  <a:srgbClr val="203040"/>
                </a:solidFill>
                <a:latin typeface="Calibri"/>
              </a:rPr>
              <a:t>maximum(a, b)</a:t>
            </a:r>
            <a:endParaRPr lang="en-US" sz="1600">
              <a:latin typeface="Calibri"/>
            </a:endParaRPr>
          </a:p>
        </p:txBody>
      </p:sp>
      <p:sp>
        <p:nvSpPr>
          <p:cNvPr id="28" name="Shape 28"/>
          <p:cNvSpPr txBox="1"/>
          <p:nvPr/>
        </p:nvSpPr>
        <p:spPr>
          <a:xfrm>
            <a:off x="777240" y="5166360"/>
            <a:ext cx="10652760" cy="621792"/>
          </a:xfrm>
          <a:prstGeom prst="roundRect">
            <a:avLst/>
          </a:prstGeom>
          <a:solidFill>
            <a:srgbClr val="FFF6E5"/>
          </a:solidFill>
          <a:ln w="12700">
            <a:solidFill>
              <a:srgbClr val="D99614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800" b="1">
                <a:solidFill>
                  <a:srgbClr val="203040"/>
                </a:solidFill>
                <a:latin typeface="Calibri"/>
              </a:rPr>
              <a:t>Choose a method form based on the task—not by memorization.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Variable Scope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OOP–Java • Methods, Objects &amp; Classes • Soban Hussain  |  Part 1 • Methods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14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640080" y="914400"/>
            <a:ext cx="6035040" cy="4389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CD6DF"/>
            </a:solidFill>
          </a:ln>
        </p:spPr>
        <p:txBody>
          <a:bodyPr wrap="square" lIns="137160" tIns="137160" rIns="137160" bIns="137160" anchor="t"/>
          <a:lstStyle/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static int square(int number) {</a:t>
            </a:r>
            <a:endParaRPr lang="en-US" sz="1900">
              <a:latin typeface="Consolas"/>
            </a:endParaRPr>
          </a:p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    int result = number * number;</a:t>
            </a:r>
            <a:endParaRPr lang="en-US" sz="1900">
              <a:latin typeface="Consolas"/>
            </a:endParaRPr>
          </a:p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    return result;</a:t>
            </a:r>
            <a:endParaRPr lang="en-US" sz="1900">
              <a:latin typeface="Consolas"/>
            </a:endParaRPr>
          </a:p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}</a:t>
            </a:r>
            <a:endParaRPr lang="en-US" sz="1900">
              <a:latin typeface="Consolas"/>
            </a:endParaRPr>
          </a:p>
          <a:p>
            <a:pPr algn="l">
              <a:buNone/>
            </a:pPr>
            <a:endParaRPr lang="en-US" sz="1900">
              <a:latin typeface="Consolas"/>
            </a:endParaRPr>
          </a:p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// number and result are not available here</a:t>
            </a:r>
            <a:endParaRPr lang="en-US" sz="1900">
              <a:latin typeface="Consolas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7086600" y="914400"/>
            <a:ext cx="4206240" cy="173736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10"/>
          <p:cNvSpPr txBox="1"/>
          <p:nvPr/>
        </p:nvSpPr>
        <p:spPr>
          <a:xfrm>
            <a:off x="7086600" y="914400"/>
            <a:ext cx="4206240" cy="393192"/>
          </a:xfrm>
          <a:prstGeom prst="roundRect">
            <a:avLst/>
          </a:prstGeom>
          <a:solidFill>
            <a:srgbClr val="D99614"/>
          </a:solidFill>
          <a:ln w="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11"/>
          <p:cNvSpPr txBox="1"/>
          <p:nvPr/>
        </p:nvSpPr>
        <p:spPr>
          <a:xfrm>
            <a:off x="7196328" y="969264"/>
            <a:ext cx="398678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Classroom Analogy</a:t>
            </a:r>
            <a:endParaRPr lang="en-US" sz="1700">
              <a:latin typeface="Calibri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7214616" y="1417320"/>
            <a:ext cx="3950208" cy="114300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alibri"/>
              </a:rPr>
              <a:t>A local variable is like a note used inside one classroom. Other classrooms cannot use it directly.</a:t>
            </a:r>
            <a:endParaRPr lang="en-US" sz="1800">
              <a:latin typeface="Calibri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7086600" y="3063240"/>
            <a:ext cx="4206240" cy="173736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4"/>
          <p:cNvSpPr txBox="1"/>
          <p:nvPr/>
        </p:nvSpPr>
        <p:spPr>
          <a:xfrm>
            <a:off x="7086600" y="3063240"/>
            <a:ext cx="4206240" cy="393192"/>
          </a:xfrm>
          <a:prstGeom prst="roundRect">
            <a:avLst/>
          </a:prstGeom>
          <a:solidFill>
            <a:srgbClr val="17807E"/>
          </a:solidFill>
          <a:ln w="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5"/>
          <p:cNvSpPr txBox="1"/>
          <p:nvPr/>
        </p:nvSpPr>
        <p:spPr>
          <a:xfrm>
            <a:off x="7196328" y="3118104"/>
            <a:ext cx="398678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Key Rule</a:t>
            </a:r>
            <a:endParaRPr lang="en-US" sz="17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7214616" y="3566160"/>
            <a:ext cx="3950208" cy="114300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alibri"/>
              </a:rPr>
              <a:t>A variable exists only inside the block where it is declared.</a:t>
            </a:r>
            <a:endParaRPr lang="en-US" sz="1900"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Method Overloading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OOP–Java • Methods, Objects &amp; Classes • Soban Hussain  |  Part 1 • Methods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15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640080" y="868680"/>
            <a:ext cx="5669280" cy="44805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CD6DF"/>
            </a:solidFill>
          </a:ln>
        </p:spPr>
        <p:txBody>
          <a:bodyPr wrap="square" lIns="137160" tIns="137160" rIns="137160" bIns="137160" anchor="t"/>
          <a:lstStyle/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static int add(int a, int b) {</a:t>
            </a:r>
            <a:endParaRPr lang="en-US" sz="1900">
              <a:latin typeface="Consolas"/>
            </a:endParaRPr>
          </a:p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    return a + b;</a:t>
            </a:r>
            <a:endParaRPr lang="en-US" sz="1900">
              <a:latin typeface="Consolas"/>
            </a:endParaRPr>
          </a:p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}</a:t>
            </a:r>
            <a:endParaRPr lang="en-US" sz="1900">
              <a:latin typeface="Consolas"/>
            </a:endParaRPr>
          </a:p>
          <a:p>
            <a:pPr algn="l">
              <a:buNone/>
            </a:pPr>
            <a:endParaRPr lang="en-US" sz="1900">
              <a:latin typeface="Consolas"/>
            </a:endParaRPr>
          </a:p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static double add(double a, double b) {</a:t>
            </a:r>
            <a:endParaRPr lang="en-US" sz="1900">
              <a:latin typeface="Consolas"/>
            </a:endParaRPr>
          </a:p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    return a + b;</a:t>
            </a:r>
            <a:endParaRPr lang="en-US" sz="1900">
              <a:latin typeface="Consolas"/>
            </a:endParaRPr>
          </a:p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}</a:t>
            </a:r>
            <a:endParaRPr lang="en-US" sz="1900">
              <a:latin typeface="Consolas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6675120" y="914400"/>
            <a:ext cx="4572000" cy="164592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10"/>
          <p:cNvSpPr txBox="1"/>
          <p:nvPr/>
        </p:nvSpPr>
        <p:spPr>
          <a:xfrm>
            <a:off x="6675120" y="914400"/>
            <a:ext cx="4572000" cy="393192"/>
          </a:xfrm>
          <a:prstGeom prst="roundRect">
            <a:avLst/>
          </a:prstGeom>
          <a:solidFill>
            <a:srgbClr val="246A9B"/>
          </a:solidFill>
          <a:ln w="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11"/>
          <p:cNvSpPr txBox="1"/>
          <p:nvPr/>
        </p:nvSpPr>
        <p:spPr>
          <a:xfrm>
            <a:off x="6784848" y="969264"/>
            <a:ext cx="435254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Same Name</a:t>
            </a:r>
            <a:endParaRPr lang="en-US" sz="1700">
              <a:latin typeface="Calibri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6803136" y="1417320"/>
            <a:ext cx="4315968" cy="105156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Both methods perform the idea of addition.</a:t>
            </a:r>
            <a:endParaRPr lang="en-US" sz="2000">
              <a:latin typeface="Calibri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6675120" y="2926080"/>
            <a:ext cx="4572000" cy="164592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4"/>
          <p:cNvSpPr txBox="1"/>
          <p:nvPr/>
        </p:nvSpPr>
        <p:spPr>
          <a:xfrm>
            <a:off x="6675120" y="2926080"/>
            <a:ext cx="4572000" cy="393192"/>
          </a:xfrm>
          <a:prstGeom prst="roundRect">
            <a:avLst/>
          </a:prstGeom>
          <a:solidFill>
            <a:srgbClr val="D99614"/>
          </a:solidFill>
          <a:ln w="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5"/>
          <p:cNvSpPr txBox="1"/>
          <p:nvPr/>
        </p:nvSpPr>
        <p:spPr>
          <a:xfrm>
            <a:off x="6784848" y="2980944"/>
            <a:ext cx="435254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Different Parameters</a:t>
            </a:r>
            <a:endParaRPr lang="en-US" sz="17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6803136" y="3429000"/>
            <a:ext cx="4315968" cy="105156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alibri"/>
              </a:rPr>
              <a:t>Java selects the correct version by type and count.</a:t>
            </a:r>
            <a:endParaRPr lang="en-US" sz="1900"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Methods: Quick Check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OOP–Java • Methods, Objects &amp; Classes • Soban Hussain  |  Part 1 • Methods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16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685800" y="914400"/>
            <a:ext cx="5303520" cy="5166360"/>
          </a:xfrm>
          <a:prstGeom prst="roundRect">
            <a:avLst/>
          </a:prstGeom>
          <a:solidFill>
            <a:srgbClr val="F2F6F9"/>
          </a:solidFill>
          <a:ln w="12700">
            <a:solidFill>
              <a:srgbClr val="CCD6DF"/>
            </a:solidFill>
          </a:ln>
        </p:spPr>
        <p:txBody>
          <a:bodyPr wrap="square" lIns="146304" tIns="118872" rIns="91440" bIns="91440" anchor="t"/>
          <a:lstStyle/>
          <a:p>
            <a:pPr algn="l">
              <a:buNone/>
            </a:pPr>
            <a:r>
              <a:rPr lang="en-US" sz="2200" b="1">
                <a:solidFill>
                  <a:srgbClr val="163D63"/>
                </a:solidFill>
              </a:rPr>
              <a:t>Ask the class</a:t>
            </a:r>
          </a:p>
          <a:p>
            <a:pPr marL="256032" indent="-146304" algn="l">
              <a:buChar char="•"/>
            </a:pPr>
            <a:r>
              <a:rPr lang="en-US" sz="2000">
                <a:solidFill>
                  <a:srgbClr val="203040"/>
                </a:solidFill>
                <a:latin typeface="Calibri"/>
              </a:rPr>
              <a:t>What is the difference between defining and calling a method?</a:t>
            </a:r>
            <a:endParaRPr lang="en-US" sz="2000"/>
          </a:p>
          <a:p>
            <a:pPr marL="256032" indent="-146304" algn="l">
              <a:buChar char="•"/>
            </a:pPr>
            <a:r>
              <a:rPr lang="en-US" sz="2000">
                <a:solidFill>
                  <a:srgbClr val="203040"/>
                </a:solidFill>
                <a:latin typeface="Calibri"/>
              </a:rPr>
              <a:t>What is the difference between a parameter and an argument?</a:t>
            </a:r>
            <a:endParaRPr lang="en-US" sz="2000"/>
          </a:p>
          <a:p>
            <a:pPr marL="256032" indent="-146304" algn="l">
              <a:buChar char="•"/>
            </a:pPr>
            <a:r>
              <a:rPr lang="en-US" sz="2000">
                <a:solidFill>
                  <a:srgbClr val="203040"/>
                </a:solidFill>
                <a:latin typeface="Calibri"/>
              </a:rPr>
              <a:t>When should a method return a value?</a:t>
            </a:r>
            <a:endParaRPr lang="en-US" sz="2000"/>
          </a:p>
          <a:p>
            <a:pPr marL="256032" indent="-146304" algn="l">
              <a:buChar char="•"/>
            </a:pPr>
            <a:r>
              <a:rPr lang="en-US" sz="2000">
                <a:solidFill>
                  <a:srgbClr val="203040"/>
                </a:solidFill>
                <a:latin typeface="Calibri"/>
              </a:rPr>
              <a:t>What does void mean?</a:t>
            </a:r>
            <a:endParaRPr lang="en-US" sz="2000"/>
          </a:p>
        </p:txBody>
      </p:sp>
      <p:sp>
        <p:nvSpPr>
          <p:cNvPr id="9" name="Shape 9"/>
          <p:cNvSpPr txBox="1"/>
          <p:nvPr/>
        </p:nvSpPr>
        <p:spPr>
          <a:xfrm>
            <a:off x="6263640" y="914400"/>
            <a:ext cx="5212080" cy="5166360"/>
          </a:xfrm>
          <a:prstGeom prst="roundRect">
            <a:avLst/>
          </a:prstGeom>
          <a:solidFill>
            <a:srgbClr val="F2F6F9"/>
          </a:solidFill>
          <a:ln w="12700">
            <a:solidFill>
              <a:srgbClr val="CCD6DF"/>
            </a:solidFill>
          </a:ln>
        </p:spPr>
        <p:txBody>
          <a:bodyPr wrap="square" lIns="146304" tIns="118872" rIns="91440" bIns="91440" anchor="t"/>
          <a:lstStyle/>
          <a:p>
            <a:pPr algn="l">
              <a:buNone/>
            </a:pPr>
            <a:r>
              <a:rPr lang="en-US" sz="2200" b="1">
                <a:solidFill>
                  <a:srgbClr val="163D63"/>
                </a:solidFill>
              </a:rPr>
              <a:t>One-minute task</a:t>
            </a:r>
          </a:p>
          <a:p>
            <a:pPr marL="256032" indent="-146304" algn="l">
              <a:buChar char="•"/>
            </a:pPr>
            <a:r>
              <a:rPr lang="en-US" sz="2000">
                <a:solidFill>
                  <a:srgbClr val="203040"/>
                </a:solidFill>
                <a:latin typeface="Calibri"/>
              </a:rPr>
              <a:t>Write a method named isEven</a:t>
            </a:r>
            <a:endParaRPr lang="en-US" sz="2000"/>
          </a:p>
          <a:p>
            <a:pPr marL="256032" indent="-146304" algn="l">
              <a:buChar char="•"/>
            </a:pPr>
            <a:r>
              <a:rPr lang="en-US" sz="2000">
                <a:solidFill>
                  <a:srgbClr val="203040"/>
                </a:solidFill>
                <a:latin typeface="Calibri"/>
              </a:rPr>
              <a:t>It receives one integer</a:t>
            </a:r>
            <a:endParaRPr lang="en-US" sz="2000"/>
          </a:p>
          <a:p>
            <a:pPr marL="256032" indent="-146304" algn="l">
              <a:buChar char="•"/>
            </a:pPr>
            <a:r>
              <a:rPr lang="en-US" sz="2000">
                <a:solidFill>
                  <a:srgbClr val="203040"/>
                </a:solidFill>
                <a:latin typeface="Calibri"/>
              </a:rPr>
              <a:t>It returns true or false</a:t>
            </a:r>
            <a:endParaRPr lang="en-US" sz="2000"/>
          </a:p>
          <a:p>
            <a:pPr marL="256032" indent="-146304" algn="l">
              <a:buChar char="•"/>
            </a:pPr>
            <a:r>
              <a:rPr lang="en-US" sz="2000">
                <a:solidFill>
                  <a:srgbClr val="203040"/>
                </a:solidFill>
                <a:latin typeface="Calibri"/>
              </a:rPr>
              <a:t>Test it with 7 and 12</a:t>
            </a:r>
            <a:endParaRPr lang="en-US"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From Methods to OOP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OOP–Java • Methods, Objects &amp; Classes • Soban Hussain  |  Transition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17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777240" y="914400"/>
            <a:ext cx="10652760" cy="68580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ctr">
              <a:buNone/>
            </a:pPr>
            <a:r>
              <a:rPr lang="en-US" sz="2600" b="1">
                <a:solidFill>
                  <a:srgbClr val="163D63"/>
                </a:solidFill>
                <a:latin typeface="Calibri"/>
              </a:rPr>
              <a:t>Methods organize tasks. Classes organize both data and tasks.</a:t>
            </a:r>
            <a:endParaRPr lang="en-US" sz="2600">
              <a:latin typeface="Calibri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777240" y="2148840"/>
            <a:ext cx="2430018" cy="1097280"/>
          </a:xfrm>
          <a:prstGeom prst="roundRect">
            <a:avLst/>
          </a:prstGeom>
          <a:solidFill>
            <a:srgbClr val="246A9B"/>
          </a:solidFill>
          <a:ln w="12700">
            <a:solidFill>
              <a:srgbClr val="246A9B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Variables</a:t>
            </a:r>
            <a:endParaRPr lang="en-US" sz="1700">
              <a:latin typeface="Calibri"/>
            </a:endParaRPr>
          </a:p>
          <a:p>
            <a:pPr algn="ctr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store data</a:t>
            </a:r>
            <a:endParaRPr lang="en-US" sz="1700">
              <a:latin typeface="Calibri"/>
            </a:endParaRPr>
          </a:p>
        </p:txBody>
      </p:sp>
      <p:cxnSp>
        <p:nvCxnSpPr>
          <p:cNvPr id="10" name="Connector 10"/>
          <p:cNvCxnSpPr/>
          <p:nvPr/>
        </p:nvCxnSpPr>
        <p:spPr>
          <a:xfrm>
            <a:off x="3243834" y="269748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1" name="Shape 11"/>
          <p:cNvSpPr txBox="1"/>
          <p:nvPr/>
        </p:nvSpPr>
        <p:spPr>
          <a:xfrm>
            <a:off x="3518154" y="2148840"/>
            <a:ext cx="2430018" cy="1097280"/>
          </a:xfrm>
          <a:prstGeom prst="roundRect">
            <a:avLst/>
          </a:prstGeom>
          <a:solidFill>
            <a:srgbClr val="17807E"/>
          </a:solidFill>
          <a:ln w="12700">
            <a:solidFill>
              <a:srgbClr val="17807E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Methods</a:t>
            </a:r>
            <a:endParaRPr lang="en-US" sz="1700">
              <a:latin typeface="Calibri"/>
            </a:endParaRPr>
          </a:p>
          <a:p>
            <a:pPr algn="ctr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organize tasks</a:t>
            </a:r>
            <a:endParaRPr lang="en-US" sz="1700">
              <a:latin typeface="Calibri"/>
            </a:endParaRPr>
          </a:p>
        </p:txBody>
      </p:sp>
      <p:cxnSp>
        <p:nvCxnSpPr>
          <p:cNvPr id="12" name="Connector 12"/>
          <p:cNvCxnSpPr/>
          <p:nvPr/>
        </p:nvCxnSpPr>
        <p:spPr>
          <a:xfrm>
            <a:off x="5984748" y="269748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3" name="Shape 13"/>
          <p:cNvSpPr txBox="1"/>
          <p:nvPr/>
        </p:nvSpPr>
        <p:spPr>
          <a:xfrm>
            <a:off x="6259068" y="2148840"/>
            <a:ext cx="2430018" cy="1097280"/>
          </a:xfrm>
          <a:prstGeom prst="roundRect">
            <a:avLst/>
          </a:prstGeom>
          <a:solidFill>
            <a:srgbClr val="D99614"/>
          </a:solidFill>
          <a:ln w="12700">
            <a:solidFill>
              <a:srgbClr val="D99614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Classes</a:t>
            </a:r>
            <a:endParaRPr lang="en-US" sz="1700">
              <a:latin typeface="Calibri"/>
            </a:endParaRPr>
          </a:p>
          <a:p>
            <a:pPr algn="ctr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organize both</a:t>
            </a:r>
            <a:endParaRPr lang="en-US" sz="1700">
              <a:latin typeface="Calibri"/>
            </a:endParaRPr>
          </a:p>
        </p:txBody>
      </p:sp>
      <p:cxnSp>
        <p:nvCxnSpPr>
          <p:cNvPr id="14" name="Connector 14"/>
          <p:cNvCxnSpPr/>
          <p:nvPr/>
        </p:nvCxnSpPr>
        <p:spPr>
          <a:xfrm>
            <a:off x="8725662" y="269748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5" name="Shape 15"/>
          <p:cNvSpPr txBox="1"/>
          <p:nvPr/>
        </p:nvSpPr>
        <p:spPr>
          <a:xfrm>
            <a:off x="8999982" y="2148840"/>
            <a:ext cx="2430018" cy="1097280"/>
          </a:xfrm>
          <a:prstGeom prst="roundRect">
            <a:avLst/>
          </a:prstGeom>
          <a:solidFill>
            <a:srgbClr val="3C8C5A"/>
          </a:solidFill>
          <a:ln w="12700">
            <a:solidFill>
              <a:srgbClr val="3C8C5A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Objects</a:t>
            </a:r>
            <a:endParaRPr lang="en-US" sz="1700">
              <a:latin typeface="Calibri"/>
            </a:endParaRPr>
          </a:p>
          <a:p>
            <a:pPr algn="ctr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perform work</a:t>
            </a:r>
            <a:endParaRPr lang="en-US" sz="17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777240" y="4343400"/>
            <a:ext cx="10652760" cy="621792"/>
          </a:xfrm>
          <a:prstGeom prst="roundRect">
            <a:avLst/>
          </a:prstGeom>
          <a:solidFill>
            <a:srgbClr val="FFF6E5"/>
          </a:solidFill>
          <a:ln w="12700">
            <a:solidFill>
              <a:srgbClr val="17807E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800" b="1">
                <a:solidFill>
                  <a:srgbClr val="203040"/>
                </a:solidFill>
                <a:latin typeface="Calibri"/>
              </a:rPr>
              <a:t>Now ask: Which real-world entity owns this data and behavior?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What Is a Class?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OOP–Java • Methods, Objects &amp; Classes • Soban Hussain  |  Part 2 • Classes &amp; Objects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18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731520" y="914400"/>
            <a:ext cx="10744200" cy="73152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ctr">
              <a:buNone/>
            </a:pPr>
            <a:r>
              <a:rPr lang="en-US" sz="2500" b="1">
                <a:solidFill>
                  <a:srgbClr val="163D63"/>
                </a:solidFill>
                <a:latin typeface="Calibri"/>
              </a:rPr>
              <a:t>A class is a blueprint that defines the data and behavior of objects.</a:t>
            </a:r>
            <a:endParaRPr lang="en-US" sz="2500">
              <a:latin typeface="Calibri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777240" y="2011680"/>
            <a:ext cx="4892040" cy="256032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10"/>
          <p:cNvSpPr txBox="1"/>
          <p:nvPr/>
        </p:nvSpPr>
        <p:spPr>
          <a:xfrm>
            <a:off x="777240" y="2011680"/>
            <a:ext cx="4892040" cy="393192"/>
          </a:xfrm>
          <a:prstGeom prst="roundRect">
            <a:avLst/>
          </a:prstGeom>
          <a:solidFill>
            <a:srgbClr val="246A9B"/>
          </a:solidFill>
          <a:ln w="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11"/>
          <p:cNvSpPr txBox="1"/>
          <p:nvPr/>
        </p:nvSpPr>
        <p:spPr>
          <a:xfrm>
            <a:off x="886968" y="2066544"/>
            <a:ext cx="467258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House Blueprint</a:t>
            </a:r>
            <a:endParaRPr lang="en-US" sz="1700">
              <a:latin typeface="Calibri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905256" y="2514600"/>
            <a:ext cx="4636008" cy="196596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100" b="0">
                <a:solidFill>
                  <a:srgbClr val="203040"/>
                </a:solidFill>
                <a:latin typeface="Calibri"/>
              </a:rPr>
              <a:t>Describes rooms, doors, and dimensions—but it is not an actual house.</a:t>
            </a:r>
            <a:endParaRPr lang="en-US" sz="2100">
              <a:latin typeface="Calibri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6492240" y="2011680"/>
            <a:ext cx="4892040" cy="256032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4"/>
          <p:cNvSpPr txBox="1"/>
          <p:nvPr/>
        </p:nvSpPr>
        <p:spPr>
          <a:xfrm>
            <a:off x="6492240" y="2011680"/>
            <a:ext cx="4892040" cy="393192"/>
          </a:xfrm>
          <a:prstGeom prst="roundRect">
            <a:avLst/>
          </a:prstGeom>
          <a:solidFill>
            <a:srgbClr val="17807E"/>
          </a:solidFill>
          <a:ln w="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5"/>
          <p:cNvSpPr txBox="1"/>
          <p:nvPr/>
        </p:nvSpPr>
        <p:spPr>
          <a:xfrm>
            <a:off x="6601968" y="2066544"/>
            <a:ext cx="467258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Java Class</a:t>
            </a:r>
            <a:endParaRPr lang="en-US" sz="17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6620256" y="2514600"/>
            <a:ext cx="4636008" cy="196596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100" b="0">
                <a:solidFill>
                  <a:srgbClr val="203040"/>
                </a:solidFill>
                <a:latin typeface="Calibri"/>
              </a:rPr>
              <a:t>Describes fields and methods—but it is not an actual object.</a:t>
            </a:r>
            <a:endParaRPr lang="en-US" sz="2100">
              <a:latin typeface="Calibri"/>
            </a:endParaRPr>
          </a:p>
        </p:txBody>
      </p:sp>
      <p:cxnSp>
        <p:nvCxnSpPr>
          <p:cNvPr id="17" name="Connector 17"/>
          <p:cNvCxnSpPr/>
          <p:nvPr/>
        </p:nvCxnSpPr>
        <p:spPr>
          <a:xfrm>
            <a:off x="5715000" y="3291840"/>
            <a:ext cx="731520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What Is an Object?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OOP–Java • Methods, Objects &amp; Classes • Soban Hussain  |  Part 2 • Classes &amp; Objects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19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731520" y="914400"/>
            <a:ext cx="10744200" cy="73152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ctr">
              <a:buNone/>
            </a:pPr>
            <a:r>
              <a:rPr lang="en-US" sz="2600" b="1">
                <a:solidFill>
                  <a:srgbClr val="163D63"/>
                </a:solidFill>
                <a:latin typeface="Calibri"/>
              </a:rPr>
              <a:t>An object is an actual instance created from a class.</a:t>
            </a:r>
            <a:endParaRPr lang="en-US" sz="2600">
              <a:latin typeface="Calibri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685800" y="1965960"/>
            <a:ext cx="3429000" cy="283464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10"/>
          <p:cNvSpPr txBox="1"/>
          <p:nvPr/>
        </p:nvSpPr>
        <p:spPr>
          <a:xfrm>
            <a:off x="685800" y="1965960"/>
            <a:ext cx="3429000" cy="393192"/>
          </a:xfrm>
          <a:prstGeom prst="roundRect">
            <a:avLst/>
          </a:prstGeom>
          <a:solidFill>
            <a:srgbClr val="246A9B"/>
          </a:solidFill>
          <a:ln w="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11"/>
          <p:cNvSpPr txBox="1"/>
          <p:nvPr/>
        </p:nvSpPr>
        <p:spPr>
          <a:xfrm>
            <a:off x="795528" y="2020824"/>
            <a:ext cx="320954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State</a:t>
            </a:r>
            <a:endParaRPr lang="en-US" sz="1700">
              <a:latin typeface="Calibri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813816" y="2468880"/>
            <a:ext cx="3172968" cy="224028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Current values</a:t>
            </a:r>
            <a:endParaRPr lang="en-US" sz="2000">
              <a:latin typeface="Calibri"/>
            </a:endParaRPr>
          </a:p>
          <a:p>
            <a:pPr algn="l">
              <a:buNone/>
            </a:pPr>
            <a:endParaRPr lang="en-US" sz="2000">
              <a:latin typeface="Calibri"/>
            </a:endParaRPr>
          </a:p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name = Ali</a:t>
            </a:r>
            <a:endParaRPr lang="en-US" sz="2000">
              <a:latin typeface="Calibri"/>
            </a:endParaRPr>
          </a:p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rollNumber = 101</a:t>
            </a:r>
            <a:endParaRPr lang="en-US" sz="2000">
              <a:latin typeface="Calibri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4389120" y="1965960"/>
            <a:ext cx="3429000" cy="283464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4"/>
          <p:cNvSpPr txBox="1"/>
          <p:nvPr/>
        </p:nvSpPr>
        <p:spPr>
          <a:xfrm>
            <a:off x="4389120" y="1965960"/>
            <a:ext cx="3429000" cy="393192"/>
          </a:xfrm>
          <a:prstGeom prst="roundRect">
            <a:avLst/>
          </a:prstGeom>
          <a:solidFill>
            <a:srgbClr val="17807E"/>
          </a:solidFill>
          <a:ln w="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5"/>
          <p:cNvSpPr txBox="1"/>
          <p:nvPr/>
        </p:nvSpPr>
        <p:spPr>
          <a:xfrm>
            <a:off x="4498848" y="2020824"/>
            <a:ext cx="320954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Behavior</a:t>
            </a:r>
            <a:endParaRPr lang="en-US" sz="17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4517136" y="2468880"/>
            <a:ext cx="3172968" cy="224028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Available actions</a:t>
            </a:r>
            <a:endParaRPr lang="en-US" sz="2000">
              <a:latin typeface="Calibri"/>
            </a:endParaRPr>
          </a:p>
          <a:p>
            <a:pPr algn="l">
              <a:buNone/>
            </a:pPr>
            <a:endParaRPr lang="en-US" sz="2000">
              <a:latin typeface="Calibri"/>
            </a:endParaRPr>
          </a:p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displayInfo()</a:t>
            </a:r>
            <a:endParaRPr lang="en-US" sz="2000">
              <a:latin typeface="Calibri"/>
            </a:endParaRPr>
          </a:p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calculateResult()</a:t>
            </a:r>
            <a:endParaRPr lang="en-US" sz="2000">
              <a:latin typeface="Calibri"/>
            </a:endParaRPr>
          </a:p>
        </p:txBody>
      </p:sp>
      <p:sp>
        <p:nvSpPr>
          <p:cNvPr id="17" name="Shape 17"/>
          <p:cNvSpPr txBox="1"/>
          <p:nvPr/>
        </p:nvSpPr>
        <p:spPr>
          <a:xfrm>
            <a:off x="8092440" y="1965960"/>
            <a:ext cx="3429000" cy="283464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8"/>
          <p:cNvSpPr txBox="1"/>
          <p:nvPr/>
        </p:nvSpPr>
        <p:spPr>
          <a:xfrm>
            <a:off x="8092440" y="1965960"/>
            <a:ext cx="3429000" cy="393192"/>
          </a:xfrm>
          <a:prstGeom prst="roundRect">
            <a:avLst/>
          </a:prstGeom>
          <a:solidFill>
            <a:srgbClr val="D99614"/>
          </a:solidFill>
          <a:ln w="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9" name="Shape 19"/>
          <p:cNvSpPr txBox="1"/>
          <p:nvPr/>
        </p:nvSpPr>
        <p:spPr>
          <a:xfrm>
            <a:off x="8202168" y="2020824"/>
            <a:ext cx="320954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Identity</a:t>
            </a:r>
            <a:endParaRPr lang="en-US" sz="1700">
              <a:latin typeface="Calibri"/>
            </a:endParaRPr>
          </a:p>
        </p:txBody>
      </p:sp>
      <p:sp>
        <p:nvSpPr>
          <p:cNvPr id="20" name="Shape 20"/>
          <p:cNvSpPr txBox="1"/>
          <p:nvPr/>
        </p:nvSpPr>
        <p:spPr>
          <a:xfrm>
            <a:off x="8220456" y="2468880"/>
            <a:ext cx="3172968" cy="224028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A separate object</a:t>
            </a:r>
            <a:endParaRPr lang="en-US" sz="2000">
              <a:latin typeface="Calibri"/>
            </a:endParaRPr>
          </a:p>
          <a:p>
            <a:pPr algn="l">
              <a:buNone/>
            </a:pPr>
            <a:endParaRPr lang="en-US" sz="2000">
              <a:latin typeface="Calibri"/>
            </a:endParaRPr>
          </a:p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Ali and Sara can have different values.</a:t>
            </a:r>
            <a:endParaRPr lang="en-US" sz="2000">
              <a:latin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Class vs Object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OOP–Java • Methods, Objects &amp; Classes • Soban Hussain  |  Part 2 • Classes &amp; Objects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20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731520" y="960120"/>
            <a:ext cx="2834640" cy="822960"/>
          </a:xfrm>
          <a:prstGeom prst="roundRect">
            <a:avLst/>
          </a:prstGeom>
          <a:solidFill>
            <a:srgbClr val="163D63"/>
          </a:solidFill>
          <a:ln w="12700">
            <a:solidFill>
              <a:srgbClr val="163D63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Student Class</a:t>
            </a:r>
            <a:endParaRPr lang="en-US" sz="2500">
              <a:latin typeface="Calibri"/>
            </a:endParaRPr>
          </a:p>
        </p:txBody>
      </p:sp>
      <p:cxnSp>
        <p:nvCxnSpPr>
          <p:cNvPr id="9" name="Connector 9"/>
          <p:cNvCxnSpPr/>
          <p:nvPr/>
        </p:nvCxnSpPr>
        <p:spPr>
          <a:xfrm>
            <a:off x="3657600" y="1371600"/>
            <a:ext cx="1143000" cy="0"/>
          </a:xfrm>
          <a:prstGeom prst="line">
            <a:avLst/>
          </a:prstGeom>
          <a:ln w="22860">
            <a:solidFill>
              <a:srgbClr val="657586"/>
            </a:solidFill>
            <a:tailEnd type="none"/>
          </a:ln>
        </p:spPr>
      </p:cxnSp>
      <p:sp>
        <p:nvSpPr>
          <p:cNvPr id="10" name="Shape 10"/>
          <p:cNvSpPr txBox="1"/>
          <p:nvPr/>
        </p:nvSpPr>
        <p:spPr>
          <a:xfrm>
            <a:off x="4846320" y="960120"/>
            <a:ext cx="2743200" cy="822960"/>
          </a:xfrm>
          <a:prstGeom prst="roundRect">
            <a:avLst/>
          </a:prstGeom>
          <a:solidFill>
            <a:srgbClr val="246A9B"/>
          </a:solidFill>
          <a:ln w="12700">
            <a:solidFill>
              <a:srgbClr val="246A9B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</a:rPr>
              <a:t>student1</a:t>
            </a:r>
            <a:endParaRPr lang="en-US" sz="1800">
              <a:latin typeface="Calibri"/>
            </a:endParaRPr>
          </a:p>
          <a:p>
            <a:pPr algn="ctr"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</a:rPr>
              <a:t>Ali • 101</a:t>
            </a:r>
            <a:endParaRPr lang="en-US" sz="1800">
              <a:latin typeface="Calibri"/>
            </a:endParaRPr>
          </a:p>
        </p:txBody>
      </p:sp>
      <p:cxnSp>
        <p:nvCxnSpPr>
          <p:cNvPr id="11" name="Connector 11"/>
          <p:cNvCxnSpPr/>
          <p:nvPr/>
        </p:nvCxnSpPr>
        <p:spPr>
          <a:xfrm>
            <a:off x="3657600" y="1371600"/>
            <a:ext cx="1143000" cy="1508760"/>
          </a:xfrm>
          <a:prstGeom prst="line">
            <a:avLst/>
          </a:prstGeom>
          <a:ln w="22860">
            <a:solidFill>
              <a:srgbClr val="657586"/>
            </a:solidFill>
            <a:tailEnd type="none"/>
          </a:ln>
        </p:spPr>
      </p:cxnSp>
      <p:sp>
        <p:nvSpPr>
          <p:cNvPr id="12" name="Shape 12"/>
          <p:cNvSpPr txBox="1"/>
          <p:nvPr/>
        </p:nvSpPr>
        <p:spPr>
          <a:xfrm>
            <a:off x="4846320" y="2468880"/>
            <a:ext cx="2743200" cy="822960"/>
          </a:xfrm>
          <a:prstGeom prst="roundRect">
            <a:avLst/>
          </a:prstGeom>
          <a:solidFill>
            <a:srgbClr val="17807E"/>
          </a:solidFill>
          <a:ln w="12700">
            <a:solidFill>
              <a:srgbClr val="17807E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</a:rPr>
              <a:t>student2</a:t>
            </a:r>
            <a:endParaRPr lang="en-US" sz="1800">
              <a:latin typeface="Calibri"/>
            </a:endParaRPr>
          </a:p>
          <a:p>
            <a:pPr algn="ctr"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</a:rPr>
              <a:t>Sara • 102</a:t>
            </a:r>
            <a:endParaRPr lang="en-US" sz="1800">
              <a:latin typeface="Calibri"/>
            </a:endParaRPr>
          </a:p>
        </p:txBody>
      </p:sp>
      <p:cxnSp>
        <p:nvCxnSpPr>
          <p:cNvPr id="13" name="Connector 13"/>
          <p:cNvCxnSpPr/>
          <p:nvPr/>
        </p:nvCxnSpPr>
        <p:spPr>
          <a:xfrm>
            <a:off x="3657600" y="1371600"/>
            <a:ext cx="1143000" cy="3017520"/>
          </a:xfrm>
          <a:prstGeom prst="line">
            <a:avLst/>
          </a:prstGeom>
          <a:ln w="22860">
            <a:solidFill>
              <a:srgbClr val="657586"/>
            </a:solidFill>
            <a:tailEnd type="none"/>
          </a:ln>
        </p:spPr>
      </p:cxnSp>
      <p:sp>
        <p:nvSpPr>
          <p:cNvPr id="14" name="Shape 14"/>
          <p:cNvSpPr txBox="1"/>
          <p:nvPr/>
        </p:nvSpPr>
        <p:spPr>
          <a:xfrm>
            <a:off x="4846320" y="3977640"/>
            <a:ext cx="2743200" cy="822960"/>
          </a:xfrm>
          <a:prstGeom prst="roundRect">
            <a:avLst/>
          </a:prstGeom>
          <a:solidFill>
            <a:srgbClr val="D99614"/>
          </a:solidFill>
          <a:ln w="12700">
            <a:solidFill>
              <a:srgbClr val="D99614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</a:rPr>
              <a:t>student3</a:t>
            </a:r>
            <a:endParaRPr lang="en-US" sz="1800">
              <a:latin typeface="Calibri"/>
            </a:endParaRPr>
          </a:p>
          <a:p>
            <a:pPr algn="ctr"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</a:rPr>
              <a:t>Ahmed • 103</a:t>
            </a:r>
            <a:endParaRPr lang="en-US" sz="1800">
              <a:latin typeface="Calibri"/>
            </a:endParaRPr>
          </a:p>
        </p:txBody>
      </p:sp>
      <p:sp>
        <p:nvSpPr>
          <p:cNvPr id="15" name="Shape 15"/>
          <p:cNvSpPr txBox="1"/>
          <p:nvPr/>
        </p:nvSpPr>
        <p:spPr>
          <a:xfrm>
            <a:off x="8092440" y="960120"/>
            <a:ext cx="3246120" cy="384048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3C8C5A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6"/>
          <p:cNvSpPr txBox="1"/>
          <p:nvPr/>
        </p:nvSpPr>
        <p:spPr>
          <a:xfrm>
            <a:off x="8092440" y="960120"/>
            <a:ext cx="3246120" cy="393192"/>
          </a:xfrm>
          <a:prstGeom prst="roundRect">
            <a:avLst/>
          </a:prstGeom>
          <a:solidFill>
            <a:srgbClr val="3C8C5A"/>
          </a:solidFill>
          <a:ln w="0">
            <a:solidFill>
              <a:srgbClr val="3C8C5A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7"/>
          <p:cNvSpPr txBox="1"/>
          <p:nvPr/>
        </p:nvSpPr>
        <p:spPr>
          <a:xfrm>
            <a:off x="8202168" y="1014984"/>
            <a:ext cx="302666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Remember</a:t>
            </a:r>
            <a:endParaRPr lang="en-US" sz="1700">
              <a:latin typeface="Calibri"/>
            </a:endParaRPr>
          </a:p>
        </p:txBody>
      </p:sp>
      <p:sp>
        <p:nvSpPr>
          <p:cNvPr id="18" name="Shape 18"/>
          <p:cNvSpPr txBox="1"/>
          <p:nvPr/>
        </p:nvSpPr>
        <p:spPr>
          <a:xfrm>
            <a:off x="8220456" y="1463040"/>
            <a:ext cx="2990088" cy="324612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alibri"/>
              </a:rPr>
              <a:t>One class can create many objects.</a:t>
            </a:r>
            <a:endParaRPr lang="en-US" sz="1900">
              <a:latin typeface="Calibri"/>
            </a:endParaRPr>
          </a:p>
          <a:p>
            <a:pPr algn="l">
              <a:buNone/>
            </a:pPr>
            <a:endParaRPr lang="en-US" sz="1900">
              <a:latin typeface="Calibri"/>
            </a:endParaRPr>
          </a:p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alibri"/>
              </a:rPr>
              <a:t>Every object has its own state.</a:t>
            </a:r>
            <a:endParaRPr lang="en-US" sz="1900">
              <a:latin typeface="Calibri"/>
            </a:endParaRPr>
          </a:p>
          <a:p>
            <a:pPr algn="l">
              <a:buNone/>
            </a:pPr>
            <a:endParaRPr lang="en-US" sz="1900">
              <a:latin typeface="Calibri"/>
            </a:endParaRPr>
          </a:p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alibri"/>
              </a:rPr>
              <a:t>Objects use the behavior defined by the class.</a:t>
            </a:r>
            <a:endParaRPr lang="en-US" sz="1900">
              <a:latin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Defining a Student Class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OOP–Java • Methods, Objects &amp; Classes • Soban Hussain  |  Part 2 • Classes &amp; Objects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21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594360" y="822960"/>
            <a:ext cx="6400800" cy="5349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CD6DF"/>
            </a:solidFill>
          </a:ln>
        </p:spPr>
        <p:txBody>
          <a:bodyPr wrap="square" lIns="137160" tIns="137160" rIns="137160" bIns="137160" anchor="t"/>
          <a:lstStyle/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onsolas"/>
              </a:rPr>
              <a:t>class Student {</a:t>
            </a:r>
            <a:endParaRPr lang="en-US" sz="1800">
              <a:latin typeface="Consolas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onsolas"/>
              </a:rPr>
              <a:t>    String name;</a:t>
            </a:r>
            <a:endParaRPr lang="en-US" sz="1800">
              <a:latin typeface="Consolas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onsolas"/>
              </a:rPr>
              <a:t>    int rollNumber;</a:t>
            </a:r>
            <a:endParaRPr lang="en-US" sz="1800">
              <a:latin typeface="Consolas"/>
            </a:endParaRPr>
          </a:p>
          <a:p>
            <a:pPr algn="l">
              <a:buNone/>
            </a:pPr>
            <a:endParaRPr lang="en-US" sz="1800">
              <a:latin typeface="Consolas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onsolas"/>
              </a:rPr>
              <a:t>    void displayInfo() {</a:t>
            </a:r>
            <a:endParaRPr lang="en-US" sz="1800">
              <a:latin typeface="Consolas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onsolas"/>
              </a:rPr>
              <a:t>        System.out.println(name);</a:t>
            </a:r>
            <a:endParaRPr lang="en-US" sz="1800">
              <a:latin typeface="Consolas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onsolas"/>
              </a:rPr>
              <a:t>        System.out.println(rollNumber);</a:t>
            </a:r>
            <a:endParaRPr lang="en-US" sz="1800">
              <a:latin typeface="Consolas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onsolas"/>
              </a:rPr>
              <a:t>    }</a:t>
            </a:r>
            <a:endParaRPr lang="en-US" sz="1800">
              <a:latin typeface="Consolas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onsolas"/>
              </a:rPr>
              <a:t>}</a:t>
            </a:r>
            <a:endParaRPr lang="en-US" sz="1800">
              <a:latin typeface="Consolas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7315200" y="914400"/>
            <a:ext cx="3977640" cy="160020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10"/>
          <p:cNvSpPr txBox="1"/>
          <p:nvPr/>
        </p:nvSpPr>
        <p:spPr>
          <a:xfrm>
            <a:off x="7315200" y="914400"/>
            <a:ext cx="3977640" cy="393192"/>
          </a:xfrm>
          <a:prstGeom prst="roundRect">
            <a:avLst/>
          </a:prstGeom>
          <a:solidFill>
            <a:srgbClr val="246A9B"/>
          </a:solidFill>
          <a:ln w="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11"/>
          <p:cNvSpPr txBox="1"/>
          <p:nvPr/>
        </p:nvSpPr>
        <p:spPr>
          <a:xfrm>
            <a:off x="7424928" y="969264"/>
            <a:ext cx="375818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Fields</a:t>
            </a:r>
            <a:endParaRPr lang="en-US" sz="1700">
              <a:latin typeface="Calibri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7443216" y="1417320"/>
            <a:ext cx="3721608" cy="100584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alibri"/>
              </a:rPr>
              <a:t>Variables that store an object's state.</a:t>
            </a:r>
            <a:endParaRPr lang="en-US" sz="1900">
              <a:latin typeface="Calibri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7315200" y="2834640"/>
            <a:ext cx="3977640" cy="160020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4"/>
          <p:cNvSpPr txBox="1"/>
          <p:nvPr/>
        </p:nvSpPr>
        <p:spPr>
          <a:xfrm>
            <a:off x="7315200" y="2834640"/>
            <a:ext cx="3977640" cy="393192"/>
          </a:xfrm>
          <a:prstGeom prst="roundRect">
            <a:avLst/>
          </a:prstGeom>
          <a:solidFill>
            <a:srgbClr val="17807E"/>
          </a:solidFill>
          <a:ln w="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5"/>
          <p:cNvSpPr txBox="1"/>
          <p:nvPr/>
        </p:nvSpPr>
        <p:spPr>
          <a:xfrm>
            <a:off x="7424928" y="2889504"/>
            <a:ext cx="375818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Instance Method</a:t>
            </a:r>
            <a:endParaRPr lang="en-US" sz="17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7443216" y="3337560"/>
            <a:ext cx="3721608" cy="100584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alibri"/>
              </a:rPr>
              <a:t>Behavior that works with the object's fields.</a:t>
            </a:r>
            <a:endParaRPr lang="en-US" sz="1900">
              <a:latin typeface="Calibri"/>
            </a:endParaRPr>
          </a:p>
        </p:txBody>
      </p:sp>
      <p:sp>
        <p:nvSpPr>
          <p:cNvPr id="17" name="Shape 17"/>
          <p:cNvSpPr txBox="1"/>
          <p:nvPr/>
        </p:nvSpPr>
        <p:spPr>
          <a:xfrm>
            <a:off x="777240" y="4892040"/>
            <a:ext cx="10652760" cy="621792"/>
          </a:xfrm>
          <a:prstGeom prst="roundRect">
            <a:avLst/>
          </a:prstGeom>
          <a:solidFill>
            <a:srgbClr val="FFF6E5"/>
          </a:solidFill>
          <a:ln w="12700">
            <a:solidFill>
              <a:srgbClr val="D99614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800" b="1">
                <a:solidFill>
                  <a:srgbClr val="203040"/>
                </a:solidFill>
                <a:latin typeface="Calibri"/>
              </a:rPr>
              <a:t>Class = fields + methods.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Creating and Using an Object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OOP–Java • Methods, Objects &amp; Classes • Soban Hussain  |  Part 2 • Classes &amp; Objects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22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640080" y="914400"/>
            <a:ext cx="5943600" cy="3977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CD6DF"/>
            </a:solidFill>
          </a:ln>
        </p:spPr>
        <p:txBody>
          <a:bodyPr wrap="square" lIns="137160" tIns="137160" rIns="137160" bIns="137160" anchor="t"/>
          <a:lstStyle/>
          <a:p>
            <a:pPr algn="l">
              <a:buNone/>
            </a:pPr>
            <a:r>
              <a:rPr lang="en-US" sz="2100" b="0">
                <a:solidFill>
                  <a:srgbClr val="203040"/>
                </a:solidFill>
                <a:latin typeface="Consolas"/>
              </a:rPr>
              <a:t>Student first = new Student();</a:t>
            </a:r>
            <a:endParaRPr lang="en-US" sz="2100">
              <a:latin typeface="Consolas"/>
            </a:endParaRPr>
          </a:p>
          <a:p>
            <a:pPr algn="l">
              <a:buNone/>
            </a:pPr>
            <a:endParaRPr lang="en-US" sz="2100">
              <a:latin typeface="Consolas"/>
            </a:endParaRPr>
          </a:p>
          <a:p>
            <a:pPr algn="l">
              <a:buNone/>
            </a:pPr>
            <a:r>
              <a:rPr lang="en-US" sz="2100" b="0">
                <a:solidFill>
                  <a:srgbClr val="203040"/>
                </a:solidFill>
                <a:latin typeface="Consolas"/>
              </a:rPr>
              <a:t>first.name = "Ali";</a:t>
            </a:r>
            <a:endParaRPr lang="en-US" sz="2100">
              <a:latin typeface="Consolas"/>
            </a:endParaRPr>
          </a:p>
          <a:p>
            <a:pPr algn="l">
              <a:buNone/>
            </a:pPr>
            <a:r>
              <a:rPr lang="en-US" sz="2100" b="0">
                <a:solidFill>
                  <a:srgbClr val="203040"/>
                </a:solidFill>
                <a:latin typeface="Consolas"/>
              </a:rPr>
              <a:t>first.rollNumber = 101;</a:t>
            </a:r>
            <a:endParaRPr lang="en-US" sz="2100">
              <a:latin typeface="Consolas"/>
            </a:endParaRPr>
          </a:p>
          <a:p>
            <a:pPr algn="l">
              <a:buNone/>
            </a:pPr>
            <a:endParaRPr lang="en-US" sz="2100">
              <a:latin typeface="Consolas"/>
            </a:endParaRPr>
          </a:p>
          <a:p>
            <a:pPr algn="l">
              <a:buNone/>
            </a:pPr>
            <a:r>
              <a:rPr lang="en-US" sz="2100" b="0">
                <a:solidFill>
                  <a:srgbClr val="203040"/>
                </a:solidFill>
                <a:latin typeface="Consolas"/>
              </a:rPr>
              <a:t>first.displayInfo();</a:t>
            </a:r>
            <a:endParaRPr lang="en-US" sz="2100">
              <a:latin typeface="Consolas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6995160" y="1280160"/>
            <a:ext cx="829818" cy="822960"/>
          </a:xfrm>
          <a:prstGeom prst="roundRect">
            <a:avLst/>
          </a:prstGeom>
          <a:solidFill>
            <a:srgbClr val="246A9B"/>
          </a:solidFill>
          <a:ln w="12700">
            <a:solidFill>
              <a:srgbClr val="246A9B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</a:rPr>
              <a:t>Student</a:t>
            </a:r>
            <a:endParaRPr lang="en-US" sz="1200">
              <a:latin typeface="Calibri"/>
            </a:endParaRPr>
          </a:p>
        </p:txBody>
      </p:sp>
      <p:cxnSp>
        <p:nvCxnSpPr>
          <p:cNvPr id="10" name="Connector 10"/>
          <p:cNvCxnSpPr/>
          <p:nvPr/>
        </p:nvCxnSpPr>
        <p:spPr>
          <a:xfrm>
            <a:off x="7861554" y="169164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1" name="Shape 11"/>
          <p:cNvSpPr txBox="1"/>
          <p:nvPr/>
        </p:nvSpPr>
        <p:spPr>
          <a:xfrm>
            <a:off x="8135874" y="1280160"/>
            <a:ext cx="829818" cy="822960"/>
          </a:xfrm>
          <a:prstGeom prst="roundRect">
            <a:avLst/>
          </a:prstGeom>
          <a:solidFill>
            <a:srgbClr val="17807E"/>
          </a:solidFill>
          <a:ln w="12700">
            <a:solidFill>
              <a:srgbClr val="17807E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</a:rPr>
              <a:t>first</a:t>
            </a:r>
            <a:endParaRPr lang="en-US" sz="1200">
              <a:latin typeface="Calibri"/>
            </a:endParaRPr>
          </a:p>
        </p:txBody>
      </p:sp>
      <p:cxnSp>
        <p:nvCxnSpPr>
          <p:cNvPr id="12" name="Connector 12"/>
          <p:cNvCxnSpPr/>
          <p:nvPr/>
        </p:nvCxnSpPr>
        <p:spPr>
          <a:xfrm>
            <a:off x="9002268" y="169164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3" name="Shape 13"/>
          <p:cNvSpPr txBox="1"/>
          <p:nvPr/>
        </p:nvSpPr>
        <p:spPr>
          <a:xfrm>
            <a:off x="9276588" y="1280160"/>
            <a:ext cx="829818" cy="822960"/>
          </a:xfrm>
          <a:prstGeom prst="roundRect">
            <a:avLst/>
          </a:prstGeom>
          <a:solidFill>
            <a:srgbClr val="D99614"/>
          </a:solidFill>
          <a:ln w="12700">
            <a:solidFill>
              <a:srgbClr val="D99614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</a:rPr>
              <a:t>new Student()</a:t>
            </a:r>
            <a:endParaRPr lang="en-US" sz="1200">
              <a:latin typeface="Calibri"/>
            </a:endParaRPr>
          </a:p>
        </p:txBody>
      </p:sp>
      <p:cxnSp>
        <p:nvCxnSpPr>
          <p:cNvPr id="14" name="Connector 14"/>
          <p:cNvCxnSpPr/>
          <p:nvPr/>
        </p:nvCxnSpPr>
        <p:spPr>
          <a:xfrm>
            <a:off x="10142982" y="169164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5" name="Shape 15"/>
          <p:cNvSpPr txBox="1"/>
          <p:nvPr/>
        </p:nvSpPr>
        <p:spPr>
          <a:xfrm>
            <a:off x="10417302" y="1280160"/>
            <a:ext cx="829818" cy="822960"/>
          </a:xfrm>
          <a:prstGeom prst="roundRect">
            <a:avLst/>
          </a:prstGeom>
          <a:solidFill>
            <a:srgbClr val="3C8C5A"/>
          </a:solidFill>
          <a:ln w="12700">
            <a:solidFill>
              <a:srgbClr val="3C8C5A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</a:rPr>
              <a:t>displayInfo()</a:t>
            </a:r>
            <a:endParaRPr lang="en-US" sz="12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6995160" y="2971800"/>
            <a:ext cx="4251960" cy="164592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7"/>
          <p:cNvSpPr txBox="1"/>
          <p:nvPr/>
        </p:nvSpPr>
        <p:spPr>
          <a:xfrm>
            <a:off x="6995160" y="2971800"/>
            <a:ext cx="4251960" cy="393192"/>
          </a:xfrm>
          <a:prstGeom prst="roundRect">
            <a:avLst/>
          </a:prstGeom>
          <a:solidFill>
            <a:srgbClr val="D99614"/>
          </a:solidFill>
          <a:ln w="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8"/>
          <p:cNvSpPr txBox="1"/>
          <p:nvPr/>
        </p:nvSpPr>
        <p:spPr>
          <a:xfrm>
            <a:off x="7104888" y="3026664"/>
            <a:ext cx="403250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Read the statement</a:t>
            </a:r>
            <a:endParaRPr lang="en-US" sz="1700">
              <a:latin typeface="Calibri"/>
            </a:endParaRPr>
          </a:p>
        </p:txBody>
      </p:sp>
      <p:sp>
        <p:nvSpPr>
          <p:cNvPr id="19" name="Shape 19"/>
          <p:cNvSpPr txBox="1"/>
          <p:nvPr/>
        </p:nvSpPr>
        <p:spPr>
          <a:xfrm>
            <a:off x="7123176" y="3474720"/>
            <a:ext cx="3995928" cy="105156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alibri"/>
              </a:rPr>
              <a:t>Create a Student object and store its reference in first.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Reference Variable and Object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OOP–Java • Methods, Objects &amp; Classes • Soban Hussain  |  Part 2 • Classes &amp; Objects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23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777240" y="1371600"/>
            <a:ext cx="2743200" cy="914400"/>
          </a:xfrm>
          <a:prstGeom prst="roundRect">
            <a:avLst/>
          </a:prstGeom>
          <a:solidFill>
            <a:srgbClr val="163D63"/>
          </a:solidFill>
          <a:ln w="12700">
            <a:solidFill>
              <a:srgbClr val="163D63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</a:rPr>
              <a:t>first</a:t>
            </a:r>
            <a:endParaRPr lang="en-US" sz="2800">
              <a:latin typeface="Calibri"/>
            </a:endParaRPr>
          </a:p>
        </p:txBody>
      </p:sp>
      <p:cxnSp>
        <p:nvCxnSpPr>
          <p:cNvPr id="9" name="Connector 9"/>
          <p:cNvCxnSpPr/>
          <p:nvPr/>
        </p:nvCxnSpPr>
        <p:spPr>
          <a:xfrm>
            <a:off x="3566160" y="1828800"/>
            <a:ext cx="1828800" cy="0"/>
          </a:xfrm>
          <a:prstGeom prst="line">
            <a:avLst/>
          </a:prstGeom>
          <a:ln w="31750">
            <a:solidFill>
              <a:srgbClr val="657586"/>
            </a:solidFill>
            <a:tailEnd type="none"/>
          </a:ln>
        </p:spPr>
      </p:cxnSp>
      <p:sp>
        <p:nvSpPr>
          <p:cNvPr id="10" name="Shape 10"/>
          <p:cNvSpPr txBox="1"/>
          <p:nvPr/>
        </p:nvSpPr>
        <p:spPr>
          <a:xfrm>
            <a:off x="5486400" y="1005840"/>
            <a:ext cx="5029200" cy="2560320"/>
          </a:xfrm>
          <a:prstGeom prst="roundRect">
            <a:avLst/>
          </a:prstGeom>
          <a:solidFill>
            <a:srgbClr val="17807E"/>
          </a:solidFill>
          <a:ln w="12700">
            <a:solidFill>
              <a:srgbClr val="17807E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2300" b="1">
                <a:solidFill>
                  <a:srgbClr val="FFFFFF"/>
                </a:solidFill>
                <a:latin typeface="Calibri"/>
              </a:rPr>
              <a:t>Student object</a:t>
            </a:r>
            <a:endParaRPr lang="en-US" sz="2300">
              <a:latin typeface="Calibri"/>
            </a:endParaRPr>
          </a:p>
          <a:p>
            <a:pPr algn="ctr">
              <a:buNone/>
            </a:pPr>
            <a:endParaRPr lang="en-US" sz="2300">
              <a:latin typeface="Calibri"/>
            </a:endParaRPr>
          </a:p>
          <a:p>
            <a:pPr algn="ctr">
              <a:buNone/>
            </a:pPr>
            <a:r>
              <a:rPr lang="en-US" sz="2300" b="1">
                <a:solidFill>
                  <a:srgbClr val="FFFFFF"/>
                </a:solidFill>
                <a:latin typeface="Calibri"/>
              </a:rPr>
              <a:t>name: Ali</a:t>
            </a:r>
            <a:endParaRPr lang="en-US" sz="2300">
              <a:latin typeface="Calibri"/>
            </a:endParaRPr>
          </a:p>
          <a:p>
            <a:pPr algn="ctr">
              <a:buNone/>
            </a:pPr>
            <a:r>
              <a:rPr lang="en-US" sz="2300" b="1">
                <a:solidFill>
                  <a:srgbClr val="FFFFFF"/>
                </a:solidFill>
                <a:latin typeface="Calibri"/>
              </a:rPr>
              <a:t>rollNumber: 101</a:t>
            </a:r>
            <a:endParaRPr lang="en-US" sz="2300">
              <a:latin typeface="Calibri"/>
            </a:endParaRPr>
          </a:p>
        </p:txBody>
      </p:sp>
      <p:sp>
        <p:nvSpPr>
          <p:cNvPr id="11" name="Shape 11"/>
          <p:cNvSpPr txBox="1"/>
          <p:nvPr/>
        </p:nvSpPr>
        <p:spPr>
          <a:xfrm>
            <a:off x="1554480" y="4206240"/>
            <a:ext cx="9052560" cy="114300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2"/>
          <p:cNvSpPr txBox="1"/>
          <p:nvPr/>
        </p:nvSpPr>
        <p:spPr>
          <a:xfrm>
            <a:off x="1554480" y="4206240"/>
            <a:ext cx="9052560" cy="393192"/>
          </a:xfrm>
          <a:prstGeom prst="roundRect">
            <a:avLst/>
          </a:prstGeom>
          <a:solidFill>
            <a:srgbClr val="D99614"/>
          </a:solidFill>
          <a:ln w="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3"/>
          <p:cNvSpPr txBox="1"/>
          <p:nvPr/>
        </p:nvSpPr>
        <p:spPr>
          <a:xfrm>
            <a:off x="1664208" y="4261104"/>
            <a:ext cx="883310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Mental Model</a:t>
            </a:r>
            <a:endParaRPr lang="en-US" sz="1700">
              <a:latin typeface="Calibri"/>
            </a:endParaRPr>
          </a:p>
        </p:txBody>
      </p:sp>
      <p:sp>
        <p:nvSpPr>
          <p:cNvPr id="14" name="Shape 14"/>
          <p:cNvSpPr txBox="1"/>
          <p:nvPr/>
        </p:nvSpPr>
        <p:spPr>
          <a:xfrm>
            <a:off x="1682496" y="4709160"/>
            <a:ext cx="8796528" cy="54864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The variable stores a reference; the object stores the actual state.</a:t>
            </a:r>
            <a:endParaRPr lang="en-US" sz="2000">
              <a:latin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Constructors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OOP–Java • Methods, Objects &amp; Classes • Soban Hussain  |  Part 2 • Classes &amp; Objects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24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594360" y="822960"/>
            <a:ext cx="6537960" cy="5349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CD6DF"/>
            </a:solidFill>
          </a:ln>
        </p:spPr>
        <p:txBody>
          <a:bodyPr wrap="square" lIns="137160" tIns="137160" rIns="137160" bIns="137160" anchor="t"/>
          <a:lstStyle/>
          <a:p>
            <a:pPr algn="l">
              <a:buNone/>
            </a:pPr>
            <a:r>
              <a:rPr lang="en-US" sz="1700" b="0">
                <a:solidFill>
                  <a:srgbClr val="203040"/>
                </a:solidFill>
                <a:latin typeface="Consolas"/>
              </a:rPr>
              <a:t>class Student {</a:t>
            </a:r>
            <a:endParaRPr lang="en-US" sz="1700">
              <a:latin typeface="Consolas"/>
            </a:endParaRPr>
          </a:p>
          <a:p>
            <a:pPr algn="l">
              <a:buNone/>
            </a:pPr>
            <a:r>
              <a:rPr lang="en-US" sz="1700" b="0">
                <a:solidFill>
                  <a:srgbClr val="203040"/>
                </a:solidFill>
                <a:latin typeface="Consolas"/>
              </a:rPr>
              <a:t>    String name;</a:t>
            </a:r>
            <a:endParaRPr lang="en-US" sz="1700">
              <a:latin typeface="Consolas"/>
            </a:endParaRPr>
          </a:p>
          <a:p>
            <a:pPr algn="l">
              <a:buNone/>
            </a:pPr>
            <a:r>
              <a:rPr lang="en-US" sz="1700" b="0">
                <a:solidFill>
                  <a:srgbClr val="203040"/>
                </a:solidFill>
                <a:latin typeface="Consolas"/>
              </a:rPr>
              <a:t>    int rollNumber;</a:t>
            </a:r>
            <a:endParaRPr lang="en-US" sz="1700">
              <a:latin typeface="Consolas"/>
            </a:endParaRPr>
          </a:p>
          <a:p>
            <a:pPr algn="l">
              <a:buNone/>
            </a:pPr>
            <a:endParaRPr lang="en-US" sz="1700">
              <a:latin typeface="Consolas"/>
            </a:endParaRPr>
          </a:p>
          <a:p>
            <a:pPr algn="l">
              <a:buNone/>
            </a:pPr>
            <a:r>
              <a:rPr lang="en-US" sz="1700" b="0">
                <a:solidFill>
                  <a:srgbClr val="203040"/>
                </a:solidFill>
                <a:latin typeface="Consolas"/>
              </a:rPr>
              <a:t>    Student(String name, int rollNumber) {</a:t>
            </a:r>
            <a:endParaRPr lang="en-US" sz="1700">
              <a:latin typeface="Consolas"/>
            </a:endParaRPr>
          </a:p>
          <a:p>
            <a:pPr algn="l">
              <a:buNone/>
            </a:pPr>
            <a:r>
              <a:rPr lang="en-US" sz="1700" b="0">
                <a:solidFill>
                  <a:srgbClr val="203040"/>
                </a:solidFill>
                <a:latin typeface="Consolas"/>
              </a:rPr>
              <a:t>        this.name = name;</a:t>
            </a:r>
            <a:endParaRPr lang="en-US" sz="1700">
              <a:latin typeface="Consolas"/>
            </a:endParaRPr>
          </a:p>
          <a:p>
            <a:pPr algn="l">
              <a:buNone/>
            </a:pPr>
            <a:r>
              <a:rPr lang="en-US" sz="1700" b="0">
                <a:solidFill>
                  <a:srgbClr val="203040"/>
                </a:solidFill>
                <a:latin typeface="Consolas"/>
              </a:rPr>
              <a:t>        this.rollNumber = rollNumber;</a:t>
            </a:r>
            <a:endParaRPr lang="en-US" sz="1700">
              <a:latin typeface="Consolas"/>
            </a:endParaRPr>
          </a:p>
          <a:p>
            <a:pPr algn="l">
              <a:buNone/>
            </a:pPr>
            <a:r>
              <a:rPr lang="en-US" sz="1700" b="0">
                <a:solidFill>
                  <a:srgbClr val="203040"/>
                </a:solidFill>
                <a:latin typeface="Consolas"/>
              </a:rPr>
              <a:t>    }</a:t>
            </a:r>
            <a:endParaRPr lang="en-US" sz="1700">
              <a:latin typeface="Consolas"/>
            </a:endParaRPr>
          </a:p>
          <a:p>
            <a:pPr algn="l">
              <a:buNone/>
            </a:pPr>
            <a:r>
              <a:rPr lang="en-US" sz="1700" b="0">
                <a:solidFill>
                  <a:srgbClr val="203040"/>
                </a:solidFill>
                <a:latin typeface="Consolas"/>
              </a:rPr>
              <a:t>}</a:t>
            </a:r>
            <a:endParaRPr lang="en-US" sz="1700">
              <a:latin typeface="Consolas"/>
            </a:endParaRPr>
          </a:p>
          <a:p>
            <a:pPr algn="l">
              <a:buNone/>
            </a:pPr>
            <a:endParaRPr lang="en-US" sz="1700">
              <a:latin typeface="Consolas"/>
            </a:endParaRPr>
          </a:p>
          <a:p>
            <a:pPr algn="l">
              <a:buNone/>
            </a:pPr>
            <a:r>
              <a:rPr lang="en-US" sz="1700" b="0">
                <a:solidFill>
                  <a:srgbClr val="203040"/>
                </a:solidFill>
                <a:latin typeface="Consolas"/>
              </a:rPr>
              <a:t>Student student = new Student("Ali", 101);</a:t>
            </a:r>
            <a:endParaRPr lang="en-US" sz="1700">
              <a:latin typeface="Consolas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7406640" y="914400"/>
            <a:ext cx="3886200" cy="164592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10"/>
          <p:cNvSpPr txBox="1"/>
          <p:nvPr/>
        </p:nvSpPr>
        <p:spPr>
          <a:xfrm>
            <a:off x="7406640" y="914400"/>
            <a:ext cx="3886200" cy="393192"/>
          </a:xfrm>
          <a:prstGeom prst="roundRect">
            <a:avLst/>
          </a:prstGeom>
          <a:solidFill>
            <a:srgbClr val="246A9B"/>
          </a:solidFill>
          <a:ln w="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11"/>
          <p:cNvSpPr txBox="1"/>
          <p:nvPr/>
        </p:nvSpPr>
        <p:spPr>
          <a:xfrm>
            <a:off x="7516368" y="969264"/>
            <a:ext cx="366674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Purpose</a:t>
            </a:r>
            <a:endParaRPr lang="en-US" sz="1700">
              <a:latin typeface="Calibri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7534656" y="1417320"/>
            <a:ext cx="3630168" cy="105156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A constructor initializes a new object.</a:t>
            </a:r>
            <a:endParaRPr lang="en-US" sz="2000">
              <a:latin typeface="Calibri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7406640" y="2926080"/>
            <a:ext cx="3886200" cy="164592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4"/>
          <p:cNvSpPr txBox="1"/>
          <p:nvPr/>
        </p:nvSpPr>
        <p:spPr>
          <a:xfrm>
            <a:off x="7406640" y="2926080"/>
            <a:ext cx="3886200" cy="393192"/>
          </a:xfrm>
          <a:prstGeom prst="roundRect">
            <a:avLst/>
          </a:prstGeom>
          <a:solidFill>
            <a:srgbClr val="D99614"/>
          </a:solidFill>
          <a:ln w="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5"/>
          <p:cNvSpPr txBox="1"/>
          <p:nvPr/>
        </p:nvSpPr>
        <p:spPr>
          <a:xfrm>
            <a:off x="7516368" y="2980944"/>
            <a:ext cx="366674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Admission Analogy</a:t>
            </a:r>
            <a:endParaRPr lang="en-US" sz="17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7534656" y="3429000"/>
            <a:ext cx="3630168" cy="105156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alibri"/>
              </a:rPr>
              <a:t>A new student record receives initial details at registration.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Understanding this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OOP–Java • Methods, Objects &amp; Classes • Soban Hussain  |  Part 2 • Classes &amp; Objects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25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731520" y="1005840"/>
            <a:ext cx="5303520" cy="28803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CD6DF"/>
            </a:solidFill>
          </a:ln>
        </p:spPr>
        <p:txBody>
          <a:bodyPr wrap="square" lIns="137160" tIns="137160" rIns="137160" bIns="137160" anchor="t"/>
          <a:lstStyle/>
          <a:p>
            <a:pPr algn="l">
              <a:buNone/>
            </a:pPr>
            <a:r>
              <a:rPr lang="en-US" sz="2400" b="0">
                <a:solidFill>
                  <a:srgbClr val="203040"/>
                </a:solidFill>
                <a:latin typeface="Consolas"/>
              </a:rPr>
              <a:t>Student(String name) {</a:t>
            </a:r>
            <a:endParaRPr lang="en-US" sz="2400">
              <a:latin typeface="Consolas"/>
            </a:endParaRPr>
          </a:p>
          <a:p>
            <a:pPr algn="l">
              <a:buNone/>
            </a:pPr>
            <a:r>
              <a:rPr lang="en-US" sz="2400" b="0">
                <a:solidFill>
                  <a:srgbClr val="203040"/>
                </a:solidFill>
                <a:latin typeface="Consolas"/>
              </a:rPr>
              <a:t>    this.name = name;</a:t>
            </a:r>
            <a:endParaRPr lang="en-US" sz="2400">
              <a:latin typeface="Consolas"/>
            </a:endParaRPr>
          </a:p>
          <a:p>
            <a:pPr algn="l">
              <a:buNone/>
            </a:pPr>
            <a:r>
              <a:rPr lang="en-US" sz="2400" b="0">
                <a:solidFill>
                  <a:srgbClr val="203040"/>
                </a:solidFill>
                <a:latin typeface="Consolas"/>
              </a:rPr>
              <a:t>}</a:t>
            </a:r>
            <a:endParaRPr lang="en-US" sz="2400">
              <a:latin typeface="Consolas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6355080" y="1005840"/>
            <a:ext cx="4800600" cy="150876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10"/>
          <p:cNvSpPr txBox="1"/>
          <p:nvPr/>
        </p:nvSpPr>
        <p:spPr>
          <a:xfrm>
            <a:off x="6355080" y="1005840"/>
            <a:ext cx="4800600" cy="393192"/>
          </a:xfrm>
          <a:prstGeom prst="roundRect">
            <a:avLst/>
          </a:prstGeom>
          <a:solidFill>
            <a:srgbClr val="246A9B"/>
          </a:solidFill>
          <a:ln w="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11"/>
          <p:cNvSpPr txBox="1"/>
          <p:nvPr/>
        </p:nvSpPr>
        <p:spPr>
          <a:xfrm>
            <a:off x="6464808" y="1060704"/>
            <a:ext cx="458114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this.name</a:t>
            </a:r>
            <a:endParaRPr lang="en-US" sz="1700">
              <a:latin typeface="Calibri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6483096" y="1508760"/>
            <a:ext cx="4544568" cy="91440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The field belonging to the current object.</a:t>
            </a:r>
            <a:endParaRPr lang="en-US" sz="2000">
              <a:latin typeface="Calibri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6355080" y="2880360"/>
            <a:ext cx="4800600" cy="150876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4"/>
          <p:cNvSpPr txBox="1"/>
          <p:nvPr/>
        </p:nvSpPr>
        <p:spPr>
          <a:xfrm>
            <a:off x="6355080" y="2880360"/>
            <a:ext cx="4800600" cy="393192"/>
          </a:xfrm>
          <a:prstGeom prst="roundRect">
            <a:avLst/>
          </a:prstGeom>
          <a:solidFill>
            <a:srgbClr val="17807E"/>
          </a:solidFill>
          <a:ln w="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5"/>
          <p:cNvSpPr txBox="1"/>
          <p:nvPr/>
        </p:nvSpPr>
        <p:spPr>
          <a:xfrm>
            <a:off x="6464808" y="2935224"/>
            <a:ext cx="458114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name</a:t>
            </a:r>
            <a:endParaRPr lang="en-US" sz="17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6483096" y="3383280"/>
            <a:ext cx="4544568" cy="91440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The parameter received by the constructor.</a:t>
            </a:r>
            <a:endParaRPr lang="en-US" sz="2000">
              <a:latin typeface="Calibri"/>
            </a:endParaRPr>
          </a:p>
        </p:txBody>
      </p:sp>
      <p:sp>
        <p:nvSpPr>
          <p:cNvPr id="17" name="Shape 17"/>
          <p:cNvSpPr txBox="1"/>
          <p:nvPr/>
        </p:nvSpPr>
        <p:spPr>
          <a:xfrm>
            <a:off x="777240" y="4846320"/>
            <a:ext cx="10652760" cy="621792"/>
          </a:xfrm>
          <a:prstGeom prst="roundRect">
            <a:avLst/>
          </a:prstGeom>
          <a:solidFill>
            <a:srgbClr val="FFF6E5"/>
          </a:solidFill>
          <a:ln w="12700">
            <a:solidFill>
              <a:srgbClr val="D99614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800" b="1">
                <a:solidFill>
                  <a:srgbClr val="203040"/>
                </a:solidFill>
                <a:latin typeface="Calibri"/>
              </a:rPr>
              <a:t>this means: the current object I am working with.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Static vs Instance Methods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OOP–Java • Methods, Objects &amp; Classes • Soban Hussain  |  Part 2 • Classes &amp; Objects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27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685800" y="1005840"/>
            <a:ext cx="5166360" cy="397764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9"/>
          <p:cNvSpPr txBox="1"/>
          <p:nvPr/>
        </p:nvSpPr>
        <p:spPr>
          <a:xfrm>
            <a:off x="685800" y="1005840"/>
            <a:ext cx="5166360" cy="393192"/>
          </a:xfrm>
          <a:prstGeom prst="roundRect">
            <a:avLst/>
          </a:prstGeom>
          <a:solidFill>
            <a:srgbClr val="246A9B"/>
          </a:solidFill>
          <a:ln w="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10"/>
          <p:cNvSpPr txBox="1"/>
          <p:nvPr/>
        </p:nvSpPr>
        <p:spPr>
          <a:xfrm>
            <a:off x="795528" y="1060704"/>
            <a:ext cx="494690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Static Method</a:t>
            </a:r>
            <a:endParaRPr lang="en-US" sz="1700">
              <a:latin typeface="Calibri"/>
            </a:endParaRPr>
          </a:p>
        </p:txBody>
      </p:sp>
      <p:sp>
        <p:nvSpPr>
          <p:cNvPr id="11" name="Shape 11"/>
          <p:cNvSpPr txBox="1"/>
          <p:nvPr/>
        </p:nvSpPr>
        <p:spPr>
          <a:xfrm>
            <a:off x="813816" y="1508760"/>
            <a:ext cx="4910328" cy="338328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Belongs to the class.</a:t>
            </a:r>
            <a:endParaRPr lang="en-US" sz="2000">
              <a:latin typeface="Calibri"/>
            </a:endParaRPr>
          </a:p>
          <a:p>
            <a:pPr algn="l">
              <a:buNone/>
            </a:pPr>
            <a:endParaRPr lang="en-US" sz="2000">
              <a:latin typeface="Calibri"/>
            </a:endParaRPr>
          </a:p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Called with the class name or directly inside static main.</a:t>
            </a:r>
            <a:endParaRPr lang="en-US" sz="2000">
              <a:latin typeface="Calibri"/>
            </a:endParaRPr>
          </a:p>
          <a:p>
            <a:pPr algn="l">
              <a:buNone/>
            </a:pPr>
            <a:endParaRPr lang="en-US" sz="2000">
              <a:latin typeface="Calibri"/>
            </a:endParaRPr>
          </a:p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Example: Math.max(4, 9)</a:t>
            </a:r>
            <a:endParaRPr lang="en-US" sz="2000">
              <a:latin typeface="Calibri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6309360" y="1005840"/>
            <a:ext cx="5166360" cy="397764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3"/>
          <p:cNvSpPr txBox="1"/>
          <p:nvPr/>
        </p:nvSpPr>
        <p:spPr>
          <a:xfrm>
            <a:off x="6309360" y="1005840"/>
            <a:ext cx="5166360" cy="393192"/>
          </a:xfrm>
          <a:prstGeom prst="roundRect">
            <a:avLst/>
          </a:prstGeom>
          <a:solidFill>
            <a:srgbClr val="17807E"/>
          </a:solidFill>
          <a:ln w="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4"/>
          <p:cNvSpPr txBox="1"/>
          <p:nvPr/>
        </p:nvSpPr>
        <p:spPr>
          <a:xfrm>
            <a:off x="6419088" y="1060704"/>
            <a:ext cx="494690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Instance Method</a:t>
            </a:r>
            <a:endParaRPr lang="en-US" sz="1700">
              <a:latin typeface="Calibri"/>
            </a:endParaRPr>
          </a:p>
        </p:txBody>
      </p:sp>
      <p:sp>
        <p:nvSpPr>
          <p:cNvPr id="15" name="Shape 15"/>
          <p:cNvSpPr txBox="1"/>
          <p:nvPr/>
        </p:nvSpPr>
        <p:spPr>
          <a:xfrm>
            <a:off x="6437376" y="1508760"/>
            <a:ext cx="4910328" cy="338328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Belongs to an object.</a:t>
            </a:r>
            <a:endParaRPr lang="en-US" sz="2000">
              <a:latin typeface="Calibri"/>
            </a:endParaRPr>
          </a:p>
          <a:p>
            <a:pPr algn="l">
              <a:buNone/>
            </a:pPr>
            <a:endParaRPr lang="en-US" sz="2000">
              <a:latin typeface="Calibri"/>
            </a:endParaRPr>
          </a:p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Can use that object's fields.</a:t>
            </a:r>
            <a:endParaRPr lang="en-US" sz="2000">
              <a:latin typeface="Calibri"/>
            </a:endParaRPr>
          </a:p>
          <a:p>
            <a:pPr algn="l">
              <a:buNone/>
            </a:pPr>
            <a:endParaRPr lang="en-US" sz="2000">
              <a:latin typeface="Calibri"/>
            </a:endParaRPr>
          </a:p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Example: student.displayInfo()</a:t>
            </a:r>
            <a:endParaRPr lang="en-US" sz="20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777240" y="5257800"/>
            <a:ext cx="10652760" cy="621792"/>
          </a:xfrm>
          <a:prstGeom prst="roundRect">
            <a:avLst/>
          </a:prstGeom>
          <a:solidFill>
            <a:srgbClr val="FFF6E5"/>
          </a:solidFill>
          <a:ln w="12700">
            <a:solidFill>
              <a:srgbClr val="D99614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800" b="1">
                <a:solidFill>
                  <a:srgbClr val="203040"/>
                </a:solidFill>
                <a:latin typeface="Calibri"/>
              </a:rPr>
              <a:t>Static = class-level • Instance = object-level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Complete Student Example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OOP–Java • Methods, Objects &amp; Classes • Soban Hussain  |  Part 3 • Live Coding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28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502920" y="777240"/>
            <a:ext cx="6629400" cy="5440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CD6DF"/>
            </a:solidFill>
          </a:ln>
        </p:spPr>
        <p:txBody>
          <a:bodyPr wrap="square" lIns="137160" tIns="137160" rIns="137160" bIns="137160" anchor="t"/>
          <a:lstStyle/>
          <a:p>
            <a:pPr algn="l">
              <a:buNone/>
            </a:pPr>
            <a:r>
              <a:rPr lang="en-US" sz="1500" b="0">
                <a:solidFill>
                  <a:srgbClr val="203040"/>
                </a:solidFill>
                <a:latin typeface="Consolas"/>
              </a:rPr>
              <a:t>class Student {</a:t>
            </a:r>
            <a:endParaRPr lang="en-US" sz="1500">
              <a:latin typeface="Consolas"/>
            </a:endParaRPr>
          </a:p>
          <a:p>
            <a:pPr algn="l">
              <a:buNone/>
            </a:pPr>
            <a:r>
              <a:rPr lang="en-US" sz="1500" b="0">
                <a:solidFill>
                  <a:srgbClr val="203040"/>
                </a:solidFill>
                <a:latin typeface="Consolas"/>
              </a:rPr>
              <a:t>    private String name;</a:t>
            </a:r>
            <a:endParaRPr lang="en-US" sz="1500">
              <a:latin typeface="Consolas"/>
            </a:endParaRPr>
          </a:p>
          <a:p>
            <a:pPr algn="l">
              <a:buNone/>
            </a:pPr>
            <a:r>
              <a:rPr lang="en-US" sz="1500" b="0">
                <a:solidFill>
                  <a:srgbClr val="203040"/>
                </a:solidFill>
                <a:latin typeface="Consolas"/>
              </a:rPr>
              <a:t>    private int[] marks;</a:t>
            </a:r>
            <a:endParaRPr lang="en-US" sz="1500">
              <a:latin typeface="Consolas"/>
            </a:endParaRPr>
          </a:p>
          <a:p>
            <a:pPr algn="l">
              <a:buNone/>
            </a:pPr>
            <a:endParaRPr lang="en-US" sz="1500">
              <a:latin typeface="Consolas"/>
            </a:endParaRPr>
          </a:p>
          <a:p>
            <a:pPr algn="l">
              <a:buNone/>
            </a:pPr>
            <a:r>
              <a:rPr lang="en-US" sz="1500" b="0">
                <a:solidFill>
                  <a:srgbClr val="203040"/>
                </a:solidFill>
                <a:latin typeface="Consolas"/>
              </a:rPr>
              <a:t>    Student(String name, int[] marks) {</a:t>
            </a:r>
            <a:endParaRPr lang="en-US" sz="1500">
              <a:latin typeface="Consolas"/>
            </a:endParaRPr>
          </a:p>
          <a:p>
            <a:pPr algn="l">
              <a:buNone/>
            </a:pPr>
            <a:r>
              <a:rPr lang="en-US" sz="1500" b="0">
                <a:solidFill>
                  <a:srgbClr val="203040"/>
                </a:solidFill>
                <a:latin typeface="Consolas"/>
              </a:rPr>
              <a:t>        this.name = name;</a:t>
            </a:r>
            <a:endParaRPr lang="en-US" sz="1500">
              <a:latin typeface="Consolas"/>
            </a:endParaRPr>
          </a:p>
          <a:p>
            <a:pPr algn="l">
              <a:buNone/>
            </a:pPr>
            <a:r>
              <a:rPr lang="en-US" sz="1500" b="0">
                <a:solidFill>
                  <a:srgbClr val="203040"/>
                </a:solidFill>
                <a:latin typeface="Consolas"/>
              </a:rPr>
              <a:t>        this.marks = marks;</a:t>
            </a:r>
            <a:endParaRPr lang="en-US" sz="1500">
              <a:latin typeface="Consolas"/>
            </a:endParaRPr>
          </a:p>
          <a:p>
            <a:pPr algn="l">
              <a:buNone/>
            </a:pPr>
            <a:r>
              <a:rPr lang="en-US" sz="1500" b="0">
                <a:solidFill>
                  <a:srgbClr val="203040"/>
                </a:solidFill>
                <a:latin typeface="Consolas"/>
              </a:rPr>
              <a:t>    }</a:t>
            </a:r>
            <a:endParaRPr lang="en-US" sz="1500">
              <a:latin typeface="Consolas"/>
            </a:endParaRPr>
          </a:p>
          <a:p>
            <a:pPr algn="l">
              <a:buNone/>
            </a:pPr>
            <a:endParaRPr lang="en-US" sz="1500">
              <a:latin typeface="Consolas"/>
            </a:endParaRPr>
          </a:p>
          <a:p>
            <a:pPr algn="l">
              <a:buNone/>
            </a:pPr>
            <a:r>
              <a:rPr lang="en-US" sz="1500" b="0">
                <a:solidFill>
                  <a:srgbClr val="203040"/>
                </a:solidFill>
                <a:latin typeface="Consolas"/>
              </a:rPr>
              <a:t>    double calculateAverage() {</a:t>
            </a:r>
            <a:endParaRPr lang="en-US" sz="1500">
              <a:latin typeface="Consolas"/>
            </a:endParaRPr>
          </a:p>
          <a:p>
            <a:pPr algn="l">
              <a:buNone/>
            </a:pPr>
            <a:r>
              <a:rPr lang="en-US" sz="1500" b="0">
                <a:solidFill>
                  <a:srgbClr val="203040"/>
                </a:solidFill>
                <a:latin typeface="Consolas"/>
              </a:rPr>
              <a:t>        int total = 0;</a:t>
            </a:r>
            <a:endParaRPr lang="en-US" sz="1500">
              <a:latin typeface="Consolas"/>
            </a:endParaRPr>
          </a:p>
          <a:p>
            <a:pPr algn="l">
              <a:buNone/>
            </a:pPr>
            <a:r>
              <a:rPr lang="en-US" sz="1500" b="0">
                <a:solidFill>
                  <a:srgbClr val="203040"/>
                </a:solidFill>
                <a:latin typeface="Consolas"/>
              </a:rPr>
              <a:t>        for (int mark : marks) total += mark;</a:t>
            </a:r>
            <a:endParaRPr lang="en-US" sz="1500">
              <a:latin typeface="Consolas"/>
            </a:endParaRPr>
          </a:p>
          <a:p>
            <a:pPr algn="l">
              <a:buNone/>
            </a:pPr>
            <a:r>
              <a:rPr lang="en-US" sz="1500" b="0">
                <a:solidFill>
                  <a:srgbClr val="203040"/>
                </a:solidFill>
                <a:latin typeface="Consolas"/>
              </a:rPr>
              <a:t>        return (double) total / marks.length;</a:t>
            </a:r>
            <a:endParaRPr lang="en-US" sz="1500">
              <a:latin typeface="Consolas"/>
            </a:endParaRPr>
          </a:p>
          <a:p>
            <a:pPr algn="l">
              <a:buNone/>
            </a:pPr>
            <a:r>
              <a:rPr lang="en-US" sz="1500" b="0">
                <a:solidFill>
                  <a:srgbClr val="203040"/>
                </a:solidFill>
                <a:latin typeface="Consolas"/>
              </a:rPr>
              <a:t>    }</a:t>
            </a:r>
            <a:endParaRPr lang="en-US" sz="1500">
              <a:latin typeface="Consolas"/>
            </a:endParaRPr>
          </a:p>
          <a:p>
            <a:pPr algn="l">
              <a:buNone/>
            </a:pPr>
            <a:r>
              <a:rPr lang="en-US" sz="1500" b="0">
                <a:solidFill>
                  <a:srgbClr val="203040"/>
                </a:solidFill>
                <a:latin typeface="Consolas"/>
              </a:rPr>
              <a:t>}</a:t>
            </a:r>
            <a:endParaRPr lang="en-US" sz="1500">
              <a:latin typeface="Consolas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7360920" y="868680"/>
            <a:ext cx="3886200" cy="150876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10"/>
          <p:cNvSpPr txBox="1"/>
          <p:nvPr/>
        </p:nvSpPr>
        <p:spPr>
          <a:xfrm>
            <a:off x="7360920" y="868680"/>
            <a:ext cx="3886200" cy="393192"/>
          </a:xfrm>
          <a:prstGeom prst="roundRect">
            <a:avLst/>
          </a:prstGeom>
          <a:solidFill>
            <a:srgbClr val="246A9B"/>
          </a:solidFill>
          <a:ln w="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11"/>
          <p:cNvSpPr txBox="1"/>
          <p:nvPr/>
        </p:nvSpPr>
        <p:spPr>
          <a:xfrm>
            <a:off x="7470648" y="923544"/>
            <a:ext cx="366674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State</a:t>
            </a:r>
            <a:endParaRPr lang="en-US" sz="1700">
              <a:latin typeface="Calibri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7488936" y="1371600"/>
            <a:ext cx="3630168" cy="91440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name and marks</a:t>
            </a:r>
            <a:endParaRPr lang="en-US" sz="2000">
              <a:latin typeface="Calibri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7360920" y="2697480"/>
            <a:ext cx="3886200" cy="150876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4"/>
          <p:cNvSpPr txBox="1"/>
          <p:nvPr/>
        </p:nvSpPr>
        <p:spPr>
          <a:xfrm>
            <a:off x="7360920" y="2697480"/>
            <a:ext cx="3886200" cy="393192"/>
          </a:xfrm>
          <a:prstGeom prst="roundRect">
            <a:avLst/>
          </a:prstGeom>
          <a:solidFill>
            <a:srgbClr val="D99614"/>
          </a:solidFill>
          <a:ln w="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5"/>
          <p:cNvSpPr txBox="1"/>
          <p:nvPr/>
        </p:nvSpPr>
        <p:spPr>
          <a:xfrm>
            <a:off x="7470648" y="2752344"/>
            <a:ext cx="366674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Initialization</a:t>
            </a:r>
            <a:endParaRPr lang="en-US" sz="17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7488936" y="3200400"/>
            <a:ext cx="3630168" cy="91440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constructor</a:t>
            </a:r>
            <a:endParaRPr lang="en-US" sz="2000">
              <a:latin typeface="Calibri"/>
            </a:endParaRPr>
          </a:p>
        </p:txBody>
      </p:sp>
      <p:sp>
        <p:nvSpPr>
          <p:cNvPr id="17" name="Shape 17"/>
          <p:cNvSpPr txBox="1"/>
          <p:nvPr/>
        </p:nvSpPr>
        <p:spPr>
          <a:xfrm>
            <a:off x="7360920" y="4526280"/>
            <a:ext cx="3886200" cy="123444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8"/>
          <p:cNvSpPr txBox="1"/>
          <p:nvPr/>
        </p:nvSpPr>
        <p:spPr>
          <a:xfrm>
            <a:off x="7360920" y="4526280"/>
            <a:ext cx="3886200" cy="393192"/>
          </a:xfrm>
          <a:prstGeom prst="roundRect">
            <a:avLst/>
          </a:prstGeom>
          <a:solidFill>
            <a:srgbClr val="17807E"/>
          </a:solidFill>
          <a:ln w="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9" name="Shape 19"/>
          <p:cNvSpPr txBox="1"/>
          <p:nvPr/>
        </p:nvSpPr>
        <p:spPr>
          <a:xfrm>
            <a:off x="7470648" y="4581144"/>
            <a:ext cx="366674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Behavior</a:t>
            </a:r>
            <a:endParaRPr lang="en-US" sz="1700">
              <a:latin typeface="Calibri"/>
            </a:endParaRPr>
          </a:p>
        </p:txBody>
      </p:sp>
      <p:sp>
        <p:nvSpPr>
          <p:cNvPr id="20" name="Shape 20"/>
          <p:cNvSpPr txBox="1"/>
          <p:nvPr/>
        </p:nvSpPr>
        <p:spPr>
          <a:xfrm>
            <a:off x="7488936" y="5029200"/>
            <a:ext cx="3630168" cy="64008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alibri"/>
              </a:rPr>
              <a:t>calculateAverage()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Creating Multiple Students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OOP–Java • Methods, Objects &amp; Classes • Soban Hussain  |  Part 3 • Live Coding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29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594360" y="868680"/>
            <a:ext cx="6492240" cy="4983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CD6DF"/>
            </a:solidFill>
          </a:ln>
        </p:spPr>
        <p:txBody>
          <a:bodyPr wrap="square" lIns="137160" tIns="137160" rIns="137160" bIns="137160" anchor="t"/>
          <a:lstStyle/>
          <a:p>
            <a:pPr algn="l">
              <a:buNone/>
            </a:pPr>
            <a:r>
              <a:rPr lang="en-US" sz="1500" b="0">
                <a:solidFill>
                  <a:srgbClr val="203040"/>
                </a:solidFill>
                <a:latin typeface="Consolas"/>
              </a:rPr>
              <a:t>public class Main {</a:t>
            </a:r>
            <a:endParaRPr lang="en-US" sz="1500">
              <a:latin typeface="Consolas"/>
            </a:endParaRPr>
          </a:p>
          <a:p>
            <a:pPr algn="l">
              <a:buNone/>
            </a:pPr>
            <a:r>
              <a:rPr lang="en-US" sz="1500" b="0">
                <a:solidFill>
                  <a:srgbClr val="203040"/>
                </a:solidFill>
                <a:latin typeface="Consolas"/>
              </a:rPr>
              <a:t>    public static void main(String[] args) {</a:t>
            </a:r>
            <a:endParaRPr lang="en-US" sz="1500">
              <a:latin typeface="Consolas"/>
            </a:endParaRPr>
          </a:p>
          <a:p>
            <a:pPr algn="l">
              <a:buNone/>
            </a:pPr>
            <a:r>
              <a:rPr lang="en-US" sz="1500" b="0">
                <a:solidFill>
                  <a:srgbClr val="203040"/>
                </a:solidFill>
                <a:latin typeface="Consolas"/>
              </a:rPr>
              <a:t>        Student first = new Student(</a:t>
            </a:r>
            <a:endParaRPr lang="en-US" sz="1500">
              <a:latin typeface="Consolas"/>
            </a:endParaRPr>
          </a:p>
          <a:p>
            <a:pPr algn="l">
              <a:buNone/>
            </a:pPr>
            <a:r>
              <a:rPr lang="en-US" sz="1500" b="0">
                <a:solidFill>
                  <a:srgbClr val="203040"/>
                </a:solidFill>
                <a:latin typeface="Consolas"/>
              </a:rPr>
              <a:t>            "Ali", new int[]{80, 75, 90});</a:t>
            </a:r>
            <a:endParaRPr lang="en-US" sz="1500">
              <a:latin typeface="Consolas"/>
            </a:endParaRPr>
          </a:p>
          <a:p>
            <a:pPr algn="l">
              <a:buNone/>
            </a:pPr>
            <a:endParaRPr lang="en-US" sz="1500">
              <a:latin typeface="Consolas"/>
            </a:endParaRPr>
          </a:p>
          <a:p>
            <a:pPr algn="l">
              <a:buNone/>
            </a:pPr>
            <a:r>
              <a:rPr lang="en-US" sz="1500" b="0">
                <a:solidFill>
                  <a:srgbClr val="203040"/>
                </a:solidFill>
                <a:latin typeface="Consolas"/>
              </a:rPr>
              <a:t>        Student second = new Student(</a:t>
            </a:r>
            <a:endParaRPr lang="en-US" sz="1500">
              <a:latin typeface="Consolas"/>
            </a:endParaRPr>
          </a:p>
          <a:p>
            <a:pPr algn="l">
              <a:buNone/>
            </a:pPr>
            <a:r>
              <a:rPr lang="en-US" sz="1500" b="0">
                <a:solidFill>
                  <a:srgbClr val="203040"/>
                </a:solidFill>
                <a:latin typeface="Consolas"/>
              </a:rPr>
              <a:t>            "Sara", new int[]{88, 91, 84});</a:t>
            </a:r>
            <a:endParaRPr lang="en-US" sz="1500">
              <a:latin typeface="Consolas"/>
            </a:endParaRPr>
          </a:p>
          <a:p>
            <a:pPr algn="l">
              <a:buNone/>
            </a:pPr>
            <a:endParaRPr lang="en-US" sz="1500">
              <a:latin typeface="Consolas"/>
            </a:endParaRPr>
          </a:p>
          <a:p>
            <a:pPr algn="l">
              <a:buNone/>
            </a:pPr>
            <a:r>
              <a:rPr lang="en-US" sz="1500" b="0">
                <a:solidFill>
                  <a:srgbClr val="203040"/>
                </a:solidFill>
                <a:latin typeface="Consolas"/>
              </a:rPr>
              <a:t>        System.out.println(first.calculateAverage());</a:t>
            </a:r>
            <a:endParaRPr lang="en-US" sz="1500">
              <a:latin typeface="Consolas"/>
            </a:endParaRPr>
          </a:p>
          <a:p>
            <a:pPr algn="l">
              <a:buNone/>
            </a:pPr>
            <a:r>
              <a:rPr lang="en-US" sz="1500" b="0">
                <a:solidFill>
                  <a:srgbClr val="203040"/>
                </a:solidFill>
                <a:latin typeface="Consolas"/>
              </a:rPr>
              <a:t>        System.out.println(second.calculateAverage());</a:t>
            </a:r>
            <a:endParaRPr lang="en-US" sz="1500">
              <a:latin typeface="Consolas"/>
            </a:endParaRPr>
          </a:p>
          <a:p>
            <a:pPr algn="l">
              <a:buNone/>
            </a:pPr>
            <a:r>
              <a:rPr lang="en-US" sz="1500" b="0">
                <a:solidFill>
                  <a:srgbClr val="203040"/>
                </a:solidFill>
                <a:latin typeface="Consolas"/>
              </a:rPr>
              <a:t>    }</a:t>
            </a:r>
            <a:endParaRPr lang="en-US" sz="1500">
              <a:latin typeface="Consolas"/>
            </a:endParaRPr>
          </a:p>
          <a:p>
            <a:pPr algn="l">
              <a:buNone/>
            </a:pPr>
            <a:r>
              <a:rPr lang="en-US" sz="1500" b="0">
                <a:solidFill>
                  <a:srgbClr val="203040"/>
                </a:solidFill>
                <a:latin typeface="Consolas"/>
              </a:rPr>
              <a:t>}</a:t>
            </a:r>
            <a:endParaRPr lang="en-US" sz="1500">
              <a:latin typeface="Consolas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7452360" y="1097280"/>
            <a:ext cx="3611880" cy="1097280"/>
          </a:xfrm>
          <a:prstGeom prst="roundRect">
            <a:avLst/>
          </a:prstGeom>
          <a:solidFill>
            <a:srgbClr val="246A9B"/>
          </a:solidFill>
          <a:ln w="12700">
            <a:noFill/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</a:rPr>
              <a:t>Ali</a:t>
            </a:r>
            <a:endParaRPr lang="en-US" sz="2200">
              <a:latin typeface="Calibri"/>
            </a:endParaRPr>
          </a:p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</a:rPr>
              <a:t>81.67</a:t>
            </a:r>
            <a:endParaRPr lang="en-US" sz="2200">
              <a:latin typeface="Calibri"/>
            </a:endParaRPr>
          </a:p>
        </p:txBody>
      </p:sp>
      <p:sp>
        <p:nvSpPr>
          <p:cNvPr id="10" name="Shape 10"/>
          <p:cNvSpPr txBox="1"/>
          <p:nvPr/>
        </p:nvSpPr>
        <p:spPr>
          <a:xfrm>
            <a:off x="7452360" y="2743200"/>
            <a:ext cx="3611880" cy="1097280"/>
          </a:xfrm>
          <a:prstGeom prst="roundRect">
            <a:avLst/>
          </a:prstGeom>
          <a:solidFill>
            <a:srgbClr val="17807E"/>
          </a:solidFill>
          <a:ln w="12700">
            <a:noFill/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</a:rPr>
              <a:t>Sara</a:t>
            </a:r>
            <a:endParaRPr lang="en-US" sz="2200">
              <a:latin typeface="Calibri"/>
            </a:endParaRPr>
          </a:p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</a:rPr>
              <a:t>87.67</a:t>
            </a:r>
            <a:endParaRPr lang="en-US" sz="2200">
              <a:latin typeface="Calibri"/>
            </a:endParaRPr>
          </a:p>
        </p:txBody>
      </p:sp>
      <p:sp>
        <p:nvSpPr>
          <p:cNvPr id="11" name="Shape 11"/>
          <p:cNvSpPr txBox="1"/>
          <p:nvPr/>
        </p:nvSpPr>
        <p:spPr>
          <a:xfrm>
            <a:off x="777240" y="4709160"/>
            <a:ext cx="10652760" cy="621792"/>
          </a:xfrm>
          <a:prstGeom prst="roundRect">
            <a:avLst/>
          </a:prstGeom>
          <a:solidFill>
            <a:srgbClr val="FFF6E5"/>
          </a:solidFill>
          <a:ln w="12700">
            <a:solidFill>
              <a:srgbClr val="D99614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800" b="1">
                <a:solidFill>
                  <a:srgbClr val="203040"/>
                </a:solidFill>
                <a:latin typeface="Calibri"/>
              </a:rPr>
              <a:t>Same class, separate objects, separate state.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/>
              </a:rPr>
              <a:t>Coding Sequence</a:t>
            </a:r>
            <a:endParaRPr lang="en-US" sz="2500" dirty="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OOP–Java • Methods, Objects &amp; Classes • Soban Hussain  |  Part 3 • Live Coding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30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411480" y="1508760"/>
            <a:ext cx="1353312" cy="1097280"/>
          </a:xfrm>
          <a:prstGeom prst="roundRect">
            <a:avLst/>
          </a:prstGeom>
          <a:solidFill>
            <a:srgbClr val="246A9B"/>
          </a:solidFill>
          <a:ln w="12700">
            <a:solidFill>
              <a:srgbClr val="246A9B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</a:rPr>
              <a:t>Empty</a:t>
            </a:r>
            <a:endParaRPr lang="en-US" sz="1300">
              <a:latin typeface="Calibri"/>
            </a:endParaRPr>
          </a:p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</a:rPr>
              <a:t>class</a:t>
            </a:r>
            <a:endParaRPr lang="en-US" sz="1300">
              <a:latin typeface="Calibri"/>
            </a:endParaRPr>
          </a:p>
        </p:txBody>
      </p:sp>
      <p:cxnSp>
        <p:nvCxnSpPr>
          <p:cNvPr id="9" name="Connector 9"/>
          <p:cNvCxnSpPr/>
          <p:nvPr/>
        </p:nvCxnSpPr>
        <p:spPr>
          <a:xfrm>
            <a:off x="1801368" y="205740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0" name="Shape 10"/>
          <p:cNvSpPr txBox="1"/>
          <p:nvPr/>
        </p:nvSpPr>
        <p:spPr>
          <a:xfrm>
            <a:off x="2075688" y="1508760"/>
            <a:ext cx="1353312" cy="1097280"/>
          </a:xfrm>
          <a:prstGeom prst="roundRect">
            <a:avLst/>
          </a:prstGeom>
          <a:solidFill>
            <a:srgbClr val="17807E"/>
          </a:solidFill>
          <a:ln w="12700">
            <a:solidFill>
              <a:srgbClr val="17807E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</a:rPr>
              <a:t>Add</a:t>
            </a:r>
            <a:endParaRPr lang="en-US" sz="1300">
              <a:latin typeface="Calibri"/>
            </a:endParaRPr>
          </a:p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</a:rPr>
              <a:t>fields</a:t>
            </a:r>
            <a:endParaRPr lang="en-US" sz="1300">
              <a:latin typeface="Calibri"/>
            </a:endParaRPr>
          </a:p>
        </p:txBody>
      </p:sp>
      <p:cxnSp>
        <p:nvCxnSpPr>
          <p:cNvPr id="11" name="Connector 11"/>
          <p:cNvCxnSpPr/>
          <p:nvPr/>
        </p:nvCxnSpPr>
        <p:spPr>
          <a:xfrm>
            <a:off x="3465576" y="205740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2" name="Shape 12"/>
          <p:cNvSpPr txBox="1"/>
          <p:nvPr/>
        </p:nvSpPr>
        <p:spPr>
          <a:xfrm>
            <a:off x="3739896" y="1508760"/>
            <a:ext cx="1353312" cy="1097280"/>
          </a:xfrm>
          <a:prstGeom prst="roundRect">
            <a:avLst/>
          </a:prstGeom>
          <a:solidFill>
            <a:srgbClr val="D99614"/>
          </a:solidFill>
          <a:ln w="12700">
            <a:solidFill>
              <a:srgbClr val="D99614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</a:rPr>
              <a:t>Create</a:t>
            </a:r>
            <a:endParaRPr lang="en-US" sz="1300">
              <a:latin typeface="Calibri"/>
            </a:endParaRPr>
          </a:p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</a:rPr>
              <a:t>object</a:t>
            </a:r>
            <a:endParaRPr lang="en-US" sz="1300">
              <a:latin typeface="Calibri"/>
            </a:endParaRPr>
          </a:p>
        </p:txBody>
      </p:sp>
      <p:cxnSp>
        <p:nvCxnSpPr>
          <p:cNvPr id="13" name="Connector 13"/>
          <p:cNvCxnSpPr/>
          <p:nvPr/>
        </p:nvCxnSpPr>
        <p:spPr>
          <a:xfrm>
            <a:off x="5129784" y="205740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4" name="Shape 14"/>
          <p:cNvSpPr txBox="1"/>
          <p:nvPr/>
        </p:nvSpPr>
        <p:spPr>
          <a:xfrm>
            <a:off x="5404104" y="1508760"/>
            <a:ext cx="1353312" cy="1097280"/>
          </a:xfrm>
          <a:prstGeom prst="roundRect">
            <a:avLst/>
          </a:prstGeom>
          <a:solidFill>
            <a:srgbClr val="3C8C5A"/>
          </a:solidFill>
          <a:ln w="12700">
            <a:solidFill>
              <a:srgbClr val="3C8C5A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</a:rPr>
              <a:t>Add</a:t>
            </a:r>
            <a:endParaRPr lang="en-US" sz="1300">
              <a:latin typeface="Calibri"/>
            </a:endParaRPr>
          </a:p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</a:rPr>
              <a:t>method</a:t>
            </a:r>
            <a:endParaRPr lang="en-US" sz="1300">
              <a:latin typeface="Calibri"/>
            </a:endParaRPr>
          </a:p>
        </p:txBody>
      </p:sp>
      <p:cxnSp>
        <p:nvCxnSpPr>
          <p:cNvPr id="15" name="Connector 15"/>
          <p:cNvCxnSpPr/>
          <p:nvPr/>
        </p:nvCxnSpPr>
        <p:spPr>
          <a:xfrm>
            <a:off x="6793992" y="205740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6" name="Shape 16"/>
          <p:cNvSpPr txBox="1"/>
          <p:nvPr/>
        </p:nvSpPr>
        <p:spPr>
          <a:xfrm>
            <a:off x="7068312" y="1508760"/>
            <a:ext cx="1353312" cy="1097280"/>
          </a:xfrm>
          <a:prstGeom prst="roundRect">
            <a:avLst/>
          </a:prstGeom>
          <a:solidFill>
            <a:srgbClr val="246A9B"/>
          </a:solidFill>
          <a:ln w="12700">
            <a:solidFill>
              <a:srgbClr val="246A9B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</a:rPr>
              <a:t>Add</a:t>
            </a:r>
            <a:endParaRPr lang="en-US" sz="1300">
              <a:latin typeface="Calibri"/>
            </a:endParaRPr>
          </a:p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</a:rPr>
              <a:t>constructor</a:t>
            </a:r>
            <a:endParaRPr lang="en-US" sz="1300">
              <a:latin typeface="Calibri"/>
            </a:endParaRPr>
          </a:p>
        </p:txBody>
      </p:sp>
      <p:cxnSp>
        <p:nvCxnSpPr>
          <p:cNvPr id="17" name="Connector 17"/>
          <p:cNvCxnSpPr/>
          <p:nvPr/>
        </p:nvCxnSpPr>
        <p:spPr>
          <a:xfrm>
            <a:off x="8458200" y="205740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8" name="Shape 18"/>
          <p:cNvSpPr txBox="1"/>
          <p:nvPr/>
        </p:nvSpPr>
        <p:spPr>
          <a:xfrm>
            <a:off x="8732520" y="1508760"/>
            <a:ext cx="1353312" cy="1097280"/>
          </a:xfrm>
          <a:prstGeom prst="roundRect">
            <a:avLst/>
          </a:prstGeom>
          <a:solidFill>
            <a:srgbClr val="17807E"/>
          </a:solidFill>
          <a:ln w="12700">
            <a:solidFill>
              <a:srgbClr val="17807E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</a:rPr>
              <a:t>Make fields</a:t>
            </a:r>
            <a:endParaRPr lang="en-US" sz="1300">
              <a:latin typeface="Calibri"/>
            </a:endParaRPr>
          </a:p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</a:rPr>
              <a:t>private</a:t>
            </a:r>
            <a:endParaRPr lang="en-US" sz="1300">
              <a:latin typeface="Calibri"/>
            </a:endParaRPr>
          </a:p>
        </p:txBody>
      </p:sp>
      <p:cxnSp>
        <p:nvCxnSpPr>
          <p:cNvPr id="19" name="Connector 19"/>
          <p:cNvCxnSpPr/>
          <p:nvPr/>
        </p:nvCxnSpPr>
        <p:spPr>
          <a:xfrm>
            <a:off x="10122408" y="205740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20" name="Shape 20"/>
          <p:cNvSpPr txBox="1"/>
          <p:nvPr/>
        </p:nvSpPr>
        <p:spPr>
          <a:xfrm>
            <a:off x="10396728" y="1508760"/>
            <a:ext cx="1353312" cy="1097280"/>
          </a:xfrm>
          <a:prstGeom prst="roundRect">
            <a:avLst/>
          </a:prstGeom>
          <a:solidFill>
            <a:srgbClr val="D99614"/>
          </a:solidFill>
          <a:ln w="12700">
            <a:solidFill>
              <a:srgbClr val="D99614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</a:rPr>
              <a:t>Add marks</a:t>
            </a:r>
            <a:endParaRPr lang="en-US" sz="1300">
              <a:latin typeface="Calibri"/>
            </a:endParaRPr>
          </a:p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</a:rPr>
              <a:t>and result</a:t>
            </a:r>
            <a:endParaRPr lang="en-US" sz="1300">
              <a:latin typeface="Calibri"/>
            </a:endParaRPr>
          </a:p>
        </p:txBody>
      </p:sp>
      <p:sp>
        <p:nvSpPr>
          <p:cNvPr id="21" name="Shape 21"/>
          <p:cNvSpPr txBox="1"/>
          <p:nvPr/>
        </p:nvSpPr>
        <p:spPr>
          <a:xfrm>
            <a:off x="914400" y="3200400"/>
            <a:ext cx="10332720" cy="2331720"/>
          </a:xfrm>
          <a:prstGeom prst="roundRect">
            <a:avLst/>
          </a:prstGeom>
          <a:solidFill>
            <a:srgbClr val="F2F6F9"/>
          </a:solidFill>
          <a:ln w="12700">
            <a:solidFill>
              <a:srgbClr val="CCD6DF"/>
            </a:solidFill>
          </a:ln>
        </p:spPr>
        <p:txBody>
          <a:bodyPr wrap="square" lIns="146304" tIns="118872" rIns="91440" bIns="91440" anchor="t"/>
          <a:lstStyle/>
          <a:p>
            <a:pPr algn="l">
              <a:buNone/>
            </a:pPr>
            <a:r>
              <a:rPr lang="en-US" sz="2200" b="1" dirty="0">
                <a:solidFill>
                  <a:srgbClr val="163D63"/>
                </a:solidFill>
              </a:rPr>
              <a:t>Strategy</a:t>
            </a:r>
          </a:p>
          <a:p>
            <a:pPr marL="256032" indent="-146304" algn="l">
              <a:buChar char="•"/>
            </a:pPr>
            <a:r>
              <a:rPr lang="en-US" sz="2000" dirty="0">
                <a:solidFill>
                  <a:srgbClr val="203040"/>
                </a:solidFill>
                <a:latin typeface="Calibri"/>
              </a:rPr>
              <a:t>Run the program after every small change</a:t>
            </a:r>
            <a:endParaRPr lang="en-US" sz="2000" dirty="0"/>
          </a:p>
          <a:p>
            <a:pPr marL="256032" indent="-146304" algn="l">
              <a:buChar char="•"/>
            </a:pPr>
            <a:r>
              <a:rPr lang="en-US" sz="2000" dirty="0">
                <a:solidFill>
                  <a:srgbClr val="203040"/>
                </a:solidFill>
                <a:latin typeface="Calibri"/>
              </a:rPr>
              <a:t>Ask students to predict the output before running</a:t>
            </a:r>
            <a:endParaRPr lang="en-US" sz="2000" dirty="0"/>
          </a:p>
          <a:p>
            <a:pPr marL="256032" indent="-146304" algn="l">
              <a:buChar char="•"/>
            </a:pPr>
            <a:r>
              <a:rPr lang="en-US" sz="2000" dirty="0">
                <a:solidFill>
                  <a:srgbClr val="203040"/>
                </a:solidFill>
                <a:latin typeface="Calibri"/>
              </a:rPr>
              <a:t>Create a second object to prove that state is separate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Common Student Mistakes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OOP–Java • Methods, Objects &amp; Classes • Soban Hussain  |  Part 4 • Review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31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502920" y="868680"/>
            <a:ext cx="2971800" cy="530352"/>
          </a:xfrm>
          <a:prstGeom prst="rect">
            <a:avLst/>
          </a:prstGeom>
          <a:solidFill>
            <a:srgbClr val="163D63"/>
          </a:solidFill>
          <a:ln w="12700">
            <a:solidFill>
              <a:srgbClr val="FFFFFF"/>
            </a:solidFill>
          </a:ln>
        </p:spPr>
        <p:txBody>
          <a:bodyPr wrap="square" lIns="54864" tIns="54864" rIns="54864" bIns="54864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</a:rPr>
              <a:t>Mistake</a:t>
            </a:r>
            <a:endParaRPr lang="en-US" sz="1400">
              <a:latin typeface="Calibri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3474720" y="868680"/>
            <a:ext cx="3794760" cy="530352"/>
          </a:xfrm>
          <a:prstGeom prst="rect">
            <a:avLst/>
          </a:prstGeom>
          <a:solidFill>
            <a:srgbClr val="163D63"/>
          </a:solidFill>
          <a:ln w="12700">
            <a:solidFill>
              <a:srgbClr val="FFFFFF"/>
            </a:solidFill>
          </a:ln>
        </p:spPr>
        <p:txBody>
          <a:bodyPr wrap="square" lIns="54864" tIns="54864" rIns="54864" bIns="54864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</a:rPr>
              <a:t>Why it fails</a:t>
            </a:r>
            <a:endParaRPr lang="en-US" sz="1400">
              <a:latin typeface="Calibri"/>
            </a:endParaRPr>
          </a:p>
        </p:txBody>
      </p:sp>
      <p:sp>
        <p:nvSpPr>
          <p:cNvPr id="10" name="Shape 10"/>
          <p:cNvSpPr txBox="1"/>
          <p:nvPr/>
        </p:nvSpPr>
        <p:spPr>
          <a:xfrm>
            <a:off x="7269480" y="868680"/>
            <a:ext cx="4343400" cy="530352"/>
          </a:xfrm>
          <a:prstGeom prst="rect">
            <a:avLst/>
          </a:prstGeom>
          <a:solidFill>
            <a:srgbClr val="163D63"/>
          </a:solidFill>
          <a:ln w="12700">
            <a:solidFill>
              <a:srgbClr val="FFFFFF"/>
            </a:solidFill>
          </a:ln>
        </p:spPr>
        <p:txBody>
          <a:bodyPr wrap="square" lIns="54864" tIns="54864" rIns="54864" bIns="54864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</a:rPr>
              <a:t>Correction</a:t>
            </a:r>
            <a:endParaRPr lang="en-US" sz="1400">
              <a:latin typeface="Calibri"/>
            </a:endParaRPr>
          </a:p>
        </p:txBody>
      </p:sp>
      <p:sp>
        <p:nvSpPr>
          <p:cNvPr id="11" name="Shape 11"/>
          <p:cNvSpPr txBox="1"/>
          <p:nvPr/>
        </p:nvSpPr>
        <p:spPr>
          <a:xfrm>
            <a:off x="502920" y="1399032"/>
            <a:ext cx="2971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DF"/>
            </a:solidFill>
          </a:ln>
        </p:spPr>
        <p:txBody>
          <a:bodyPr wrap="square" lIns="73152" tIns="73152" rIns="73152" bIns="73152" anchor="ctr"/>
          <a:lstStyle/>
          <a:p>
            <a:pPr algn="l">
              <a:buNone/>
            </a:pPr>
            <a:r>
              <a:rPr lang="en-US" sz="1400" b="0">
                <a:solidFill>
                  <a:srgbClr val="203040"/>
                </a:solidFill>
                <a:latin typeface="Calibri"/>
              </a:rPr>
              <a:t>Method inside main</a:t>
            </a:r>
            <a:endParaRPr lang="en-US" sz="1400">
              <a:latin typeface="Calibri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3474720" y="1399032"/>
            <a:ext cx="3794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DF"/>
            </a:solidFill>
          </a:ln>
        </p:spPr>
        <p:txBody>
          <a:bodyPr wrap="square" lIns="73152" tIns="73152" rIns="73152" bIns="73152" anchor="ctr"/>
          <a:lstStyle/>
          <a:p>
            <a:pPr algn="l">
              <a:buNone/>
            </a:pPr>
            <a:r>
              <a:rPr lang="en-US" sz="1400" b="0">
                <a:solidFill>
                  <a:srgbClr val="203040"/>
                </a:solidFill>
                <a:latin typeface="Calibri"/>
              </a:rPr>
              <a:t>Normal methods cannot be nested</a:t>
            </a:r>
            <a:endParaRPr lang="en-US" sz="1400">
              <a:latin typeface="Calibri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7269480" y="1399032"/>
            <a:ext cx="4343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DF"/>
            </a:solidFill>
          </a:ln>
        </p:spPr>
        <p:txBody>
          <a:bodyPr wrap="square" lIns="73152" tIns="73152" rIns="73152" bIns="73152" anchor="ctr"/>
          <a:lstStyle/>
          <a:p>
            <a:pPr algn="l">
              <a:buNone/>
            </a:pPr>
            <a:r>
              <a:rPr lang="en-US" sz="1400" b="0">
                <a:solidFill>
                  <a:srgbClr val="203040"/>
                </a:solidFill>
                <a:latin typeface="Calibri"/>
              </a:rPr>
              <a:t>Define it at class level</a:t>
            </a:r>
            <a:endParaRPr lang="en-US" sz="1400">
              <a:latin typeface="Calibri"/>
            </a:endParaRPr>
          </a:p>
        </p:txBody>
      </p:sp>
      <p:sp>
        <p:nvSpPr>
          <p:cNvPr id="14" name="Shape 14"/>
          <p:cNvSpPr txBox="1"/>
          <p:nvPr/>
        </p:nvSpPr>
        <p:spPr>
          <a:xfrm>
            <a:off x="502920" y="1929384"/>
            <a:ext cx="2971800" cy="530352"/>
          </a:xfrm>
          <a:prstGeom prst="rect">
            <a:avLst/>
          </a:prstGeom>
          <a:solidFill>
            <a:srgbClr val="F2F6F9"/>
          </a:solidFill>
          <a:ln w="12700">
            <a:solidFill>
              <a:srgbClr val="CCD6DF"/>
            </a:solidFill>
          </a:ln>
        </p:spPr>
        <p:txBody>
          <a:bodyPr wrap="square" lIns="73152" tIns="73152" rIns="73152" bIns="73152" anchor="ctr"/>
          <a:lstStyle/>
          <a:p>
            <a:pPr algn="l">
              <a:buNone/>
            </a:pPr>
            <a:r>
              <a:rPr lang="en-US" sz="1400" b="0">
                <a:solidFill>
                  <a:srgbClr val="203040"/>
                </a:solidFill>
                <a:latin typeface="Calibri"/>
              </a:rPr>
              <a:t>Method never called</a:t>
            </a:r>
            <a:endParaRPr lang="en-US" sz="1400">
              <a:latin typeface="Calibri"/>
            </a:endParaRPr>
          </a:p>
        </p:txBody>
      </p:sp>
      <p:sp>
        <p:nvSpPr>
          <p:cNvPr id="15" name="Shape 15"/>
          <p:cNvSpPr txBox="1"/>
          <p:nvPr/>
        </p:nvSpPr>
        <p:spPr>
          <a:xfrm>
            <a:off x="3474720" y="1929384"/>
            <a:ext cx="3794760" cy="530352"/>
          </a:xfrm>
          <a:prstGeom prst="rect">
            <a:avLst/>
          </a:prstGeom>
          <a:solidFill>
            <a:srgbClr val="F2F6F9"/>
          </a:solidFill>
          <a:ln w="12700">
            <a:solidFill>
              <a:srgbClr val="CCD6DF"/>
            </a:solidFill>
          </a:ln>
        </p:spPr>
        <p:txBody>
          <a:bodyPr wrap="square" lIns="73152" tIns="73152" rIns="73152" bIns="73152" anchor="ctr"/>
          <a:lstStyle/>
          <a:p>
            <a:pPr algn="l">
              <a:buNone/>
            </a:pPr>
            <a:r>
              <a:rPr lang="en-US" sz="1400" b="0">
                <a:solidFill>
                  <a:srgbClr val="203040"/>
                </a:solidFill>
                <a:latin typeface="Calibri"/>
              </a:rPr>
              <a:t>Its body never runs</a:t>
            </a:r>
            <a:endParaRPr lang="en-US" sz="14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7269480" y="1929384"/>
            <a:ext cx="4343400" cy="530352"/>
          </a:xfrm>
          <a:prstGeom prst="rect">
            <a:avLst/>
          </a:prstGeom>
          <a:solidFill>
            <a:srgbClr val="F2F6F9"/>
          </a:solidFill>
          <a:ln w="12700">
            <a:solidFill>
              <a:srgbClr val="CCD6DF"/>
            </a:solidFill>
          </a:ln>
        </p:spPr>
        <p:txBody>
          <a:bodyPr wrap="square" lIns="73152" tIns="73152" rIns="73152" bIns="73152" anchor="ctr"/>
          <a:lstStyle/>
          <a:p>
            <a:pPr algn="l">
              <a:buNone/>
            </a:pPr>
            <a:r>
              <a:rPr lang="en-US" sz="1400" b="0">
                <a:solidFill>
                  <a:srgbClr val="203040"/>
                </a:solidFill>
                <a:latin typeface="Calibri"/>
              </a:rPr>
              <a:t>Add a method call</a:t>
            </a:r>
            <a:endParaRPr lang="en-US" sz="1400">
              <a:latin typeface="Calibri"/>
            </a:endParaRPr>
          </a:p>
        </p:txBody>
      </p:sp>
      <p:sp>
        <p:nvSpPr>
          <p:cNvPr id="17" name="Shape 17"/>
          <p:cNvSpPr txBox="1"/>
          <p:nvPr/>
        </p:nvSpPr>
        <p:spPr>
          <a:xfrm>
            <a:off x="502920" y="2459736"/>
            <a:ext cx="2971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DF"/>
            </a:solidFill>
          </a:ln>
        </p:spPr>
        <p:txBody>
          <a:bodyPr wrap="square" lIns="73152" tIns="73152" rIns="73152" bIns="73152" anchor="ctr"/>
          <a:lstStyle/>
          <a:p>
            <a:pPr algn="l">
              <a:buNone/>
            </a:pPr>
            <a:r>
              <a:rPr lang="en-US" sz="1400" b="0">
                <a:solidFill>
                  <a:srgbClr val="203040"/>
                </a:solidFill>
                <a:latin typeface="Calibri"/>
              </a:rPr>
              <a:t>void constructor</a:t>
            </a:r>
            <a:endParaRPr lang="en-US" sz="1400">
              <a:latin typeface="Calibri"/>
            </a:endParaRPr>
          </a:p>
        </p:txBody>
      </p:sp>
      <p:sp>
        <p:nvSpPr>
          <p:cNvPr id="18" name="Shape 18"/>
          <p:cNvSpPr txBox="1"/>
          <p:nvPr/>
        </p:nvSpPr>
        <p:spPr>
          <a:xfrm>
            <a:off x="3474720" y="2459736"/>
            <a:ext cx="3794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DF"/>
            </a:solidFill>
          </a:ln>
        </p:spPr>
        <p:txBody>
          <a:bodyPr wrap="square" lIns="73152" tIns="73152" rIns="73152" bIns="73152" anchor="ctr"/>
          <a:lstStyle/>
          <a:p>
            <a:pPr algn="l">
              <a:buNone/>
            </a:pPr>
            <a:r>
              <a:rPr lang="en-US" sz="1400" b="0">
                <a:solidFill>
                  <a:srgbClr val="203040"/>
                </a:solidFill>
                <a:latin typeface="Calibri"/>
              </a:rPr>
              <a:t>Constructors have no return type</a:t>
            </a:r>
            <a:endParaRPr lang="en-US" sz="1400">
              <a:latin typeface="Calibri"/>
            </a:endParaRPr>
          </a:p>
        </p:txBody>
      </p:sp>
      <p:sp>
        <p:nvSpPr>
          <p:cNvPr id="19" name="Shape 19"/>
          <p:cNvSpPr txBox="1"/>
          <p:nvPr/>
        </p:nvSpPr>
        <p:spPr>
          <a:xfrm>
            <a:off x="7269480" y="2459736"/>
            <a:ext cx="4343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DF"/>
            </a:solidFill>
          </a:ln>
        </p:spPr>
        <p:txBody>
          <a:bodyPr wrap="square" lIns="73152" tIns="73152" rIns="73152" bIns="73152" anchor="ctr"/>
          <a:lstStyle/>
          <a:p>
            <a:pPr algn="l">
              <a:buNone/>
            </a:pPr>
            <a:r>
              <a:rPr lang="en-US" sz="1400" b="0">
                <a:solidFill>
                  <a:srgbClr val="203040"/>
                </a:solidFill>
                <a:latin typeface="Calibri"/>
              </a:rPr>
              <a:t>Remove void</a:t>
            </a:r>
            <a:endParaRPr lang="en-US" sz="1400">
              <a:latin typeface="Calibri"/>
            </a:endParaRPr>
          </a:p>
        </p:txBody>
      </p:sp>
      <p:sp>
        <p:nvSpPr>
          <p:cNvPr id="20" name="Shape 20"/>
          <p:cNvSpPr txBox="1"/>
          <p:nvPr/>
        </p:nvSpPr>
        <p:spPr>
          <a:xfrm>
            <a:off x="502920" y="2990088"/>
            <a:ext cx="2971800" cy="530352"/>
          </a:xfrm>
          <a:prstGeom prst="rect">
            <a:avLst/>
          </a:prstGeom>
          <a:solidFill>
            <a:srgbClr val="F2F6F9"/>
          </a:solidFill>
          <a:ln w="12700">
            <a:solidFill>
              <a:srgbClr val="CCD6DF"/>
            </a:solidFill>
          </a:ln>
        </p:spPr>
        <p:txBody>
          <a:bodyPr wrap="square" lIns="73152" tIns="73152" rIns="73152" bIns="73152" anchor="ctr"/>
          <a:lstStyle/>
          <a:p>
            <a:pPr algn="l">
              <a:buNone/>
            </a:pPr>
            <a:r>
              <a:rPr lang="en-US" sz="1400" b="0">
                <a:solidFill>
                  <a:srgbClr val="203040"/>
                </a:solidFill>
                <a:latin typeface="Calibri"/>
              </a:rPr>
              <a:t>No new keyword</a:t>
            </a:r>
            <a:endParaRPr lang="en-US" sz="1400">
              <a:latin typeface="Calibri"/>
            </a:endParaRPr>
          </a:p>
        </p:txBody>
      </p:sp>
      <p:sp>
        <p:nvSpPr>
          <p:cNvPr id="21" name="Shape 21"/>
          <p:cNvSpPr txBox="1"/>
          <p:nvPr/>
        </p:nvSpPr>
        <p:spPr>
          <a:xfrm>
            <a:off x="3474720" y="2990088"/>
            <a:ext cx="3794760" cy="530352"/>
          </a:xfrm>
          <a:prstGeom prst="rect">
            <a:avLst/>
          </a:prstGeom>
          <a:solidFill>
            <a:srgbClr val="F2F6F9"/>
          </a:solidFill>
          <a:ln w="12700">
            <a:solidFill>
              <a:srgbClr val="CCD6DF"/>
            </a:solidFill>
          </a:ln>
        </p:spPr>
        <p:txBody>
          <a:bodyPr wrap="square" lIns="73152" tIns="73152" rIns="73152" bIns="73152" anchor="ctr"/>
          <a:lstStyle/>
          <a:p>
            <a:pPr algn="l">
              <a:buNone/>
            </a:pPr>
            <a:r>
              <a:rPr lang="en-US" sz="1400" b="0">
                <a:solidFill>
                  <a:srgbClr val="203040"/>
                </a:solidFill>
                <a:latin typeface="Calibri"/>
              </a:rPr>
              <a:t>No object is created</a:t>
            </a:r>
            <a:endParaRPr lang="en-US" sz="1400">
              <a:latin typeface="Calibri"/>
            </a:endParaRPr>
          </a:p>
        </p:txBody>
      </p:sp>
      <p:sp>
        <p:nvSpPr>
          <p:cNvPr id="22" name="Shape 22"/>
          <p:cNvSpPr txBox="1"/>
          <p:nvPr/>
        </p:nvSpPr>
        <p:spPr>
          <a:xfrm>
            <a:off x="7269480" y="2990088"/>
            <a:ext cx="4343400" cy="530352"/>
          </a:xfrm>
          <a:prstGeom prst="rect">
            <a:avLst/>
          </a:prstGeom>
          <a:solidFill>
            <a:srgbClr val="F2F6F9"/>
          </a:solidFill>
          <a:ln w="12700">
            <a:solidFill>
              <a:srgbClr val="CCD6DF"/>
            </a:solidFill>
          </a:ln>
        </p:spPr>
        <p:txBody>
          <a:bodyPr wrap="square" lIns="73152" tIns="73152" rIns="73152" bIns="73152" anchor="ctr"/>
          <a:lstStyle/>
          <a:p>
            <a:pPr algn="l">
              <a:buNone/>
            </a:pPr>
            <a:r>
              <a:rPr lang="en-US" sz="1400" b="0">
                <a:solidFill>
                  <a:srgbClr val="203040"/>
                </a:solidFill>
                <a:latin typeface="Calibri"/>
              </a:rPr>
              <a:t>Use new ClassName(...)</a:t>
            </a:r>
            <a:endParaRPr lang="en-US" sz="1400">
              <a:latin typeface="Calibri"/>
            </a:endParaRPr>
          </a:p>
        </p:txBody>
      </p:sp>
      <p:sp>
        <p:nvSpPr>
          <p:cNvPr id="23" name="Shape 23"/>
          <p:cNvSpPr txBox="1"/>
          <p:nvPr/>
        </p:nvSpPr>
        <p:spPr>
          <a:xfrm>
            <a:off x="502920" y="3520440"/>
            <a:ext cx="2971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DF"/>
            </a:solidFill>
          </a:ln>
        </p:spPr>
        <p:txBody>
          <a:bodyPr wrap="square" lIns="73152" tIns="73152" rIns="73152" bIns="73152" anchor="ctr"/>
          <a:lstStyle/>
          <a:p>
            <a:pPr algn="l">
              <a:buNone/>
            </a:pPr>
            <a:r>
              <a:rPr lang="en-US" sz="1400" b="0">
                <a:solidFill>
                  <a:srgbClr val="203040"/>
                </a:solidFill>
                <a:latin typeface="Calibri"/>
              </a:rPr>
              <a:t>Direct private access</a:t>
            </a:r>
            <a:endParaRPr lang="en-US" sz="1400">
              <a:latin typeface="Calibri"/>
            </a:endParaRPr>
          </a:p>
        </p:txBody>
      </p:sp>
      <p:sp>
        <p:nvSpPr>
          <p:cNvPr id="24" name="Shape 24"/>
          <p:cNvSpPr txBox="1"/>
          <p:nvPr/>
        </p:nvSpPr>
        <p:spPr>
          <a:xfrm>
            <a:off x="3474720" y="3520440"/>
            <a:ext cx="3794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DF"/>
            </a:solidFill>
          </a:ln>
        </p:spPr>
        <p:txBody>
          <a:bodyPr wrap="square" lIns="73152" tIns="73152" rIns="73152" bIns="73152" anchor="ctr"/>
          <a:lstStyle/>
          <a:p>
            <a:pPr algn="l">
              <a:buNone/>
            </a:pPr>
            <a:r>
              <a:rPr lang="en-US" sz="1400" b="0">
                <a:solidFill>
                  <a:srgbClr val="203040"/>
                </a:solidFill>
                <a:latin typeface="Calibri"/>
              </a:rPr>
              <a:t>State is protected</a:t>
            </a:r>
            <a:endParaRPr lang="en-US" sz="1400">
              <a:latin typeface="Calibri"/>
            </a:endParaRPr>
          </a:p>
        </p:txBody>
      </p:sp>
      <p:sp>
        <p:nvSpPr>
          <p:cNvPr id="25" name="Shape 25"/>
          <p:cNvSpPr txBox="1"/>
          <p:nvPr/>
        </p:nvSpPr>
        <p:spPr>
          <a:xfrm>
            <a:off x="7269480" y="3520440"/>
            <a:ext cx="4343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DF"/>
            </a:solidFill>
          </a:ln>
        </p:spPr>
        <p:txBody>
          <a:bodyPr wrap="square" lIns="73152" tIns="73152" rIns="73152" bIns="73152" anchor="ctr"/>
          <a:lstStyle/>
          <a:p>
            <a:pPr algn="l">
              <a:buNone/>
            </a:pPr>
            <a:r>
              <a:rPr lang="en-US" sz="1400" b="0">
                <a:solidFill>
                  <a:srgbClr val="203040"/>
                </a:solidFill>
                <a:latin typeface="Calibri"/>
              </a:rPr>
              <a:t>Use controlled methods</a:t>
            </a:r>
            <a:endParaRPr lang="en-US" sz="1400">
              <a:latin typeface="Calibri"/>
            </a:endParaRPr>
          </a:p>
        </p:txBody>
      </p:sp>
      <p:sp>
        <p:nvSpPr>
          <p:cNvPr id="26" name="Shape 26"/>
          <p:cNvSpPr txBox="1"/>
          <p:nvPr/>
        </p:nvSpPr>
        <p:spPr>
          <a:xfrm>
            <a:off x="502920" y="4050792"/>
            <a:ext cx="2971800" cy="530352"/>
          </a:xfrm>
          <a:prstGeom prst="rect">
            <a:avLst/>
          </a:prstGeom>
          <a:solidFill>
            <a:srgbClr val="F2F6F9"/>
          </a:solidFill>
          <a:ln w="12700">
            <a:solidFill>
              <a:srgbClr val="CCD6DF"/>
            </a:solidFill>
          </a:ln>
        </p:spPr>
        <p:txBody>
          <a:bodyPr wrap="square" lIns="73152" tIns="73152" rIns="73152" bIns="73152" anchor="ctr"/>
          <a:lstStyle/>
          <a:p>
            <a:pPr algn="l">
              <a:buNone/>
            </a:pPr>
            <a:r>
              <a:rPr lang="en-US" sz="1400" b="0">
                <a:solidFill>
                  <a:srgbClr val="203040"/>
                </a:solidFill>
                <a:latin typeface="Calibri"/>
              </a:rPr>
              <a:t>Instance method without object</a:t>
            </a:r>
            <a:endParaRPr lang="en-US" sz="1400">
              <a:latin typeface="Calibri"/>
            </a:endParaRPr>
          </a:p>
        </p:txBody>
      </p:sp>
      <p:sp>
        <p:nvSpPr>
          <p:cNvPr id="27" name="Shape 27"/>
          <p:cNvSpPr txBox="1"/>
          <p:nvPr/>
        </p:nvSpPr>
        <p:spPr>
          <a:xfrm>
            <a:off x="3474720" y="4050792"/>
            <a:ext cx="3794760" cy="530352"/>
          </a:xfrm>
          <a:prstGeom prst="rect">
            <a:avLst/>
          </a:prstGeom>
          <a:solidFill>
            <a:srgbClr val="F2F6F9"/>
          </a:solidFill>
          <a:ln w="12700">
            <a:solidFill>
              <a:srgbClr val="CCD6DF"/>
            </a:solidFill>
          </a:ln>
        </p:spPr>
        <p:txBody>
          <a:bodyPr wrap="square" lIns="73152" tIns="73152" rIns="73152" bIns="73152" anchor="ctr"/>
          <a:lstStyle/>
          <a:p>
            <a:pPr algn="l">
              <a:buNone/>
            </a:pPr>
            <a:r>
              <a:rPr lang="en-US" sz="1400" b="0">
                <a:solidFill>
                  <a:srgbClr val="203040"/>
                </a:solidFill>
                <a:latin typeface="Calibri"/>
              </a:rPr>
              <a:t>It needs object state</a:t>
            </a:r>
            <a:endParaRPr lang="en-US" sz="1400">
              <a:latin typeface="Calibri"/>
            </a:endParaRPr>
          </a:p>
        </p:txBody>
      </p:sp>
      <p:sp>
        <p:nvSpPr>
          <p:cNvPr id="28" name="Shape 28"/>
          <p:cNvSpPr txBox="1"/>
          <p:nvPr/>
        </p:nvSpPr>
        <p:spPr>
          <a:xfrm>
            <a:off x="7269480" y="4050792"/>
            <a:ext cx="4343400" cy="530352"/>
          </a:xfrm>
          <a:prstGeom prst="rect">
            <a:avLst/>
          </a:prstGeom>
          <a:solidFill>
            <a:srgbClr val="F2F6F9"/>
          </a:solidFill>
          <a:ln w="12700">
            <a:solidFill>
              <a:srgbClr val="CCD6DF"/>
            </a:solidFill>
          </a:ln>
        </p:spPr>
        <p:txBody>
          <a:bodyPr wrap="square" lIns="73152" tIns="73152" rIns="73152" bIns="73152" anchor="ctr"/>
          <a:lstStyle/>
          <a:p>
            <a:pPr algn="l">
              <a:buNone/>
            </a:pPr>
            <a:r>
              <a:rPr lang="en-US" sz="1400" b="0">
                <a:solidFill>
                  <a:srgbClr val="203040"/>
                </a:solidFill>
                <a:latin typeface="Calibri"/>
              </a:rPr>
              <a:t>Call object.method()</a:t>
            </a:r>
            <a:endParaRPr lang="en-US" sz="1400">
              <a:latin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Classroom Activities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OOP–Java • Methods, Objects &amp; Classes • Soban Hussain  |  Part 4 • Review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32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594360" y="914400"/>
            <a:ext cx="3520440" cy="438912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9"/>
          <p:cNvSpPr txBox="1"/>
          <p:nvPr/>
        </p:nvSpPr>
        <p:spPr>
          <a:xfrm>
            <a:off x="594360" y="914400"/>
            <a:ext cx="3520440" cy="393192"/>
          </a:xfrm>
          <a:prstGeom prst="roundRect">
            <a:avLst/>
          </a:prstGeom>
          <a:solidFill>
            <a:srgbClr val="246A9B"/>
          </a:solidFill>
          <a:ln w="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10"/>
          <p:cNvSpPr txBox="1"/>
          <p:nvPr/>
        </p:nvSpPr>
        <p:spPr>
          <a:xfrm>
            <a:off x="704088" y="969264"/>
            <a:ext cx="330098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1. Identify Methods</a:t>
            </a:r>
            <a:endParaRPr lang="en-US" sz="1700">
              <a:latin typeface="Calibri"/>
            </a:endParaRPr>
          </a:p>
        </p:txBody>
      </p:sp>
      <p:sp>
        <p:nvSpPr>
          <p:cNvPr id="11" name="Shape 11"/>
          <p:cNvSpPr txBox="1"/>
          <p:nvPr/>
        </p:nvSpPr>
        <p:spPr>
          <a:xfrm>
            <a:off x="722376" y="1417320"/>
            <a:ext cx="3264408" cy="379476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alibri"/>
              </a:rPr>
              <a:t>Student: study(), attendClass()</a:t>
            </a:r>
            <a:endParaRPr lang="en-US" sz="1800">
              <a:latin typeface="Calibri"/>
            </a:endParaRPr>
          </a:p>
          <a:p>
            <a:pPr algn="l">
              <a:buNone/>
            </a:pPr>
            <a:endParaRPr lang="en-US" sz="1800">
              <a:latin typeface="Calibri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alibri"/>
              </a:rPr>
              <a:t>Teacher: teach(), checkAssignment()</a:t>
            </a:r>
            <a:endParaRPr lang="en-US" sz="1800">
              <a:latin typeface="Calibri"/>
            </a:endParaRPr>
          </a:p>
          <a:p>
            <a:pPr algn="l">
              <a:buNone/>
            </a:pPr>
            <a:endParaRPr lang="en-US" sz="1800">
              <a:latin typeface="Calibri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alibri"/>
              </a:rPr>
              <a:t>Course: enrollStudent()</a:t>
            </a:r>
            <a:endParaRPr lang="en-US" sz="1800">
              <a:latin typeface="Calibri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4343400" y="914400"/>
            <a:ext cx="3520440" cy="438912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3"/>
          <p:cNvSpPr txBox="1"/>
          <p:nvPr/>
        </p:nvSpPr>
        <p:spPr>
          <a:xfrm>
            <a:off x="4343400" y="914400"/>
            <a:ext cx="3520440" cy="393192"/>
          </a:xfrm>
          <a:prstGeom prst="roundRect">
            <a:avLst/>
          </a:prstGeom>
          <a:solidFill>
            <a:srgbClr val="17807E"/>
          </a:solidFill>
          <a:ln w="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4"/>
          <p:cNvSpPr txBox="1"/>
          <p:nvPr/>
        </p:nvSpPr>
        <p:spPr>
          <a:xfrm>
            <a:off x="4453128" y="969264"/>
            <a:ext cx="330098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2. State &amp; Behavior</a:t>
            </a:r>
            <a:endParaRPr lang="en-US" sz="1700">
              <a:latin typeface="Calibri"/>
            </a:endParaRPr>
          </a:p>
        </p:txBody>
      </p:sp>
      <p:sp>
        <p:nvSpPr>
          <p:cNvPr id="15" name="Shape 15"/>
          <p:cNvSpPr txBox="1"/>
          <p:nvPr/>
        </p:nvSpPr>
        <p:spPr>
          <a:xfrm>
            <a:off x="4471416" y="1417320"/>
            <a:ext cx="3264408" cy="379476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alibri"/>
              </a:rPr>
              <a:t>Give each group one entity:</a:t>
            </a:r>
            <a:endParaRPr lang="en-US" sz="1800">
              <a:latin typeface="Calibri"/>
            </a:endParaRPr>
          </a:p>
          <a:p>
            <a:pPr algn="l">
              <a:buNone/>
            </a:pPr>
            <a:endParaRPr lang="en-US" sz="1800">
              <a:latin typeface="Calibri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alibri"/>
              </a:rPr>
              <a:t>Car • Book • Product • Employee</a:t>
            </a:r>
            <a:endParaRPr lang="en-US" sz="1800">
              <a:latin typeface="Calibri"/>
            </a:endParaRPr>
          </a:p>
          <a:p>
            <a:pPr algn="l">
              <a:buNone/>
            </a:pPr>
            <a:endParaRPr lang="en-US" sz="1800">
              <a:latin typeface="Calibri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alibri"/>
              </a:rPr>
              <a:t>Write 3 fields and 3 methods.</a:t>
            </a:r>
            <a:endParaRPr lang="en-US" sz="18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8092440" y="914400"/>
            <a:ext cx="3520440" cy="438912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7"/>
          <p:cNvSpPr txBox="1"/>
          <p:nvPr/>
        </p:nvSpPr>
        <p:spPr>
          <a:xfrm>
            <a:off x="8092440" y="914400"/>
            <a:ext cx="3520440" cy="393192"/>
          </a:xfrm>
          <a:prstGeom prst="roundRect">
            <a:avLst/>
          </a:prstGeom>
          <a:solidFill>
            <a:srgbClr val="D99614"/>
          </a:solidFill>
          <a:ln w="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8"/>
          <p:cNvSpPr txBox="1"/>
          <p:nvPr/>
        </p:nvSpPr>
        <p:spPr>
          <a:xfrm>
            <a:off x="8202168" y="969264"/>
            <a:ext cx="330098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3. Class or Object?</a:t>
            </a:r>
            <a:endParaRPr lang="en-US" sz="1700">
              <a:latin typeface="Calibri"/>
            </a:endParaRPr>
          </a:p>
        </p:txBody>
      </p:sp>
      <p:sp>
        <p:nvSpPr>
          <p:cNvPr id="19" name="Shape 19"/>
          <p:cNvSpPr txBox="1"/>
          <p:nvPr/>
        </p:nvSpPr>
        <p:spPr>
          <a:xfrm>
            <a:off x="8220456" y="1417320"/>
            <a:ext cx="3264408" cy="379476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alibri"/>
              </a:rPr>
              <a:t>Student → class</a:t>
            </a:r>
            <a:endParaRPr lang="en-US" sz="1800">
              <a:latin typeface="Calibri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alibri"/>
              </a:rPr>
              <a:t>Ali, roll 101 → object</a:t>
            </a:r>
            <a:endParaRPr lang="en-US" sz="1800">
              <a:latin typeface="Calibri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alibri"/>
              </a:rPr>
              <a:t>Car → class</a:t>
            </a:r>
            <a:endParaRPr lang="en-US" sz="1800">
              <a:latin typeface="Calibri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alibri"/>
              </a:rPr>
              <a:t>White Corolla → object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Practice Programs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OOP–Java • Methods, Objects &amp; Classes • Soban Hussain  |  Part 4 • Review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33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640080" y="914400"/>
            <a:ext cx="5349240" cy="5120640"/>
          </a:xfrm>
          <a:prstGeom prst="roundRect">
            <a:avLst/>
          </a:prstGeom>
          <a:solidFill>
            <a:srgbClr val="F2F6F9"/>
          </a:solidFill>
          <a:ln w="12700">
            <a:solidFill>
              <a:srgbClr val="CCD6DF"/>
            </a:solidFill>
          </a:ln>
        </p:spPr>
        <p:txBody>
          <a:bodyPr wrap="square" lIns="146304" tIns="118872" rIns="91440" bIns="91440" anchor="t"/>
          <a:lstStyle/>
          <a:p>
            <a:pPr algn="l">
              <a:buNone/>
            </a:pPr>
            <a:r>
              <a:rPr lang="en-US" sz="2200" b="1">
                <a:solidFill>
                  <a:srgbClr val="163D63"/>
                </a:solidFill>
              </a:rPr>
              <a:t>Easy</a:t>
            </a:r>
          </a:p>
          <a:p>
            <a:pPr marL="256032" indent="-146304" algn="l">
              <a:buChar char="•"/>
            </a:pPr>
            <a:r>
              <a:rPr lang="en-US" sz="2000">
                <a:solidFill>
                  <a:srgbClr val="203040"/>
                </a:solidFill>
                <a:latin typeface="Calibri"/>
              </a:rPr>
              <a:t>Rectangle: length, width, area, perimeter</a:t>
            </a:r>
            <a:endParaRPr lang="en-US" sz="2000"/>
          </a:p>
          <a:p>
            <a:pPr marL="256032" indent="-146304" algn="l">
              <a:buChar char="•"/>
            </a:pPr>
            <a:r>
              <a:rPr lang="en-US" sz="2000">
                <a:solidFill>
                  <a:srgbClr val="203040"/>
                </a:solidFill>
                <a:latin typeface="Calibri"/>
              </a:rPr>
              <a:t>Employee: name, salary, increaseSalary()</a:t>
            </a:r>
            <a:endParaRPr lang="en-US" sz="2000"/>
          </a:p>
          <a:p>
            <a:pPr marL="256032" indent="-146304" algn="l">
              <a:buChar char="•"/>
            </a:pPr>
            <a:r>
              <a:rPr lang="en-US" sz="2000">
                <a:solidFill>
                  <a:srgbClr val="203040"/>
                </a:solidFill>
                <a:latin typeface="Calibri"/>
              </a:rPr>
              <a:t>Book: title, author, price, display()</a:t>
            </a:r>
            <a:endParaRPr lang="en-US" sz="2000"/>
          </a:p>
        </p:txBody>
      </p:sp>
      <p:sp>
        <p:nvSpPr>
          <p:cNvPr id="9" name="Shape 9"/>
          <p:cNvSpPr txBox="1"/>
          <p:nvPr/>
        </p:nvSpPr>
        <p:spPr>
          <a:xfrm>
            <a:off x="6263640" y="914400"/>
            <a:ext cx="5257800" cy="5120640"/>
          </a:xfrm>
          <a:prstGeom prst="roundRect">
            <a:avLst/>
          </a:prstGeom>
          <a:solidFill>
            <a:srgbClr val="F2F6F9"/>
          </a:solidFill>
          <a:ln w="12700">
            <a:solidFill>
              <a:srgbClr val="CCD6DF"/>
            </a:solidFill>
          </a:ln>
        </p:spPr>
        <p:txBody>
          <a:bodyPr wrap="square" lIns="146304" tIns="118872" rIns="91440" bIns="91440" anchor="t"/>
          <a:lstStyle/>
          <a:p>
            <a:pPr algn="l">
              <a:buNone/>
            </a:pPr>
            <a:r>
              <a:rPr lang="en-US" sz="2200" b="1" dirty="0">
                <a:solidFill>
                  <a:srgbClr val="163D63"/>
                </a:solidFill>
              </a:rPr>
              <a:t>Intermediate</a:t>
            </a:r>
          </a:p>
          <a:p>
            <a:pPr marL="256032" indent="-146304" algn="l">
              <a:buChar char="•"/>
            </a:pPr>
            <a:r>
              <a:rPr lang="en-US" sz="2000" dirty="0">
                <a:solidFill>
                  <a:srgbClr val="203040"/>
                </a:solidFill>
                <a:latin typeface="Calibri"/>
              </a:rPr>
              <a:t>Student Result: marks array, total, average, grade</a:t>
            </a:r>
            <a:endParaRPr lang="en-US" sz="2000" dirty="0"/>
          </a:p>
          <a:p>
            <a:pPr marL="256032" indent="-146304" algn="l">
              <a:buChar char="•"/>
            </a:pPr>
            <a:r>
              <a:rPr lang="en-US" sz="2000" dirty="0">
                <a:solidFill>
                  <a:srgbClr val="203040"/>
                </a:solidFill>
                <a:latin typeface="Calibri"/>
              </a:rPr>
              <a:t>Create three objects and find the best result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/>
              </a:rPr>
              <a:t>Five-Minute Exit Quiz</a:t>
            </a:r>
            <a:endParaRPr lang="en-US" sz="2500" dirty="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OOP–Java • Methods, Objects &amp; Classes • Soban Hussain  |  Assessment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34</a:t>
            </a:r>
            <a:endParaRPr lang="en-US" sz="1000">
              <a:latin typeface="Calibri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0DE2F95-677B-8F55-A83E-3B988F749B40}"/>
              </a:ext>
            </a:extLst>
          </p:cNvPr>
          <p:cNvGrpSpPr/>
          <p:nvPr/>
        </p:nvGrpSpPr>
        <p:grpSpPr>
          <a:xfrm>
            <a:off x="795528" y="877824"/>
            <a:ext cx="8705088" cy="4233671"/>
            <a:chOff x="795528" y="877824"/>
            <a:chExt cx="8705088" cy="4233671"/>
          </a:xfrm>
        </p:grpSpPr>
        <p:sp>
          <p:nvSpPr>
            <p:cNvPr id="8" name="Shape 8"/>
            <p:cNvSpPr txBox="1"/>
            <p:nvPr/>
          </p:nvSpPr>
          <p:spPr>
            <a:xfrm>
              <a:off x="795528" y="877824"/>
              <a:ext cx="8705088" cy="2880359"/>
            </a:xfrm>
            <a:prstGeom prst="roundRect">
              <a:avLst/>
            </a:prstGeom>
            <a:solidFill>
              <a:schemeClr val="accent4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146304" tIns="118872" rIns="91440" bIns="91440" anchor="t"/>
            <a:lstStyle/>
            <a:p>
              <a:pPr algn="l">
                <a:lnSpc>
                  <a:spcPct val="150000"/>
                </a:lnSpc>
                <a:buNone/>
              </a:pPr>
              <a:r>
                <a:rPr lang="en-US" sz="1900" b="1" dirty="0">
                  <a:solidFill>
                    <a:srgbClr val="163D63"/>
                  </a:solidFill>
                </a:rPr>
                <a:t>Questions 1–3 (Difficulty: 0) </a:t>
              </a:r>
            </a:p>
            <a:p>
              <a:pPr marL="256032" indent="-146304" algn="l">
                <a:lnSpc>
                  <a:spcPct val="150000"/>
                </a:lnSpc>
                <a:buChar char="•"/>
              </a:pPr>
              <a:r>
                <a:rPr lang="en-US" sz="1700" dirty="0">
                  <a:solidFill>
                    <a:srgbClr val="203040"/>
                  </a:solidFill>
                  <a:latin typeface="Calibri"/>
                </a:rPr>
                <a:t>1. A method is: A) reusable task  B) field  C) file  D) index</a:t>
              </a:r>
              <a:endParaRPr lang="en-US" sz="1700" dirty="0"/>
            </a:p>
            <a:p>
              <a:pPr marL="256032" indent="-146304" algn="l">
                <a:lnSpc>
                  <a:spcPct val="150000"/>
                </a:lnSpc>
                <a:buChar char="•"/>
              </a:pPr>
              <a:r>
                <a:rPr lang="en-US" sz="1700" dirty="0">
                  <a:solidFill>
                    <a:srgbClr val="203040"/>
                  </a:solidFill>
                  <a:latin typeface="Calibri"/>
                </a:rPr>
                <a:t>2. A class is: A) object  B) blueprint  C) loop  D) value</a:t>
              </a:r>
              <a:endParaRPr lang="en-US" sz="1700" dirty="0"/>
            </a:p>
            <a:p>
              <a:pPr marL="256032" indent="-146304" algn="l">
                <a:lnSpc>
                  <a:spcPct val="150000"/>
                </a:lnSpc>
                <a:buChar char="•"/>
              </a:pPr>
              <a:r>
                <a:rPr lang="en-US" sz="1700" dirty="0">
                  <a:solidFill>
                    <a:srgbClr val="203040"/>
                  </a:solidFill>
                  <a:latin typeface="Calibri"/>
                </a:rPr>
                <a:t>3. Which keyword creates an object? A) this  B) class  C) new  D) return</a:t>
              </a:r>
              <a:endParaRPr lang="en-US" sz="1700" dirty="0"/>
            </a:p>
          </p:txBody>
        </p:sp>
        <p:sp>
          <p:nvSpPr>
            <p:cNvPr id="9" name="Shape 9"/>
            <p:cNvSpPr txBox="1"/>
            <p:nvPr/>
          </p:nvSpPr>
          <p:spPr>
            <a:xfrm>
              <a:off x="795528" y="2834640"/>
              <a:ext cx="8705088" cy="227685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146304" tIns="118872" rIns="91440" bIns="91440" anchor="t"/>
            <a:lstStyle/>
            <a:p>
              <a:pPr algn="l">
                <a:lnSpc>
                  <a:spcPct val="150000"/>
                </a:lnSpc>
                <a:buNone/>
              </a:pPr>
              <a:r>
                <a:rPr lang="en-US" sz="1900" b="1" dirty="0">
                  <a:solidFill>
                    <a:srgbClr val="163D63"/>
                  </a:solidFill>
                </a:rPr>
                <a:t>Questions 4–5 (Difficulty: 1) </a:t>
              </a:r>
              <a:endParaRPr lang="en-US" sz="1900" b="1" dirty="0">
                <a:solidFill>
                  <a:schemeClr val="bg1"/>
                </a:solidFill>
              </a:endParaRPr>
            </a:p>
            <a:p>
              <a:pPr marL="256032" indent="-146304" algn="l">
                <a:lnSpc>
                  <a:spcPct val="150000"/>
                </a:lnSpc>
                <a:buChar char="•"/>
              </a:pPr>
              <a:r>
                <a:rPr lang="en-US" sz="1700" dirty="0">
                  <a:solidFill>
                    <a:schemeClr val="bg1"/>
                  </a:solidFill>
                  <a:latin typeface="Calibri"/>
                </a:rPr>
                <a:t>4. A constructor: A) initializes object  B) returns void  C) uses return  D) has no parameters</a:t>
              </a:r>
              <a:endParaRPr lang="en-US" sz="1700" dirty="0">
                <a:solidFill>
                  <a:schemeClr val="bg1"/>
                </a:solidFill>
              </a:endParaRPr>
            </a:p>
            <a:p>
              <a:pPr marL="256032" indent="-146304" algn="l">
                <a:lnSpc>
                  <a:spcPct val="150000"/>
                </a:lnSpc>
                <a:buChar char="•"/>
              </a:pPr>
              <a:r>
                <a:rPr lang="en-US" sz="1700" dirty="0">
                  <a:solidFill>
                    <a:schemeClr val="bg1"/>
                  </a:solidFill>
                  <a:latin typeface="Calibri"/>
                </a:rPr>
                <a:t>5. this.name means: A) loop variable  B) current object's field  C) all fields  D) main method</a:t>
              </a:r>
              <a:endParaRPr lang="en-US" sz="1700" dirty="0">
                <a:solidFill>
                  <a:schemeClr val="bg1"/>
                </a:solidFill>
              </a:endParaRPr>
            </a:p>
            <a:p>
              <a:pPr marL="256032" indent="-146304" algn="l">
                <a:lnSpc>
                  <a:spcPct val="150000"/>
                </a:lnSpc>
                <a:buChar char="•"/>
              </a:pPr>
              <a:r>
                <a:rPr lang="en-US" sz="1700" dirty="0">
                  <a:solidFill>
                    <a:schemeClr val="bg1"/>
                  </a:solidFill>
                  <a:latin typeface="Calibri"/>
                </a:rPr>
                <a:t>Answers: 1-A, 2-B, 3-C, 4-A, 5-B</a:t>
              </a:r>
              <a:endParaRPr lang="en-US" sz="17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Final Mental Model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OOP–Java • Methods, Objects &amp; Classes • Soban Hussain  |  Conclusion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35</a:t>
            </a:r>
            <a:endParaRPr lang="en-US" sz="1000">
              <a:latin typeface="Calibri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514F356-3654-17C0-E0CE-4F5B55B49E6B}"/>
              </a:ext>
            </a:extLst>
          </p:cNvPr>
          <p:cNvGrpSpPr/>
          <p:nvPr/>
        </p:nvGrpSpPr>
        <p:grpSpPr>
          <a:xfrm>
            <a:off x="1207008" y="1417320"/>
            <a:ext cx="9275064" cy="1097280"/>
            <a:chOff x="502920" y="1417320"/>
            <a:chExt cx="9275064" cy="1097280"/>
          </a:xfrm>
        </p:grpSpPr>
        <p:sp>
          <p:nvSpPr>
            <p:cNvPr id="8" name="Shape 8"/>
            <p:cNvSpPr txBox="1"/>
            <p:nvPr/>
          </p:nvSpPr>
          <p:spPr>
            <a:xfrm>
              <a:off x="502920" y="1417320"/>
              <a:ext cx="1600200" cy="1097280"/>
            </a:xfrm>
            <a:prstGeom prst="roundRect">
              <a:avLst/>
            </a:prstGeom>
            <a:solidFill>
              <a:srgbClr val="246A9B"/>
            </a:solidFill>
            <a:ln w="12700">
              <a:solidFill>
                <a:srgbClr val="246A9B"/>
              </a:solidFill>
            </a:ln>
          </p:spPr>
          <p:txBody>
            <a:bodyPr wrap="square" lIns="73152" tIns="73152" rIns="73152" bIns="73152" anchor="ctr"/>
            <a:lstStyle/>
            <a:p>
              <a:pPr algn="ctr">
                <a:buNone/>
              </a:pPr>
              <a:r>
                <a:rPr lang="en-US" sz="1400" b="1">
                  <a:solidFill>
                    <a:srgbClr val="FFFFFF"/>
                  </a:solidFill>
                  <a:latin typeface="Calibri"/>
                </a:rPr>
                <a:t>Method</a:t>
              </a:r>
              <a:endParaRPr lang="en-US" sz="1400">
                <a:latin typeface="Calibri"/>
              </a:endParaRPr>
            </a:p>
            <a:p>
              <a:pPr algn="ctr">
                <a:buNone/>
              </a:pPr>
              <a:r>
                <a:rPr lang="en-US" sz="1400" b="1">
                  <a:solidFill>
                    <a:srgbClr val="FFFFFF"/>
                  </a:solidFill>
                  <a:latin typeface="Calibri"/>
                </a:rPr>
                <a:t>A task</a:t>
              </a:r>
              <a:endParaRPr lang="en-US" sz="1400">
                <a:latin typeface="Calibri"/>
              </a:endParaRPr>
            </a:p>
          </p:txBody>
        </p:sp>
        <p:cxnSp>
          <p:nvCxnSpPr>
            <p:cNvPr id="9" name="Connector 9"/>
            <p:cNvCxnSpPr/>
            <p:nvPr/>
          </p:nvCxnSpPr>
          <p:spPr>
            <a:xfrm>
              <a:off x="2139696" y="1965960"/>
              <a:ext cx="237744" cy="0"/>
            </a:xfrm>
            <a:prstGeom prst="line">
              <a:avLst/>
            </a:prstGeom>
            <a:ln w="25400">
              <a:solidFill>
                <a:srgbClr val="657586"/>
              </a:solidFill>
              <a:tailEnd type="none"/>
            </a:ln>
          </p:spPr>
        </p:cxnSp>
        <p:sp>
          <p:nvSpPr>
            <p:cNvPr id="10" name="Shape 10"/>
            <p:cNvSpPr txBox="1"/>
            <p:nvPr/>
          </p:nvSpPr>
          <p:spPr>
            <a:xfrm>
              <a:off x="2414016" y="1417320"/>
              <a:ext cx="1600200" cy="1097280"/>
            </a:xfrm>
            <a:prstGeom prst="roundRect">
              <a:avLst/>
            </a:prstGeom>
            <a:solidFill>
              <a:srgbClr val="17807E"/>
            </a:solidFill>
            <a:ln w="12700">
              <a:solidFill>
                <a:srgbClr val="17807E"/>
              </a:solidFill>
            </a:ln>
          </p:spPr>
          <p:txBody>
            <a:bodyPr wrap="square" lIns="73152" tIns="73152" rIns="73152" bIns="73152" anchor="ctr"/>
            <a:lstStyle/>
            <a:p>
              <a:pPr algn="ctr">
                <a:buNone/>
              </a:pPr>
              <a:r>
                <a:rPr lang="en-US" sz="1400" b="1">
                  <a:solidFill>
                    <a:srgbClr val="FFFFFF"/>
                  </a:solidFill>
                  <a:latin typeface="Calibri"/>
                </a:rPr>
                <a:t>Class</a:t>
              </a:r>
              <a:endParaRPr lang="en-US" sz="1400">
                <a:latin typeface="Calibri"/>
              </a:endParaRPr>
            </a:p>
            <a:p>
              <a:pPr algn="ctr">
                <a:buNone/>
              </a:pPr>
              <a:r>
                <a:rPr lang="en-US" sz="1400" b="1">
                  <a:solidFill>
                    <a:srgbClr val="FFFFFF"/>
                  </a:solidFill>
                  <a:latin typeface="Calibri"/>
                </a:rPr>
                <a:t>A blueprint</a:t>
              </a:r>
              <a:endParaRPr lang="en-US" sz="1400">
                <a:latin typeface="Calibri"/>
              </a:endParaRPr>
            </a:p>
          </p:txBody>
        </p:sp>
        <p:cxnSp>
          <p:nvCxnSpPr>
            <p:cNvPr id="11" name="Connector 11"/>
            <p:cNvCxnSpPr/>
            <p:nvPr/>
          </p:nvCxnSpPr>
          <p:spPr>
            <a:xfrm>
              <a:off x="4050792" y="1965960"/>
              <a:ext cx="237744" cy="0"/>
            </a:xfrm>
            <a:prstGeom prst="line">
              <a:avLst/>
            </a:prstGeom>
            <a:ln w="25400">
              <a:solidFill>
                <a:srgbClr val="657586"/>
              </a:solidFill>
              <a:tailEnd type="none"/>
            </a:ln>
          </p:spPr>
        </p:cxnSp>
        <p:sp>
          <p:nvSpPr>
            <p:cNvPr id="12" name="Shape 12"/>
            <p:cNvSpPr txBox="1"/>
            <p:nvPr/>
          </p:nvSpPr>
          <p:spPr>
            <a:xfrm>
              <a:off x="4325112" y="1417320"/>
              <a:ext cx="1600200" cy="1097280"/>
            </a:xfrm>
            <a:prstGeom prst="roundRect">
              <a:avLst/>
            </a:prstGeom>
            <a:solidFill>
              <a:srgbClr val="D99614"/>
            </a:solidFill>
            <a:ln w="12700">
              <a:solidFill>
                <a:srgbClr val="D99614"/>
              </a:solidFill>
            </a:ln>
          </p:spPr>
          <p:txBody>
            <a:bodyPr wrap="square" lIns="73152" tIns="73152" rIns="73152" bIns="73152" anchor="ctr"/>
            <a:lstStyle/>
            <a:p>
              <a:pPr algn="ctr">
                <a:buNone/>
              </a:pPr>
              <a:r>
                <a:rPr lang="en-US" sz="1400" b="1">
                  <a:solidFill>
                    <a:srgbClr val="FFFFFF"/>
                  </a:solidFill>
                  <a:latin typeface="Calibri"/>
                </a:rPr>
                <a:t>Object</a:t>
              </a:r>
              <a:endParaRPr lang="en-US" sz="1400">
                <a:latin typeface="Calibri"/>
              </a:endParaRPr>
            </a:p>
            <a:p>
              <a:pPr algn="ctr">
                <a:buNone/>
              </a:pPr>
              <a:r>
                <a:rPr lang="en-US" sz="1400" b="1">
                  <a:solidFill>
                    <a:srgbClr val="FFFFFF"/>
                  </a:solidFill>
                  <a:latin typeface="Calibri"/>
                </a:rPr>
                <a:t>An instance</a:t>
              </a:r>
              <a:endParaRPr lang="en-US" sz="1400">
                <a:latin typeface="Calibri"/>
              </a:endParaRPr>
            </a:p>
          </p:txBody>
        </p:sp>
        <p:cxnSp>
          <p:nvCxnSpPr>
            <p:cNvPr id="13" name="Connector 13"/>
            <p:cNvCxnSpPr/>
            <p:nvPr/>
          </p:nvCxnSpPr>
          <p:spPr>
            <a:xfrm>
              <a:off x="5961888" y="1965960"/>
              <a:ext cx="237744" cy="0"/>
            </a:xfrm>
            <a:prstGeom prst="line">
              <a:avLst/>
            </a:prstGeom>
            <a:ln w="25400">
              <a:solidFill>
                <a:srgbClr val="657586"/>
              </a:solidFill>
              <a:tailEnd type="none"/>
            </a:ln>
          </p:spPr>
        </p:cxnSp>
        <p:sp>
          <p:nvSpPr>
            <p:cNvPr id="14" name="Shape 14"/>
            <p:cNvSpPr txBox="1"/>
            <p:nvPr/>
          </p:nvSpPr>
          <p:spPr>
            <a:xfrm>
              <a:off x="6236208" y="1417320"/>
              <a:ext cx="1600200" cy="1097280"/>
            </a:xfrm>
            <a:prstGeom prst="roundRect">
              <a:avLst/>
            </a:prstGeom>
            <a:solidFill>
              <a:srgbClr val="3C8C5A"/>
            </a:solidFill>
            <a:ln w="12700">
              <a:solidFill>
                <a:srgbClr val="3C8C5A"/>
              </a:solidFill>
            </a:ln>
          </p:spPr>
          <p:txBody>
            <a:bodyPr wrap="square" lIns="73152" tIns="73152" rIns="73152" bIns="73152" anchor="ctr"/>
            <a:lstStyle/>
            <a:p>
              <a:pPr algn="ctr">
                <a:buNone/>
              </a:pPr>
              <a:r>
                <a:rPr lang="en-US" sz="1400" b="1">
                  <a:solidFill>
                    <a:srgbClr val="FFFFFF"/>
                  </a:solidFill>
                  <a:latin typeface="Calibri"/>
                </a:rPr>
                <a:t>Constructor</a:t>
              </a:r>
              <a:endParaRPr lang="en-US" sz="1400">
                <a:latin typeface="Calibri"/>
              </a:endParaRPr>
            </a:p>
            <a:p>
              <a:pPr algn="ctr">
                <a:buNone/>
              </a:pPr>
              <a:r>
                <a:rPr lang="en-US" sz="1400" b="1">
                  <a:solidFill>
                    <a:srgbClr val="FFFFFF"/>
                  </a:solidFill>
                  <a:latin typeface="Calibri"/>
                </a:rPr>
                <a:t>Initial setup</a:t>
              </a:r>
              <a:endParaRPr lang="en-US" sz="1400">
                <a:latin typeface="Calibri"/>
              </a:endParaRPr>
            </a:p>
          </p:txBody>
        </p:sp>
        <p:cxnSp>
          <p:nvCxnSpPr>
            <p:cNvPr id="15" name="Connector 15"/>
            <p:cNvCxnSpPr/>
            <p:nvPr/>
          </p:nvCxnSpPr>
          <p:spPr>
            <a:xfrm>
              <a:off x="7872984" y="1965960"/>
              <a:ext cx="237744" cy="0"/>
            </a:xfrm>
            <a:prstGeom prst="line">
              <a:avLst/>
            </a:prstGeom>
            <a:ln w="25400">
              <a:solidFill>
                <a:srgbClr val="657586"/>
              </a:solidFill>
              <a:tailEnd type="none"/>
            </a:ln>
          </p:spPr>
        </p:cxnSp>
        <p:sp>
          <p:nvSpPr>
            <p:cNvPr id="18" name="Shape 18"/>
            <p:cNvSpPr txBox="1"/>
            <p:nvPr/>
          </p:nvSpPr>
          <p:spPr>
            <a:xfrm>
              <a:off x="8177784" y="1417320"/>
              <a:ext cx="1600200" cy="109728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rgbClr val="17807E"/>
              </a:solidFill>
            </a:ln>
          </p:spPr>
          <p:txBody>
            <a:bodyPr wrap="square" lIns="73152" tIns="73152" rIns="73152" bIns="73152" anchor="ctr"/>
            <a:lstStyle/>
            <a:p>
              <a:pPr algn="ctr">
                <a:buNone/>
              </a:pPr>
              <a:r>
                <a:rPr lang="en-US" sz="1400" b="1">
                  <a:solidFill>
                    <a:srgbClr val="FFFFFF"/>
                  </a:solidFill>
                  <a:latin typeface="Calibri"/>
                </a:rPr>
                <a:t>OOP</a:t>
              </a:r>
              <a:endParaRPr lang="en-US" sz="1400">
                <a:latin typeface="Calibri"/>
              </a:endParaRPr>
            </a:p>
            <a:p>
              <a:pPr algn="ctr">
                <a:buNone/>
              </a:pPr>
              <a:r>
                <a:rPr lang="en-US" sz="1400" b="1">
                  <a:solidFill>
                    <a:srgbClr val="FFFFFF"/>
                  </a:solidFill>
                  <a:latin typeface="Calibri"/>
                </a:rPr>
                <a:t>Organized software</a:t>
              </a:r>
              <a:endParaRPr lang="en-US" sz="1400">
                <a:latin typeface="Calibri"/>
              </a:endParaRPr>
            </a:p>
          </p:txBody>
        </p:sp>
      </p:grpSp>
      <p:sp>
        <p:nvSpPr>
          <p:cNvPr id="19" name="Shape 19"/>
          <p:cNvSpPr txBox="1"/>
          <p:nvPr/>
        </p:nvSpPr>
        <p:spPr>
          <a:xfrm>
            <a:off x="868680" y="3246120"/>
            <a:ext cx="10469880" cy="1143000"/>
          </a:xfrm>
          <a:prstGeom prst="roundRect">
            <a:avLst/>
          </a:prstGeom>
          <a:solidFill>
            <a:srgbClr val="F2F6F9"/>
          </a:solidFill>
          <a:ln w="12700">
            <a:solidFill>
              <a:srgbClr val="CCD6DF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2300" b="1">
                <a:solidFill>
                  <a:srgbClr val="163D63"/>
                </a:solidFill>
                <a:latin typeface="Calibri"/>
              </a:rPr>
              <a:t>Ask three questions:</a:t>
            </a:r>
            <a:endParaRPr lang="en-US" sz="2300">
              <a:latin typeface="Calibri"/>
            </a:endParaRPr>
          </a:p>
          <a:p>
            <a:pPr algn="ctr">
              <a:buNone/>
            </a:pPr>
            <a:r>
              <a:rPr lang="en-US" sz="2300" b="1">
                <a:solidFill>
                  <a:srgbClr val="163D63"/>
                </a:solidFill>
                <a:latin typeface="Calibri"/>
              </a:rPr>
              <a:t>What entity am I modeling? What data does it have? What actions should it perform?</a:t>
            </a:r>
            <a:endParaRPr lang="en-US" sz="2300">
              <a:latin typeface="Calibri"/>
            </a:endParaRPr>
          </a:p>
        </p:txBody>
      </p:sp>
      <p:sp>
        <p:nvSpPr>
          <p:cNvPr id="20" name="Shape 20"/>
          <p:cNvSpPr txBox="1"/>
          <p:nvPr/>
        </p:nvSpPr>
        <p:spPr>
          <a:xfrm>
            <a:off x="1005840" y="4892040"/>
            <a:ext cx="10149840" cy="68580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ctr">
              <a:buNone/>
            </a:pPr>
            <a:r>
              <a:rPr lang="en-US" sz="1800" b="1">
                <a:solidFill>
                  <a:srgbClr val="17807E"/>
                </a:solidFill>
                <a:latin typeface="Calibri"/>
              </a:rPr>
              <a:t>Soban Hussain • Teaching Assistant • The University of Larkano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va Lecture Theme">
  <a:themeElements>
    <a:clrScheme name="Java Lecture">
      <a:dk1>
        <a:sysClr val="windowText" lastClr="000000"/>
      </a:dk1>
      <a:lt1>
        <a:sysClr val="window" lastClr="FFFFFF"/>
      </a:lt1>
      <a:dk2>
        <a:srgbClr val="163D63"/>
      </a:dk2>
      <a:lt2>
        <a:srgbClr val="F2F6F9"/>
      </a:lt2>
      <a:accent1>
        <a:srgbClr val="246A9B"/>
      </a:accent1>
      <a:accent2>
        <a:srgbClr val="17807E"/>
      </a:accent2>
      <a:accent3>
        <a:srgbClr val="D99614"/>
      </a:accent3>
      <a:accent4>
        <a:srgbClr val="3C8C5A"/>
      </a:accent4>
      <a:accent5>
        <a:srgbClr val="B64040"/>
      </a:accent5>
      <a:accent6>
        <a:srgbClr val="657586"/>
      </a:accent6>
      <a:hlink>
        <a:srgbClr val="0563C1"/>
      </a:hlink>
      <a:folHlink>
        <a:srgbClr val="954F72"/>
      </a:folHlink>
    </a:clrScheme>
    <a:fontScheme name="Calibri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  <a:ln w="12700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  <a:ln w="19050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2501</Words>
  <Application>Microsoft Office PowerPoint</Application>
  <PresentationFormat>Widescreen</PresentationFormat>
  <Paragraphs>517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Calibri</vt:lpstr>
      <vt:lpstr>Consolas</vt:lpstr>
      <vt:lpstr>Java Lecture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&amp; Working with Java</dc:title>
  <dc:subject>Java Programming from Fundamentals to Intermediate</dc:subject>
  <dc:creator>OpenAI Codex</dc:creator>
  <cp:keywords>Java, OOP, programming, lecture, lab</cp:keywords>
  <dc:description>Editable 73-slide Java programming lecture deck.</dc:description>
  <cp:lastModifiedBy>Yasir Ali Naich</cp:lastModifiedBy>
  <cp:revision>7</cp:revision>
  <dcterms:created xsi:type="dcterms:W3CDTF">2026-08-23T00:00:00Z</dcterms:created>
  <dcterms:modified xsi:type="dcterms:W3CDTF">2026-09-15T14:19:07Z</dcterms:modified>
</cp:coreProperties>
</file>