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91" r:id="rId29"/>
    <p:sldId id="292" r:id="rId30"/>
  </p:sldIdLst>
  <p:sldSz cx="12192000" cy="6858000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Java Lecture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defRPr sz="1800" kern="1200">
          <a:latin typeface="+mn-lt"/>
        </a:defRPr>
      </a:lvl1pPr>
    </p:titleStyle>
    <p:bodyStyle>
      <a:lvl1pPr algn="l" defTabSz="914400" rtl="0" eaLnBrk="1" latinLnBrk="0" hangingPunct="1">
        <a:defRPr sz="1800" kern="1200">
          <a:latin typeface="+mn-lt"/>
        </a:defRPr>
      </a:lvl1pPr>
    </p:bodyStyle>
    <p:otherStyle>
      <a:lvl1pPr algn="l" defTabSz="914400" rtl="0" eaLnBrk="1" latinLnBrk="0" hangingPunct="1">
        <a:defRPr sz="1800" kern="1200"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9"/>
          <p:cNvSpPr txBox="1"/>
          <p:nvPr/>
        </p:nvSpPr>
        <p:spPr>
          <a:xfrm>
            <a:off x="594360" y="594360"/>
            <a:ext cx="164592" cy="5394960"/>
          </a:xfrm>
          <a:prstGeom prst="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1051560" y="914400"/>
            <a:ext cx="9966960" cy="141732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3500" b="1">
                <a:solidFill>
                  <a:srgbClr val="FFFFFF"/>
                </a:solidFill>
                <a:latin typeface="Calibri"/>
              </a:rPr>
              <a:t>Understanding and Working with</a:t>
            </a:r>
            <a:endParaRPr lang="en-US" sz="3500">
              <a:latin typeface="Calibri"/>
            </a:endParaRPr>
          </a:p>
          <a:p>
            <a:pPr algn="l">
              <a:buNone/>
            </a:pPr>
            <a:r>
              <a:rPr lang="en-US" sz="3500" b="1">
                <a:solidFill>
                  <a:srgbClr val="FFFFFF"/>
                </a:solidFill>
                <a:latin typeface="Calibri"/>
              </a:rPr>
              <a:t>Arrays in Java</a:t>
            </a:r>
            <a:endParaRPr lang="en-US" sz="35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1051560" y="2514600"/>
            <a:ext cx="9966960" cy="5486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B8E4F4"/>
                </a:solidFill>
                <a:latin typeface="Calibri"/>
              </a:rPr>
              <a:t>User-Defined Classes and Methods</a:t>
            </a:r>
            <a:endParaRPr lang="en-US" sz="25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1051560" y="3657600"/>
            <a:ext cx="2235708" cy="77724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Arrays</a:t>
            </a:r>
            <a:endParaRPr lang="en-US" sz="1700">
              <a:latin typeface="Calibri"/>
            </a:endParaRPr>
          </a:p>
        </p:txBody>
      </p:sp>
      <p:cxnSp>
        <p:nvCxnSpPr>
          <p:cNvPr id="13" name="Connector 13"/>
          <p:cNvCxnSpPr/>
          <p:nvPr/>
        </p:nvCxnSpPr>
        <p:spPr>
          <a:xfrm>
            <a:off x="3323844" y="404622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4" name="Shape 14"/>
          <p:cNvSpPr txBox="1"/>
          <p:nvPr/>
        </p:nvSpPr>
        <p:spPr>
          <a:xfrm>
            <a:off x="3598164" y="3657600"/>
            <a:ext cx="2235708" cy="77724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Methods</a:t>
            </a:r>
            <a:endParaRPr lang="en-US" sz="17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1051560" y="4892040"/>
            <a:ext cx="9784080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1">
                <a:solidFill>
                  <a:srgbClr val="FFFFFF"/>
                </a:solidFill>
                <a:latin typeface="Calibri"/>
              </a:rPr>
              <a:t>Soban Hussain</a:t>
            </a:r>
            <a:endParaRPr lang="en-US" sz="1900">
              <a:latin typeface="Calibri"/>
            </a:endParaRPr>
          </a:p>
          <a:p>
            <a:pPr algn="l">
              <a:buNone/>
            </a:pPr>
            <a:r>
              <a:rPr lang="en-US" sz="1900" b="1">
                <a:solidFill>
                  <a:srgbClr val="FFFFFF"/>
                </a:solidFill>
                <a:latin typeface="Calibri"/>
              </a:rPr>
              <a:t>Teaching Assistant • The University of Larkano</a:t>
            </a:r>
            <a:endParaRPr lang="en-US" sz="19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1051560" y="5989320"/>
            <a:ext cx="9784080" cy="3200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500" b="0">
                <a:solidFill>
                  <a:srgbClr val="D8E4EC"/>
                </a:solidFill>
                <a:latin typeface="Calibri"/>
              </a:rPr>
              <a:t>Concept → Visual Model → Java Code → Practice</a:t>
            </a:r>
            <a:endParaRPr lang="en-US" sz="1500"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Learning Outcomes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Introduction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960120"/>
            <a:ext cx="5394960" cy="498348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146304" tIns="118872" rIns="91440" bIns="91440" anchor="t"/>
          <a:lstStyle/>
          <a:p>
            <a:pPr algn="l">
              <a:buNone/>
            </a:pPr>
            <a:r>
              <a:rPr lang="en-US" sz="2200" b="1">
                <a:solidFill>
                  <a:srgbClr val="163D63"/>
                </a:solidFill>
              </a:rPr>
              <a:t>By the end, students can:</a:t>
            </a:r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Explain why arrays are needed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Create, access, update, and traverse arrays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Solve array-based problems using loops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Write reusable methods with parameters and return values</a:t>
            </a:r>
            <a:endParaRPr lang="en-US" sz="2000"/>
          </a:p>
        </p:txBody>
      </p:sp>
      <p:sp>
        <p:nvSpPr>
          <p:cNvPr id="9" name="Shape 9"/>
          <p:cNvSpPr txBox="1"/>
          <p:nvPr/>
        </p:nvSpPr>
        <p:spPr>
          <a:xfrm>
            <a:off x="6309360" y="960120"/>
            <a:ext cx="5212080" cy="498348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146304" tIns="118872" rIns="91440" bIns="91440" anchor="t"/>
          <a:lstStyle/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Define user-created Java classes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Create and initialize objects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Place behavior inside classes</a:t>
            </a:r>
            <a:endParaRPr lang="en-US" sz="2000"/>
          </a:p>
          <a:p>
            <a:pPr marL="256032" indent="-146304" algn="l">
              <a:buChar char="•"/>
            </a:pPr>
            <a:r>
              <a:rPr lang="en-US" sz="2000">
                <a:solidFill>
                  <a:srgbClr val="203040"/>
                </a:solidFill>
                <a:latin typeface="Calibri"/>
              </a:rPr>
              <a:t>Combine arrays, methods, classes, and objects in one program</a:t>
            </a:r>
            <a:endParaRPr lang="en-US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Lecture Roadmap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Introduction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3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411480" y="1920240"/>
            <a:ext cx="1353312" cy="10972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Array</a:t>
            </a:r>
            <a:endParaRPr lang="en-US" sz="1500">
              <a:latin typeface="Calibri"/>
            </a:endParaRPr>
          </a:p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Problem</a:t>
            </a:r>
            <a:endParaRPr lang="en-US" sz="1500">
              <a:latin typeface="Calibri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1801368" y="24688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0" name="Shape 10"/>
          <p:cNvSpPr txBox="1"/>
          <p:nvPr/>
        </p:nvSpPr>
        <p:spPr>
          <a:xfrm>
            <a:off x="2075688" y="1920240"/>
            <a:ext cx="1353312" cy="109728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Array</a:t>
            </a:r>
            <a:endParaRPr lang="en-US" sz="1500">
              <a:latin typeface="Calibri"/>
            </a:endParaRPr>
          </a:p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Syntax</a:t>
            </a:r>
            <a:endParaRPr lang="en-US" sz="1500">
              <a:latin typeface="Calibri"/>
            </a:endParaRPr>
          </a:p>
        </p:txBody>
      </p:sp>
      <p:cxnSp>
        <p:nvCxnSpPr>
          <p:cNvPr id="11" name="Connector 11"/>
          <p:cNvCxnSpPr/>
          <p:nvPr/>
        </p:nvCxnSpPr>
        <p:spPr>
          <a:xfrm>
            <a:off x="3465576" y="24688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2" name="Shape 12"/>
          <p:cNvSpPr txBox="1"/>
          <p:nvPr/>
        </p:nvSpPr>
        <p:spPr>
          <a:xfrm>
            <a:off x="3739896" y="1920240"/>
            <a:ext cx="1353312" cy="109728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Algorithms</a:t>
            </a:r>
            <a:endParaRPr lang="en-US" sz="1500">
              <a:latin typeface="Calibri"/>
            </a:endParaRPr>
          </a:p>
        </p:txBody>
      </p:sp>
      <p:cxnSp>
        <p:nvCxnSpPr>
          <p:cNvPr id="13" name="Connector 13"/>
          <p:cNvCxnSpPr/>
          <p:nvPr/>
        </p:nvCxnSpPr>
        <p:spPr>
          <a:xfrm>
            <a:off x="5129784" y="24688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4" name="Shape 14"/>
          <p:cNvSpPr txBox="1"/>
          <p:nvPr/>
        </p:nvSpPr>
        <p:spPr>
          <a:xfrm>
            <a:off x="5404104" y="1920240"/>
            <a:ext cx="1353312" cy="109728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Methods</a:t>
            </a:r>
            <a:endParaRPr lang="en-US" sz="1500">
              <a:latin typeface="Calibri"/>
            </a:endParaRPr>
          </a:p>
        </p:txBody>
      </p:sp>
      <p:cxnSp>
        <p:nvCxnSpPr>
          <p:cNvPr id="15" name="Connector 15"/>
          <p:cNvCxnSpPr/>
          <p:nvPr/>
        </p:nvCxnSpPr>
        <p:spPr>
          <a:xfrm>
            <a:off x="6793992" y="24688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6" name="Shape 16"/>
          <p:cNvSpPr txBox="1"/>
          <p:nvPr/>
        </p:nvSpPr>
        <p:spPr>
          <a:xfrm>
            <a:off x="7068312" y="1920240"/>
            <a:ext cx="1353312" cy="10972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Classes</a:t>
            </a:r>
            <a:endParaRPr lang="en-US" sz="1500">
              <a:latin typeface="Calibri"/>
            </a:endParaRPr>
          </a:p>
        </p:txBody>
      </p:sp>
      <p:cxnSp>
        <p:nvCxnSpPr>
          <p:cNvPr id="17" name="Connector 17"/>
          <p:cNvCxnSpPr/>
          <p:nvPr/>
        </p:nvCxnSpPr>
        <p:spPr>
          <a:xfrm>
            <a:off x="8458200" y="24688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8" name="Shape 18"/>
          <p:cNvSpPr txBox="1"/>
          <p:nvPr/>
        </p:nvSpPr>
        <p:spPr>
          <a:xfrm>
            <a:off x="8732520" y="1920240"/>
            <a:ext cx="1353312" cy="109728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Objects</a:t>
            </a:r>
            <a:endParaRPr lang="en-US" sz="1500">
              <a:latin typeface="Calibri"/>
            </a:endParaRPr>
          </a:p>
        </p:txBody>
      </p:sp>
      <p:cxnSp>
        <p:nvCxnSpPr>
          <p:cNvPr id="19" name="Connector 19"/>
          <p:cNvCxnSpPr/>
          <p:nvPr/>
        </p:nvCxnSpPr>
        <p:spPr>
          <a:xfrm>
            <a:off x="10122408" y="246888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20" name="Shape 20"/>
          <p:cNvSpPr txBox="1"/>
          <p:nvPr/>
        </p:nvSpPr>
        <p:spPr>
          <a:xfrm>
            <a:off x="10396728" y="1920240"/>
            <a:ext cx="1353312" cy="109728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Mini</a:t>
            </a:r>
            <a:endParaRPr lang="en-US" sz="1500">
              <a:latin typeface="Calibri"/>
            </a:endParaRPr>
          </a:p>
          <a:p>
            <a:pPr algn="ctr">
              <a:buNone/>
            </a:pPr>
            <a:r>
              <a:rPr lang="en-US" sz="1500" b="1">
                <a:solidFill>
                  <a:srgbClr val="FFFFFF"/>
                </a:solidFill>
                <a:latin typeface="Calibri"/>
              </a:rPr>
              <a:t>Project</a:t>
            </a:r>
            <a:endParaRPr lang="en-US" sz="1500">
              <a:latin typeface="Calibri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777240" y="425196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We move from storing many values to modeling complete real-world entities.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The Problem Arrays Solve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4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60120"/>
            <a:ext cx="4937760" cy="4114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int mark1 = 80;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int mark2 = 75;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int mark3 = 90;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int mark4 = 65;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int mark5 = 88;</a:t>
            </a:r>
            <a:endParaRPr lang="en-US" sz="21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5897880" y="960120"/>
            <a:ext cx="5440680" cy="18288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B64040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5897880" y="960120"/>
            <a:ext cx="5440680" cy="393192"/>
          </a:xfrm>
          <a:prstGeom prst="roundRect">
            <a:avLst/>
          </a:prstGeom>
          <a:solidFill>
            <a:srgbClr val="B64040"/>
          </a:solidFill>
          <a:ln w="0">
            <a:solidFill>
              <a:srgbClr val="B64040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6007608" y="1014984"/>
            <a:ext cx="52212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The Challenge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025896" y="1463040"/>
            <a:ext cx="5184648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alibri"/>
              </a:rPr>
              <a:t>What if we need to store marks for 100 or 1,000 students?</a:t>
            </a:r>
            <a:endParaRPr lang="en-US" sz="22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5897880" y="3154680"/>
            <a:ext cx="5440680" cy="19202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5897880" y="3154680"/>
            <a:ext cx="544068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007608" y="3209544"/>
            <a:ext cx="52212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The Better Idea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025896" y="3657600"/>
            <a:ext cx="5184648" cy="13258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alibri"/>
              </a:rPr>
              <a:t>Use one meaningful name that stores many values of the same type.</a:t>
            </a:r>
            <a:endParaRPr lang="en-US" sz="2200"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What Is an Array?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5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914400"/>
            <a:ext cx="10789920" cy="6858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2500" b="1">
                <a:solidFill>
                  <a:srgbClr val="163D63"/>
                </a:solidFill>
                <a:latin typeface="Calibri"/>
              </a:rPr>
              <a:t>An array stores multiple values of the same type under one name.</a:t>
            </a:r>
            <a:endParaRPr lang="en-US" sz="2500">
              <a:latin typeface="Calibri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1828800" y="2057400"/>
            <a:ext cx="1325880" cy="96012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80</a:t>
            </a:r>
            <a:endParaRPr lang="en-US" sz="2500">
              <a:latin typeface="Calibri"/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1828800" y="3108960"/>
            <a:ext cx="13258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300" b="1">
                <a:solidFill>
                  <a:srgbClr val="657586"/>
                </a:solidFill>
                <a:latin typeface="Calibri"/>
              </a:rPr>
              <a:t>index 0</a:t>
            </a:r>
            <a:endParaRPr lang="en-US" sz="13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3493008" y="2057400"/>
            <a:ext cx="1325880" cy="96012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75</a:t>
            </a:r>
            <a:endParaRPr lang="en-US" sz="25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3493008" y="3108960"/>
            <a:ext cx="13258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300" b="1">
                <a:solidFill>
                  <a:srgbClr val="657586"/>
                </a:solidFill>
                <a:latin typeface="Calibri"/>
              </a:rPr>
              <a:t>index 1</a:t>
            </a:r>
            <a:endParaRPr lang="en-US" sz="13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5157216" y="2057400"/>
            <a:ext cx="1325880" cy="96012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90</a:t>
            </a:r>
            <a:endParaRPr lang="en-US" sz="2500">
              <a:latin typeface="Calibri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5157216" y="3108960"/>
            <a:ext cx="13258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300" b="1">
                <a:solidFill>
                  <a:srgbClr val="657586"/>
                </a:solidFill>
                <a:latin typeface="Calibri"/>
              </a:rPr>
              <a:t>index 2</a:t>
            </a:r>
            <a:endParaRPr lang="en-US" sz="13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6821424" y="2057400"/>
            <a:ext cx="1325880" cy="96012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65</a:t>
            </a:r>
            <a:endParaRPr lang="en-US" sz="25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821424" y="3108960"/>
            <a:ext cx="13258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300" b="1">
                <a:solidFill>
                  <a:srgbClr val="657586"/>
                </a:solidFill>
                <a:latin typeface="Calibri"/>
              </a:rPr>
              <a:t>index 3</a:t>
            </a:r>
            <a:endParaRPr lang="en-US" sz="13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8485632" y="2057400"/>
            <a:ext cx="1325880" cy="96012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88</a:t>
            </a:r>
            <a:endParaRPr lang="en-US" sz="2500">
              <a:latin typeface="Calibri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8485632" y="3108960"/>
            <a:ext cx="1325880" cy="3657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300" b="1">
                <a:solidFill>
                  <a:srgbClr val="657586"/>
                </a:solidFill>
                <a:latin typeface="Calibri"/>
              </a:rPr>
              <a:t>index 4</a:t>
            </a:r>
            <a:endParaRPr lang="en-US" sz="13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4251960" y="3977640"/>
            <a:ext cx="3657600" cy="731520"/>
          </a:xfrm>
          <a:prstGeom prst="roundRect">
            <a:avLst/>
          </a:prstGeom>
          <a:solidFill>
            <a:srgbClr val="163D63"/>
          </a:solidFill>
          <a:ln w="12700">
            <a:solidFill>
              <a:srgbClr val="163D63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700" b="1">
                <a:solidFill>
                  <a:srgbClr val="FFFFFF"/>
                </a:solidFill>
                <a:latin typeface="Calibri"/>
              </a:rPr>
              <a:t>int[] marks</a:t>
            </a:r>
            <a:endParaRPr lang="en-US" sz="27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777240" y="516636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One name → many related values → organized processing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Declaring and Creating Arrays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6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3429000" cy="44805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9"/>
          <p:cNvSpPr txBox="1"/>
          <p:nvPr/>
        </p:nvSpPr>
        <p:spPr>
          <a:xfrm>
            <a:off x="640080" y="914400"/>
            <a:ext cx="34290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49808" y="969264"/>
            <a:ext cx="32095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1. Declare</a:t>
            </a:r>
            <a:endParaRPr lang="en-US" sz="17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768096" y="1417320"/>
            <a:ext cx="3172968" cy="38862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int[] marks;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The variable can refer to an integer array.</a:t>
            </a:r>
            <a:endParaRPr lang="en-US" sz="20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4389120" y="914400"/>
            <a:ext cx="3429000" cy="44805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3"/>
          <p:cNvSpPr txBox="1"/>
          <p:nvPr/>
        </p:nvSpPr>
        <p:spPr>
          <a:xfrm>
            <a:off x="4389120" y="914400"/>
            <a:ext cx="342900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4498848" y="969264"/>
            <a:ext cx="32095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2. Create</a:t>
            </a:r>
            <a:endParaRPr lang="en-US" sz="17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4517136" y="1417320"/>
            <a:ext cx="3172968" cy="38862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marks = new int[5];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Memory is reserved for five integers.</a:t>
            </a:r>
            <a:endParaRPr lang="en-US" sz="20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8138160" y="914400"/>
            <a:ext cx="3429000" cy="44805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7"/>
          <p:cNvSpPr txBox="1"/>
          <p:nvPr/>
        </p:nvSpPr>
        <p:spPr>
          <a:xfrm>
            <a:off x="8138160" y="914400"/>
            <a:ext cx="342900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8247888" y="969264"/>
            <a:ext cx="32095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3. Combine</a:t>
            </a:r>
            <a:endParaRPr lang="en-US" sz="17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8266176" y="1417320"/>
            <a:ext cx="3172968" cy="38862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int[] marks = new int[5];</a:t>
            </a:r>
            <a:endParaRPr lang="en-US" sz="2000">
              <a:latin typeface="Calibri"/>
            </a:endParaRPr>
          </a:p>
          <a:p>
            <a:pPr algn="l">
              <a:buNone/>
            </a:pPr>
            <a:endParaRPr lang="en-US" sz="2000">
              <a:latin typeface="Calibri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Declaration and creation in one statement.</a:t>
            </a:r>
            <a:endParaRPr lang="en-US" sz="2000"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Array Initialization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7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960120"/>
            <a:ext cx="507492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int[] marks = {</a:t>
            </a:r>
            <a:endParaRPr lang="en-US" sz="2200">
              <a:latin typeface="Consolas"/>
            </a:endParaRPr>
          </a:p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    80, 75, 90, 65, 88</a:t>
            </a:r>
            <a:endParaRPr lang="en-US" sz="2200">
              <a:latin typeface="Consolas"/>
            </a:endParaRPr>
          </a:p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};</a:t>
            </a:r>
            <a:endParaRPr lang="en-US" sz="22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080760" y="960120"/>
            <a:ext cx="5440680" cy="2011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int[] marks = new int[5];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marks[0] = 80;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marks[1] = 75;</a:t>
            </a:r>
            <a:endParaRPr lang="en-US" sz="2000">
              <a:latin typeface="Consolas"/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685800" y="3337560"/>
            <a:ext cx="5074920" cy="16459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685800" y="3337560"/>
            <a:ext cx="507492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2"/>
          <p:cNvSpPr txBox="1"/>
          <p:nvPr/>
        </p:nvSpPr>
        <p:spPr>
          <a:xfrm>
            <a:off x="795528" y="3392424"/>
            <a:ext cx="4855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Known Values</a:t>
            </a:r>
            <a:endParaRPr lang="en-US" sz="17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813816" y="3840480"/>
            <a:ext cx="4818888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Use an initializer when values are already available.</a:t>
            </a:r>
            <a:endParaRPr lang="en-US" sz="1900">
              <a:latin typeface="Calibri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6080760" y="3337560"/>
            <a:ext cx="5440680" cy="16459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080760" y="3337560"/>
            <a:ext cx="544068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6"/>
          <p:cNvSpPr txBox="1"/>
          <p:nvPr/>
        </p:nvSpPr>
        <p:spPr>
          <a:xfrm>
            <a:off x="6190488" y="3392424"/>
            <a:ext cx="52212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Values Arrive Later</a:t>
            </a:r>
            <a:endParaRPr lang="en-US" sz="17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6208776" y="3840480"/>
            <a:ext cx="5184648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Create the array first, then assign or input each value.</a:t>
            </a:r>
            <a:endParaRPr lang="en-US" sz="1900"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Indexes: The Address of Each Value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8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1097280" y="1828800"/>
            <a:ext cx="2148840" cy="96012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</a:rPr>
              <a:t>Ali</a:t>
            </a:r>
            <a:endParaRPr lang="en-US" sz="2200">
              <a:latin typeface="Calibri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1097280" y="2926080"/>
            <a:ext cx="21488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500" b="1">
                <a:solidFill>
                  <a:srgbClr val="163D63"/>
                </a:solidFill>
                <a:latin typeface="Calibri"/>
              </a:rPr>
              <a:t>students[0]</a:t>
            </a:r>
            <a:endParaRPr lang="en-US" sz="1500">
              <a:latin typeface="Calibri"/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3703320" y="1828800"/>
            <a:ext cx="2148840" cy="96012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</a:rPr>
              <a:t>Sara</a:t>
            </a:r>
            <a:endParaRPr lang="en-US" sz="22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3703320" y="2926080"/>
            <a:ext cx="21488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500" b="1">
                <a:solidFill>
                  <a:srgbClr val="163D63"/>
                </a:solidFill>
                <a:latin typeface="Calibri"/>
              </a:rPr>
              <a:t>students[1]</a:t>
            </a:r>
            <a:endParaRPr lang="en-US" sz="15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309360" y="1828800"/>
            <a:ext cx="2148840" cy="96012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</a:rPr>
              <a:t>Ahmed</a:t>
            </a:r>
            <a:endParaRPr lang="en-US" sz="22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6309360" y="2926080"/>
            <a:ext cx="21488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500" b="1">
                <a:solidFill>
                  <a:srgbClr val="163D63"/>
                </a:solidFill>
                <a:latin typeface="Calibri"/>
              </a:rPr>
              <a:t>students[2]</a:t>
            </a:r>
            <a:endParaRPr lang="en-US" sz="1500">
              <a:latin typeface="Calibri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8915400" y="1828800"/>
            <a:ext cx="2148840" cy="96012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</a:rPr>
              <a:t>Hina</a:t>
            </a:r>
            <a:endParaRPr lang="en-US" sz="22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8915400" y="2926080"/>
            <a:ext cx="2148840" cy="4572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500" b="1">
                <a:solidFill>
                  <a:srgbClr val="163D63"/>
                </a:solidFill>
                <a:latin typeface="Calibri"/>
              </a:rPr>
              <a:t>students[3]</a:t>
            </a:r>
            <a:endParaRPr lang="en-US" sz="15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2103120" y="3977640"/>
            <a:ext cx="7955280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2300" b="1">
                <a:solidFill>
                  <a:srgbClr val="163D63"/>
                </a:solidFill>
                <a:latin typeface="Calibri"/>
              </a:rPr>
              <a:t>First index = 0     •     Last index = length - 1</a:t>
            </a:r>
            <a:endParaRPr lang="en-US" sz="23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777240" y="516636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B64040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Java array indexing always begins at zero.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Accessing and Updating Values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9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1005840"/>
            <a:ext cx="5257800" cy="33375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int[] marks = {80, 75, 90};</a:t>
            </a:r>
            <a:endParaRPr lang="en-US" sz="2100">
              <a:latin typeface="Consolas"/>
            </a:endParaRPr>
          </a:p>
          <a:p>
            <a:pPr algn="l">
              <a:buNone/>
            </a:pP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System.out.println(marks[0]);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System.out.println(marks[2]);</a:t>
            </a:r>
            <a:endParaRPr lang="en-US" sz="2100">
              <a:latin typeface="Consolas"/>
            </a:endParaRPr>
          </a:p>
          <a:p>
            <a:pPr algn="l">
              <a:buNone/>
            </a:pP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marks[1] = 85;</a:t>
            </a:r>
            <a:endParaRPr lang="en-US" sz="21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263640" y="1005840"/>
            <a:ext cx="507492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263640" y="1005840"/>
            <a:ext cx="507492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6373368" y="1060704"/>
            <a:ext cx="4855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Read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391656" y="1508760"/>
            <a:ext cx="481888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marks[0] gives the first value: 80</a:t>
            </a:r>
            <a:endParaRPr lang="en-US" sz="20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6263640" y="2834640"/>
            <a:ext cx="507492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263640" y="2834640"/>
            <a:ext cx="507492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373368" y="2889504"/>
            <a:ext cx="4855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Update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391656" y="3337560"/>
            <a:ext cx="481888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marks[1] = 85 replaces 75 with 85</a:t>
            </a:r>
            <a:endParaRPr lang="en-US" sz="20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777240" y="498348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Array type controls what values can be stored.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The length Property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10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77240" y="1188720"/>
            <a:ext cx="5029200" cy="21945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int[] marks = {80, 75, 90, 65};</a:t>
            </a:r>
            <a:endParaRPr lang="en-US" sz="2200">
              <a:latin typeface="Consolas"/>
            </a:endParaRPr>
          </a:p>
          <a:p>
            <a:pPr algn="l">
              <a:buNone/>
            </a:pPr>
            <a:endParaRPr lang="en-US" sz="2200">
              <a:latin typeface="Consolas"/>
            </a:endParaRPr>
          </a:p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System.out.println(marks.length);</a:t>
            </a:r>
            <a:endParaRPr lang="en-US" sz="22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537960" y="1234440"/>
            <a:ext cx="4389120" cy="1097280"/>
          </a:xfrm>
          <a:prstGeom prst="roundRect">
            <a:avLst/>
          </a:prstGeom>
          <a:solidFill>
            <a:srgbClr val="163D63"/>
          </a:solidFill>
          <a:ln w="12700">
            <a:solidFill>
              <a:srgbClr val="163D63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900" b="1">
                <a:solidFill>
                  <a:srgbClr val="FFFFFF"/>
                </a:solidFill>
                <a:latin typeface="Calibri"/>
              </a:rPr>
              <a:t>marks.length</a:t>
            </a:r>
            <a:endParaRPr lang="en-US" sz="2900">
              <a:latin typeface="Calibri"/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6537960" y="2606040"/>
            <a:ext cx="4389120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2700" b="1">
                <a:solidFill>
                  <a:srgbClr val="17807E"/>
                </a:solidFill>
                <a:latin typeface="Calibri"/>
              </a:rPr>
              <a:t>returns 4</a:t>
            </a:r>
            <a:endParaRPr lang="en-US" sz="27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777240" y="466344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Use length instead of hard-coding the number of elements.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Traversing an Array with for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11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6035040" cy="4297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int[] marks = {80, 75, 90, 65};</a:t>
            </a:r>
            <a:endParaRPr lang="en-US" sz="2100">
              <a:latin typeface="Consolas"/>
            </a:endParaRPr>
          </a:p>
          <a:p>
            <a:pPr algn="l">
              <a:buNone/>
            </a:pP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for (int i = 0; i &lt; marks.length; i++) {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    System.out.println(marks[i]);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}</a:t>
            </a:r>
            <a:endParaRPr lang="en-US" sz="21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086600" y="1417320"/>
            <a:ext cx="583387" cy="77724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i = 0</a:t>
            </a:r>
            <a:endParaRPr lang="en-US" sz="1200">
              <a:latin typeface="Calibri"/>
            </a:endParaRPr>
          </a:p>
        </p:txBody>
      </p:sp>
      <p:cxnSp>
        <p:nvCxnSpPr>
          <p:cNvPr id="10" name="Connector 10"/>
          <p:cNvCxnSpPr/>
          <p:nvPr/>
        </p:nvCxnSpPr>
        <p:spPr>
          <a:xfrm>
            <a:off x="7706563" y="18059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1" name="Shape 11"/>
          <p:cNvSpPr txBox="1"/>
          <p:nvPr/>
        </p:nvSpPr>
        <p:spPr>
          <a:xfrm>
            <a:off x="7980883" y="1417320"/>
            <a:ext cx="583387" cy="77724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Check</a:t>
            </a:r>
            <a:endParaRPr lang="en-US" sz="1200">
              <a:latin typeface="Calibri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8600846" y="18059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3" name="Shape 13"/>
          <p:cNvSpPr txBox="1"/>
          <p:nvPr/>
        </p:nvSpPr>
        <p:spPr>
          <a:xfrm>
            <a:off x="8875166" y="1417320"/>
            <a:ext cx="583387" cy="77724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Use marks[i]</a:t>
            </a:r>
            <a:endParaRPr lang="en-US" sz="1200">
              <a:latin typeface="Calibri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9495130" y="18059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5" name="Shape 15"/>
          <p:cNvSpPr txBox="1"/>
          <p:nvPr/>
        </p:nvSpPr>
        <p:spPr>
          <a:xfrm>
            <a:off x="9769450" y="1417320"/>
            <a:ext cx="583387" cy="77724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i++</a:t>
            </a:r>
            <a:endParaRPr lang="en-US" sz="1200">
              <a:latin typeface="Calibri"/>
            </a:endParaRPr>
          </a:p>
        </p:txBody>
      </p:sp>
      <p:cxnSp>
        <p:nvCxnSpPr>
          <p:cNvPr id="16" name="Connector 16"/>
          <p:cNvCxnSpPr/>
          <p:nvPr/>
        </p:nvCxnSpPr>
        <p:spPr>
          <a:xfrm>
            <a:off x="10389413" y="18059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7" name="Shape 17"/>
          <p:cNvSpPr txBox="1"/>
          <p:nvPr/>
        </p:nvSpPr>
        <p:spPr>
          <a:xfrm>
            <a:off x="10663733" y="1417320"/>
            <a:ext cx="583387" cy="77724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Repeat</a:t>
            </a:r>
            <a:endParaRPr lang="en-US" sz="1200">
              <a:latin typeface="Calibri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7086600" y="3017520"/>
            <a:ext cx="416052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9"/>
          <p:cNvSpPr txBox="1"/>
          <p:nvPr/>
        </p:nvSpPr>
        <p:spPr>
          <a:xfrm>
            <a:off x="7086600" y="3017520"/>
            <a:ext cx="416052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20"/>
          <p:cNvSpPr txBox="1"/>
          <p:nvPr/>
        </p:nvSpPr>
        <p:spPr>
          <a:xfrm>
            <a:off x="7196328" y="3072384"/>
            <a:ext cx="39410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Why use i?</a:t>
            </a:r>
            <a:endParaRPr lang="en-US" sz="1700">
              <a:latin typeface="Calibri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7214616" y="3520440"/>
            <a:ext cx="390448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The variable i represents the current index.</a:t>
            </a:r>
            <a:endParaRPr lang="en-US" sz="1900"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Enhanced for Loop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12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31520" y="1051560"/>
            <a:ext cx="5212080" cy="31089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int[] marks = {80, 75, 90, 65};</a:t>
            </a:r>
            <a:endParaRPr lang="en-US" sz="2200">
              <a:latin typeface="Consolas"/>
            </a:endParaRPr>
          </a:p>
          <a:p>
            <a:pPr algn="l">
              <a:buNone/>
            </a:pPr>
            <a:endParaRPr lang="en-US" sz="2200">
              <a:latin typeface="Consolas"/>
            </a:endParaRPr>
          </a:p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for (int mark : marks) {</a:t>
            </a:r>
            <a:endParaRPr lang="en-US" sz="2200">
              <a:latin typeface="Consolas"/>
            </a:endParaRPr>
          </a:p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    System.out.println(mark);</a:t>
            </a:r>
            <a:endParaRPr lang="en-US" sz="2200">
              <a:latin typeface="Consolas"/>
            </a:endParaRPr>
          </a:p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}</a:t>
            </a:r>
            <a:endParaRPr lang="en-US" sz="22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263640" y="1051560"/>
            <a:ext cx="5074920" cy="16459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263640" y="1051560"/>
            <a:ext cx="507492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6373368" y="1106424"/>
            <a:ext cx="4855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Read as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391656" y="1554480"/>
            <a:ext cx="4818888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For each mark in marks, print the mark.</a:t>
            </a:r>
            <a:endParaRPr lang="en-US" sz="21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6263640" y="3017520"/>
            <a:ext cx="5074920" cy="16459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263640" y="3017520"/>
            <a:ext cx="507492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373368" y="3072384"/>
            <a:ext cx="4855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Best use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391656" y="3520440"/>
            <a:ext cx="4818888" cy="10515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Use it when you need values but do not need indexes.</a:t>
            </a:r>
            <a:endParaRPr lang="en-US" sz="2000"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Taking Array Input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13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868680"/>
            <a:ext cx="6629400" cy="5074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Scanner input = new Scanner(System.in);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int[] marks = new int[5];</a:t>
            </a:r>
            <a:endParaRPr lang="en-US" sz="1800">
              <a:latin typeface="Consolas"/>
            </a:endParaRPr>
          </a:p>
          <a:p>
            <a:pPr algn="l">
              <a:buNone/>
            </a:pP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for (int i = 0; i &lt; marks.length; i++) {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System.out.print("Enter mark " + (i + 1) + ": ");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marks[i] = input.nextInt();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}</a:t>
            </a:r>
            <a:endParaRPr lang="en-US" sz="18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635240" y="1508760"/>
            <a:ext cx="704088" cy="82296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Prompt</a:t>
            </a:r>
            <a:endParaRPr lang="en-US" sz="1200">
              <a:latin typeface="Calibri"/>
            </a:endParaRPr>
          </a:p>
        </p:txBody>
      </p:sp>
      <p:cxnSp>
        <p:nvCxnSpPr>
          <p:cNvPr id="10" name="Connector 10"/>
          <p:cNvCxnSpPr/>
          <p:nvPr/>
        </p:nvCxnSpPr>
        <p:spPr>
          <a:xfrm>
            <a:off x="8375904" y="19202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1" name="Shape 11"/>
          <p:cNvSpPr txBox="1"/>
          <p:nvPr/>
        </p:nvSpPr>
        <p:spPr>
          <a:xfrm>
            <a:off x="8650224" y="1508760"/>
            <a:ext cx="704088" cy="82296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Read</a:t>
            </a:r>
            <a:endParaRPr lang="en-US" sz="1200">
              <a:latin typeface="Calibri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9390888" y="19202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3" name="Shape 13"/>
          <p:cNvSpPr txBox="1"/>
          <p:nvPr/>
        </p:nvSpPr>
        <p:spPr>
          <a:xfrm>
            <a:off x="9665208" y="1508760"/>
            <a:ext cx="704088" cy="82296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Store</a:t>
            </a:r>
            <a:endParaRPr lang="en-US" sz="1200">
              <a:latin typeface="Calibri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10405872" y="19202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5" name="Shape 15"/>
          <p:cNvSpPr txBox="1"/>
          <p:nvPr/>
        </p:nvSpPr>
        <p:spPr>
          <a:xfrm>
            <a:off x="10680192" y="1508760"/>
            <a:ext cx="704088" cy="82296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200" b="1">
                <a:solidFill>
                  <a:srgbClr val="FFFFFF"/>
                </a:solidFill>
                <a:latin typeface="Calibri"/>
              </a:rPr>
              <a:t>Next index</a:t>
            </a:r>
            <a:endParaRPr lang="en-US" sz="12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635240" y="2880360"/>
            <a:ext cx="3749040" cy="1600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7"/>
          <p:cNvSpPr txBox="1"/>
          <p:nvPr/>
        </p:nvSpPr>
        <p:spPr>
          <a:xfrm>
            <a:off x="7635240" y="2880360"/>
            <a:ext cx="374904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7744968" y="2935224"/>
            <a:ext cx="35295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Important</a:t>
            </a:r>
            <a:endParaRPr lang="en-US" sz="17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7763256" y="3383280"/>
            <a:ext cx="3493008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0">
                <a:solidFill>
                  <a:srgbClr val="203040"/>
                </a:solidFill>
                <a:latin typeface="Calibri"/>
              </a:rPr>
              <a:t>i is the array index; i + 1 is the human-friendly item number.</a:t>
            </a:r>
            <a:endParaRPr lang="en-US" sz="1700"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Array Algorithm: Total and Average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14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6126480" cy="44805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int total = 0;</a:t>
            </a:r>
            <a:endParaRPr lang="en-US" sz="2000">
              <a:latin typeface="Consolas"/>
            </a:endParaRPr>
          </a:p>
          <a:p>
            <a:pPr algn="l">
              <a:buNone/>
            </a:pP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for (int mark : marks) {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    total += mark;</a:t>
            </a: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}</a:t>
            </a:r>
            <a:endParaRPr lang="en-US" sz="2000">
              <a:latin typeface="Consolas"/>
            </a:endParaRPr>
          </a:p>
          <a:p>
            <a:pPr algn="l">
              <a:buNone/>
            </a:pPr>
            <a:endParaRPr lang="en-US" sz="2000">
              <a:latin typeface="Consolas"/>
            </a:endParaRPr>
          </a:p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onsolas"/>
              </a:rPr>
              <a:t>double average = (double) total / marks.length;</a:t>
            </a:r>
            <a:endParaRPr lang="en-US" sz="20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132320" y="914400"/>
            <a:ext cx="4160520" cy="155448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132320" y="914400"/>
            <a:ext cx="416052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242048" y="969264"/>
            <a:ext cx="39410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Accumulator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260336" y="1417320"/>
            <a:ext cx="3904488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total begins at zero and grows after every value.</a:t>
            </a:r>
            <a:endParaRPr lang="en-US" sz="19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132320" y="2834640"/>
            <a:ext cx="4160520" cy="155448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7132320" y="2834640"/>
            <a:ext cx="416052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7242048" y="2889504"/>
            <a:ext cx="39410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Average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260336" y="3337560"/>
            <a:ext cx="3904488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Cast to double to preserve the decimal result.</a:t>
            </a:r>
            <a:endParaRPr lang="en-US" sz="1900"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Array Algorithm: Maximum and Minimum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15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868680"/>
            <a:ext cx="6400800" cy="5074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int maximum = marks[0];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int minimum = marks[0];</a:t>
            </a:r>
            <a:endParaRPr lang="en-US" sz="1900">
              <a:latin typeface="Consolas"/>
            </a:endParaRPr>
          </a:p>
          <a:p>
            <a:pPr algn="l">
              <a:buNone/>
            </a:pP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for (int mark : marks) {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if (mark &gt; maximum) maximum = mark;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if (mark &lt; minimum) minimum = mark;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}</a:t>
            </a:r>
            <a:endParaRPr lang="en-US" sz="19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360920" y="1005840"/>
            <a:ext cx="3931920" cy="1600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360920" y="1005840"/>
            <a:ext cx="393192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470648" y="1060704"/>
            <a:ext cx="3712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Start Correctly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488936" y="1508760"/>
            <a:ext cx="3675888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Use the first array value as the initial maximum and minimum.</a:t>
            </a:r>
            <a:endParaRPr lang="en-US" sz="18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360920" y="2971800"/>
            <a:ext cx="3931920" cy="16002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7360920" y="2971800"/>
            <a:ext cx="393192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7470648" y="3026664"/>
            <a:ext cx="3712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Pattern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488936" y="3474720"/>
            <a:ext cx="3675888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Compare → update → continue</a:t>
            </a:r>
            <a:endParaRPr lang="en-US" sz="2100"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Searching an Array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16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6400800" cy="47548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int target = 90;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boolean found = false;</a:t>
            </a:r>
            <a:endParaRPr lang="en-US" sz="1800">
              <a:latin typeface="Consolas"/>
            </a:endParaRPr>
          </a:p>
          <a:p>
            <a:pPr algn="l">
              <a:buNone/>
            </a:pP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for (int mark : marks) {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if (mark == target) {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    found = true;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    break;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}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}</a:t>
            </a:r>
            <a:endParaRPr lang="en-US" sz="18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360920" y="1554480"/>
            <a:ext cx="546811" cy="77724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Start</a:t>
            </a:r>
            <a:endParaRPr lang="en-US" sz="1100">
              <a:latin typeface="Calibri"/>
            </a:endParaRPr>
          </a:p>
        </p:txBody>
      </p:sp>
      <p:cxnSp>
        <p:nvCxnSpPr>
          <p:cNvPr id="10" name="Connector 10"/>
          <p:cNvCxnSpPr/>
          <p:nvPr/>
        </p:nvCxnSpPr>
        <p:spPr>
          <a:xfrm>
            <a:off x="7944307" y="19431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1" name="Shape 11"/>
          <p:cNvSpPr txBox="1"/>
          <p:nvPr/>
        </p:nvSpPr>
        <p:spPr>
          <a:xfrm>
            <a:off x="8218627" y="1554480"/>
            <a:ext cx="546811" cy="77724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Compare</a:t>
            </a:r>
            <a:endParaRPr lang="en-US" sz="1100">
              <a:latin typeface="Calibri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8802014" y="19431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3" name="Shape 13"/>
          <p:cNvSpPr txBox="1"/>
          <p:nvPr/>
        </p:nvSpPr>
        <p:spPr>
          <a:xfrm>
            <a:off x="9076334" y="1554480"/>
            <a:ext cx="546811" cy="77724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Match?</a:t>
            </a:r>
            <a:endParaRPr lang="en-US" sz="1100">
              <a:latin typeface="Calibri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9659722" y="19431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5" name="Shape 15"/>
          <p:cNvSpPr txBox="1"/>
          <p:nvPr/>
        </p:nvSpPr>
        <p:spPr>
          <a:xfrm>
            <a:off x="9934042" y="1554480"/>
            <a:ext cx="546811" cy="77724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found = true</a:t>
            </a:r>
            <a:endParaRPr lang="en-US" sz="1100">
              <a:latin typeface="Calibri"/>
            </a:endParaRPr>
          </a:p>
        </p:txBody>
      </p:sp>
      <p:cxnSp>
        <p:nvCxnSpPr>
          <p:cNvPr id="16" name="Connector 16"/>
          <p:cNvCxnSpPr/>
          <p:nvPr/>
        </p:nvCxnSpPr>
        <p:spPr>
          <a:xfrm>
            <a:off x="10517429" y="194310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7" name="Shape 17"/>
          <p:cNvSpPr txBox="1"/>
          <p:nvPr/>
        </p:nvSpPr>
        <p:spPr>
          <a:xfrm>
            <a:off x="10791749" y="1554480"/>
            <a:ext cx="546811" cy="77724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100" b="1">
                <a:solidFill>
                  <a:srgbClr val="FFFFFF"/>
                </a:solidFill>
                <a:latin typeface="Calibri"/>
              </a:rPr>
              <a:t>Stop</a:t>
            </a:r>
            <a:endParaRPr lang="en-US" sz="1100">
              <a:latin typeface="Calibri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7360920" y="3063240"/>
            <a:ext cx="397764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9"/>
          <p:cNvSpPr txBox="1"/>
          <p:nvPr/>
        </p:nvSpPr>
        <p:spPr>
          <a:xfrm>
            <a:off x="7360920" y="3063240"/>
            <a:ext cx="397764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0" name="Shape 20"/>
          <p:cNvSpPr txBox="1"/>
          <p:nvPr/>
        </p:nvSpPr>
        <p:spPr>
          <a:xfrm>
            <a:off x="7470648" y="3118104"/>
            <a:ext cx="37581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Linear Search</a:t>
            </a:r>
            <a:endParaRPr lang="en-US" sz="1700">
              <a:latin typeface="Calibri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7488936" y="3566160"/>
            <a:ext cx="372160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Values are checked one by one until a match is found.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Common Array Errors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17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960120"/>
            <a:ext cx="3520440" cy="44348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B64040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9" name="Shape 9"/>
          <p:cNvSpPr txBox="1"/>
          <p:nvPr/>
        </p:nvSpPr>
        <p:spPr>
          <a:xfrm>
            <a:off x="594360" y="960120"/>
            <a:ext cx="3520440" cy="393192"/>
          </a:xfrm>
          <a:prstGeom prst="roundRect">
            <a:avLst/>
          </a:prstGeom>
          <a:solidFill>
            <a:srgbClr val="B64040"/>
          </a:solidFill>
          <a:ln w="0">
            <a:solidFill>
              <a:srgbClr val="B64040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04088" y="1014984"/>
            <a:ext cx="33009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Wrong Index</a:t>
            </a:r>
            <a:endParaRPr lang="en-US" sz="17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722376" y="1463040"/>
            <a:ext cx="3264408" cy="38404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marks[5]</a:t>
            </a:r>
            <a:endParaRPr lang="en-US" sz="1900">
              <a:latin typeface="Calibri"/>
            </a:endParaRPr>
          </a:p>
          <a:p>
            <a:pPr algn="l">
              <a:buNone/>
            </a:pPr>
            <a:endParaRPr lang="en-US" sz="1900">
              <a:latin typeface="Calibri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Invalid when the array length is 5. Valid indexes are 0–4.</a:t>
            </a:r>
            <a:endParaRPr lang="en-US" sz="19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4343400" y="960120"/>
            <a:ext cx="3520440" cy="44348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3" name="Shape 13"/>
          <p:cNvSpPr txBox="1"/>
          <p:nvPr/>
        </p:nvSpPr>
        <p:spPr>
          <a:xfrm>
            <a:off x="4343400" y="960120"/>
            <a:ext cx="352044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4453128" y="1014984"/>
            <a:ext cx="33009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Wrong Boundary</a:t>
            </a:r>
            <a:endParaRPr lang="en-US" sz="17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4471416" y="1463040"/>
            <a:ext cx="3264408" cy="38404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i &lt;= marks.length</a:t>
            </a:r>
            <a:endParaRPr lang="en-US" sz="1900">
              <a:latin typeface="Calibri"/>
            </a:endParaRPr>
          </a:p>
          <a:p>
            <a:pPr algn="l">
              <a:buNone/>
            </a:pPr>
            <a:endParaRPr lang="en-US" sz="1900">
              <a:latin typeface="Calibri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This eventually reaches an invalid index.</a:t>
            </a:r>
            <a:endParaRPr lang="en-US" sz="19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8092440" y="960120"/>
            <a:ext cx="3520440" cy="44348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7"/>
          <p:cNvSpPr txBox="1"/>
          <p:nvPr/>
        </p:nvSpPr>
        <p:spPr>
          <a:xfrm>
            <a:off x="8092440" y="960120"/>
            <a:ext cx="352044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8202168" y="1014984"/>
            <a:ext cx="33009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Uninitialized Reference</a:t>
            </a:r>
            <a:endParaRPr lang="en-US" sz="17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8220456" y="1463040"/>
            <a:ext cx="3264408" cy="38404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int[] marks = null;</a:t>
            </a:r>
            <a:endParaRPr lang="en-US" sz="1800">
              <a:latin typeface="Calibri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marks[0] = 80;</a:t>
            </a:r>
            <a:endParaRPr lang="en-US" sz="1800">
              <a:latin typeface="Calibri"/>
            </a:endParaRPr>
          </a:p>
          <a:p>
            <a:pPr algn="l">
              <a:buNone/>
            </a:pPr>
            <a:endParaRPr lang="en-US" sz="1800">
              <a:latin typeface="Calibri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No array object exists.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Two-Dimensional Arrays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18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914400"/>
            <a:ext cx="4206240" cy="5943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300" b="1">
                <a:solidFill>
                  <a:srgbClr val="163D63"/>
                </a:solidFill>
                <a:latin typeface="Calibri"/>
              </a:rPr>
              <a:t>A 2D array represents rows and columns.</a:t>
            </a:r>
            <a:endParaRPr lang="en-US" sz="2300">
              <a:latin typeface="Calibri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1097280" y="1828800"/>
            <a:ext cx="1005840" cy="6400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80</a:t>
            </a:r>
            <a:endParaRPr lang="en-US" sz="2000">
              <a:latin typeface="Calibri"/>
            </a:endParaRPr>
          </a:p>
        </p:txBody>
      </p:sp>
      <p:sp>
        <p:nvSpPr>
          <p:cNvPr id="10" name="Shape 10"/>
          <p:cNvSpPr txBox="1"/>
          <p:nvPr/>
        </p:nvSpPr>
        <p:spPr>
          <a:xfrm>
            <a:off x="2331720" y="1828800"/>
            <a:ext cx="1005840" cy="6400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75</a:t>
            </a:r>
            <a:endParaRPr lang="en-US" sz="2000">
              <a:latin typeface="Calibri"/>
            </a:endParaRPr>
          </a:p>
        </p:txBody>
      </p:sp>
      <p:sp>
        <p:nvSpPr>
          <p:cNvPr id="11" name="Shape 11"/>
          <p:cNvSpPr txBox="1"/>
          <p:nvPr/>
        </p:nvSpPr>
        <p:spPr>
          <a:xfrm>
            <a:off x="3566160" y="1828800"/>
            <a:ext cx="1005840" cy="6400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90</a:t>
            </a:r>
            <a:endParaRPr lang="en-US" sz="20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1097280" y="2697480"/>
            <a:ext cx="1005840" cy="64008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65</a:t>
            </a:r>
            <a:endParaRPr lang="en-US" sz="20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2331720" y="2697480"/>
            <a:ext cx="1005840" cy="64008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88</a:t>
            </a:r>
            <a:endParaRPr lang="en-US" sz="2000">
              <a:latin typeface="Calibri"/>
            </a:endParaRPr>
          </a:p>
        </p:txBody>
      </p:sp>
      <p:sp>
        <p:nvSpPr>
          <p:cNvPr id="14" name="Shape 14"/>
          <p:cNvSpPr txBox="1"/>
          <p:nvPr/>
        </p:nvSpPr>
        <p:spPr>
          <a:xfrm>
            <a:off x="3566160" y="2697480"/>
            <a:ext cx="1005840" cy="64008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72</a:t>
            </a:r>
            <a:endParaRPr lang="en-US" sz="2000">
              <a:latin typeface="Calibri"/>
            </a:endParaRPr>
          </a:p>
        </p:txBody>
      </p:sp>
      <p:sp>
        <p:nvSpPr>
          <p:cNvPr id="15" name="Shape 15"/>
          <p:cNvSpPr txBox="1"/>
          <p:nvPr/>
        </p:nvSpPr>
        <p:spPr>
          <a:xfrm>
            <a:off x="1097280" y="3566160"/>
            <a:ext cx="1005840" cy="6400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91</a:t>
            </a:r>
            <a:endParaRPr lang="en-US" sz="20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2331720" y="3566160"/>
            <a:ext cx="1005840" cy="6400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84</a:t>
            </a:r>
            <a:endParaRPr lang="en-US" sz="20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3566160" y="3566160"/>
            <a:ext cx="1005840" cy="64008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FFFFF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79</a:t>
            </a:r>
            <a:endParaRPr lang="en-US" sz="2000">
              <a:latin typeface="Calibri"/>
            </a:endParaRPr>
          </a:p>
        </p:txBody>
      </p:sp>
      <p:sp>
        <p:nvSpPr>
          <p:cNvPr id="18" name="Shape 18"/>
          <p:cNvSpPr txBox="1"/>
          <p:nvPr/>
        </p:nvSpPr>
        <p:spPr>
          <a:xfrm>
            <a:off x="5486400" y="1143000"/>
            <a:ext cx="5669280" cy="34747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int[][] marks = {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{80, 75, 90},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{65, 88, 72},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{91, 84, 79}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};</a:t>
            </a:r>
            <a:endParaRPr lang="en-US" sz="1900">
              <a:latin typeface="Consolas"/>
            </a:endParaRPr>
          </a:p>
          <a:p>
            <a:pPr algn="l">
              <a:buNone/>
            </a:pP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System.out.println(marks[1][2]);</a:t>
            </a:r>
            <a:endParaRPr lang="en-US" sz="1900">
              <a:latin typeface="Consolas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777240" y="5120640"/>
            <a:ext cx="10652760" cy="621792"/>
          </a:xfrm>
          <a:prstGeom prst="roundRect">
            <a:avLst/>
          </a:prstGeom>
          <a:solidFill>
            <a:srgbClr val="FFF6E5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800" b="1">
                <a:solidFill>
                  <a:srgbClr val="203040"/>
                </a:solidFill>
                <a:latin typeface="Calibri"/>
              </a:rPr>
              <a:t>marks[row][column] identifies one cell.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Traversing a 2D Array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1 • Arrays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19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960120"/>
            <a:ext cx="621792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for (int row = 0; row &lt; marks.length; row++) {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for (int col = 0; col &lt; marks[row].length; col++) {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    System.out.print(marks[row][col] + " ");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}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System.out.println();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}</a:t>
            </a:r>
            <a:endParaRPr lang="en-US" sz="18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269480" y="960120"/>
            <a:ext cx="3931920" cy="16916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269480" y="960120"/>
            <a:ext cx="393192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379208" y="1014984"/>
            <a:ext cx="3712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Outer Loop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397496" y="1463040"/>
            <a:ext cx="3675888" cy="10972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Moves through the rows.</a:t>
            </a:r>
            <a:endParaRPr lang="en-US" sz="21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269480" y="2971800"/>
            <a:ext cx="3931920" cy="16916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7269480" y="2971800"/>
            <a:ext cx="393192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7379208" y="3026664"/>
            <a:ext cx="371246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Inner Loop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397496" y="3474720"/>
            <a:ext cx="3675888" cy="10972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Moves through columns inside the current row.</a:t>
            </a:r>
            <a:endParaRPr lang="en-US" sz="2000"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Why Methods?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2 • Methods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20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1005840"/>
            <a:ext cx="2743200" cy="777240"/>
          </a:xfrm>
          <a:prstGeom prst="roundRect">
            <a:avLst/>
          </a:prstGeom>
          <a:solidFill>
            <a:srgbClr val="163D63"/>
          </a:solidFill>
          <a:ln w="12700">
            <a:solidFill>
              <a:srgbClr val="163D63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700" b="1">
                <a:solidFill>
                  <a:srgbClr val="FFFFFF"/>
                </a:solidFill>
                <a:latin typeface="Calibri"/>
              </a:rPr>
              <a:t>main()</a:t>
            </a:r>
            <a:endParaRPr lang="en-US" sz="2700">
              <a:latin typeface="Calibri"/>
            </a:endParaRPr>
          </a:p>
        </p:txBody>
      </p:sp>
      <p:cxnSp>
        <p:nvCxnSpPr>
          <p:cNvPr id="9" name="Connector 9"/>
          <p:cNvCxnSpPr/>
          <p:nvPr/>
        </p:nvCxnSpPr>
        <p:spPr>
          <a:xfrm flipV="1">
            <a:off x="3474720" y="1307592"/>
            <a:ext cx="914400" cy="109728"/>
          </a:xfrm>
          <a:prstGeom prst="line">
            <a:avLst/>
          </a:prstGeom>
          <a:ln w="19050">
            <a:solidFill>
              <a:srgbClr val="657586"/>
            </a:solidFill>
            <a:tailEnd type="none"/>
          </a:ln>
        </p:spPr>
      </p:cxnSp>
      <p:sp>
        <p:nvSpPr>
          <p:cNvPr id="10" name="Shape 10"/>
          <p:cNvSpPr txBox="1"/>
          <p:nvPr/>
        </p:nvSpPr>
        <p:spPr>
          <a:xfrm>
            <a:off x="4389120" y="914400"/>
            <a:ext cx="2926080" cy="777240"/>
          </a:xfrm>
          <a:prstGeom prst="roundRect">
            <a:avLst/>
          </a:prstGeom>
          <a:solidFill>
            <a:srgbClr val="246A9B"/>
          </a:solidFill>
          <a:ln w="12700">
            <a:noFill/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Calibri"/>
              </a:rPr>
              <a:t>inputMarks()</a:t>
            </a:r>
            <a:endParaRPr lang="en-US" sz="1900">
              <a:latin typeface="Calibri"/>
            </a:endParaRPr>
          </a:p>
        </p:txBody>
      </p:sp>
      <p:cxnSp>
        <p:nvCxnSpPr>
          <p:cNvPr id="11" name="Connector 11"/>
          <p:cNvCxnSpPr/>
          <p:nvPr/>
        </p:nvCxnSpPr>
        <p:spPr>
          <a:xfrm>
            <a:off x="3474720" y="1417320"/>
            <a:ext cx="914400" cy="1078992"/>
          </a:xfrm>
          <a:prstGeom prst="line">
            <a:avLst/>
          </a:prstGeom>
          <a:ln w="19050">
            <a:solidFill>
              <a:srgbClr val="657586"/>
            </a:solidFill>
            <a:tailEnd type="none"/>
          </a:ln>
        </p:spPr>
      </p:cxnSp>
      <p:sp>
        <p:nvSpPr>
          <p:cNvPr id="12" name="Shape 12"/>
          <p:cNvSpPr txBox="1"/>
          <p:nvPr/>
        </p:nvSpPr>
        <p:spPr>
          <a:xfrm>
            <a:off x="4389120" y="2103120"/>
            <a:ext cx="2926080" cy="777240"/>
          </a:xfrm>
          <a:prstGeom prst="roundRect">
            <a:avLst/>
          </a:prstGeom>
          <a:solidFill>
            <a:srgbClr val="17807E"/>
          </a:solidFill>
          <a:ln w="12700">
            <a:noFill/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Calibri"/>
              </a:rPr>
              <a:t>calculateTotal()</a:t>
            </a:r>
            <a:endParaRPr lang="en-US" sz="1900">
              <a:latin typeface="Calibri"/>
            </a:endParaRPr>
          </a:p>
        </p:txBody>
      </p:sp>
      <p:cxnSp>
        <p:nvCxnSpPr>
          <p:cNvPr id="13" name="Connector 13"/>
          <p:cNvCxnSpPr/>
          <p:nvPr/>
        </p:nvCxnSpPr>
        <p:spPr>
          <a:xfrm>
            <a:off x="3474720" y="1417320"/>
            <a:ext cx="914400" cy="2267712"/>
          </a:xfrm>
          <a:prstGeom prst="line">
            <a:avLst/>
          </a:prstGeom>
          <a:ln w="19050">
            <a:solidFill>
              <a:srgbClr val="657586"/>
            </a:solidFill>
            <a:tailEnd type="none"/>
          </a:ln>
        </p:spPr>
      </p:cxnSp>
      <p:sp>
        <p:nvSpPr>
          <p:cNvPr id="14" name="Shape 14"/>
          <p:cNvSpPr txBox="1"/>
          <p:nvPr/>
        </p:nvSpPr>
        <p:spPr>
          <a:xfrm>
            <a:off x="4389120" y="3291840"/>
            <a:ext cx="2926080" cy="777240"/>
          </a:xfrm>
          <a:prstGeom prst="roundRect">
            <a:avLst/>
          </a:prstGeom>
          <a:solidFill>
            <a:srgbClr val="D99614"/>
          </a:solidFill>
          <a:ln w="12700">
            <a:noFill/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Calibri"/>
              </a:rPr>
              <a:t>findMaximum()</a:t>
            </a:r>
            <a:endParaRPr lang="en-US" sz="1900">
              <a:latin typeface="Calibri"/>
            </a:endParaRPr>
          </a:p>
        </p:txBody>
      </p:sp>
      <p:cxnSp>
        <p:nvCxnSpPr>
          <p:cNvPr id="15" name="Connector 15"/>
          <p:cNvCxnSpPr/>
          <p:nvPr/>
        </p:nvCxnSpPr>
        <p:spPr>
          <a:xfrm>
            <a:off x="3474720" y="1417320"/>
            <a:ext cx="914400" cy="3456432"/>
          </a:xfrm>
          <a:prstGeom prst="line">
            <a:avLst/>
          </a:prstGeom>
          <a:ln w="19050">
            <a:solidFill>
              <a:srgbClr val="657586"/>
            </a:solidFill>
            <a:tailEnd type="none"/>
          </a:ln>
        </p:spPr>
      </p:cxnSp>
      <p:sp>
        <p:nvSpPr>
          <p:cNvPr id="16" name="Shape 16"/>
          <p:cNvSpPr txBox="1"/>
          <p:nvPr/>
        </p:nvSpPr>
        <p:spPr>
          <a:xfrm>
            <a:off x="4389120" y="4480560"/>
            <a:ext cx="2926080" cy="777240"/>
          </a:xfrm>
          <a:prstGeom prst="roundRect">
            <a:avLst/>
          </a:prstGeom>
          <a:solidFill>
            <a:srgbClr val="3C8C5A"/>
          </a:solidFill>
          <a:ln w="12700">
            <a:noFill/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900" b="1">
                <a:solidFill>
                  <a:srgbClr val="FFFFFF"/>
                </a:solidFill>
                <a:latin typeface="Calibri"/>
              </a:rPr>
              <a:t>displayResult()</a:t>
            </a:r>
            <a:endParaRPr lang="en-US" sz="19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7726680" y="914400"/>
            <a:ext cx="3657600" cy="461772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7726680" y="914400"/>
            <a:ext cx="365760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9"/>
          <p:cNvSpPr txBox="1"/>
          <p:nvPr/>
        </p:nvSpPr>
        <p:spPr>
          <a:xfrm>
            <a:off x="7836408" y="969264"/>
            <a:ext cx="34381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Benefits</a:t>
            </a:r>
            <a:endParaRPr lang="en-US" sz="17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7854696" y="1417320"/>
            <a:ext cx="3401568" cy="402336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Smaller tasks</a:t>
            </a:r>
            <a:endParaRPr lang="en-US" sz="2100">
              <a:latin typeface="Calibri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Reusable logic</a:t>
            </a:r>
            <a:endParaRPr lang="en-US" sz="2100">
              <a:latin typeface="Calibri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Easier testing</a:t>
            </a:r>
            <a:endParaRPr lang="en-US" sz="2100">
              <a:latin typeface="Calibri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Clearer programs</a:t>
            </a:r>
            <a:endParaRPr lang="en-US" sz="2100">
              <a:latin typeface="Calibri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Less repetition</a:t>
            </a:r>
            <a:endParaRPr lang="en-US" sz="2100"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Anatomy of a Method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2 • Methods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21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1005840"/>
            <a:ext cx="6583680" cy="18288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400" b="0">
                <a:solidFill>
                  <a:srgbClr val="203040"/>
                </a:solidFill>
                <a:latin typeface="Consolas"/>
              </a:rPr>
              <a:t>static int add(int first, int second) {</a:t>
            </a:r>
            <a:endParaRPr lang="en-US" sz="2400">
              <a:latin typeface="Consolas"/>
            </a:endParaRPr>
          </a:p>
          <a:p>
            <a:pPr algn="l">
              <a:buNone/>
            </a:pPr>
            <a:r>
              <a:rPr lang="en-US" sz="2400" b="0">
                <a:solidFill>
                  <a:srgbClr val="203040"/>
                </a:solidFill>
                <a:latin typeface="Consolas"/>
              </a:rPr>
              <a:t>    return first + second;</a:t>
            </a:r>
            <a:endParaRPr lang="en-US" sz="2400">
              <a:latin typeface="Consolas"/>
            </a:endParaRPr>
          </a:p>
          <a:p>
            <a:pPr algn="l">
              <a:buNone/>
            </a:pPr>
            <a:r>
              <a:rPr lang="en-US" sz="2400" b="0">
                <a:solidFill>
                  <a:srgbClr val="203040"/>
                </a:solidFill>
                <a:latin typeface="Consolas"/>
              </a:rPr>
              <a:t>}</a:t>
            </a:r>
            <a:endParaRPr lang="en-US" sz="24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40080" y="3337560"/>
            <a:ext cx="2468880" cy="14630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40080" y="3337560"/>
            <a:ext cx="246888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49808" y="3392424"/>
            <a:ext cx="22494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Return Type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68096" y="3840480"/>
            <a:ext cx="2212848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400" b="0">
                <a:solidFill>
                  <a:srgbClr val="203040"/>
                </a:solidFill>
                <a:latin typeface="Calibri"/>
              </a:rPr>
              <a:t>int</a:t>
            </a:r>
            <a:endParaRPr lang="en-US" sz="24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3246120" y="3337560"/>
            <a:ext cx="2468880" cy="14630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3246120" y="3337560"/>
            <a:ext cx="246888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3355848" y="3392424"/>
            <a:ext cx="22494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Method Name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3374136" y="3840480"/>
            <a:ext cx="2212848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400" b="0">
                <a:solidFill>
                  <a:srgbClr val="203040"/>
                </a:solidFill>
                <a:latin typeface="Calibri"/>
              </a:rPr>
              <a:t>add</a:t>
            </a:r>
            <a:endParaRPr lang="en-US" sz="2400">
              <a:latin typeface="Calibri"/>
            </a:endParaRPr>
          </a:p>
        </p:txBody>
      </p:sp>
      <p:sp>
        <p:nvSpPr>
          <p:cNvPr id="17" name="Shape 17"/>
          <p:cNvSpPr txBox="1"/>
          <p:nvPr/>
        </p:nvSpPr>
        <p:spPr>
          <a:xfrm>
            <a:off x="5852160" y="3337560"/>
            <a:ext cx="2468880" cy="14630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5852160" y="3337560"/>
            <a:ext cx="246888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9" name="Shape 19"/>
          <p:cNvSpPr txBox="1"/>
          <p:nvPr/>
        </p:nvSpPr>
        <p:spPr>
          <a:xfrm>
            <a:off x="5961888" y="3392424"/>
            <a:ext cx="22494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Parameters</a:t>
            </a:r>
            <a:endParaRPr lang="en-US" sz="17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5980176" y="3840480"/>
            <a:ext cx="2212848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first, second</a:t>
            </a:r>
            <a:endParaRPr lang="en-US" sz="2000">
              <a:latin typeface="Calibri"/>
            </a:endParaRPr>
          </a:p>
        </p:txBody>
      </p:sp>
      <p:sp>
        <p:nvSpPr>
          <p:cNvPr id="21" name="Shape 21"/>
          <p:cNvSpPr txBox="1"/>
          <p:nvPr/>
        </p:nvSpPr>
        <p:spPr>
          <a:xfrm>
            <a:off x="8458200" y="3337560"/>
            <a:ext cx="2468880" cy="14630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3C8C5A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2"/>
          <p:cNvSpPr txBox="1"/>
          <p:nvPr/>
        </p:nvSpPr>
        <p:spPr>
          <a:xfrm>
            <a:off x="8458200" y="3337560"/>
            <a:ext cx="2468880" cy="393192"/>
          </a:xfrm>
          <a:prstGeom prst="roundRect">
            <a:avLst/>
          </a:prstGeom>
          <a:solidFill>
            <a:srgbClr val="3C8C5A"/>
          </a:solidFill>
          <a:ln w="0">
            <a:solidFill>
              <a:srgbClr val="3C8C5A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23" name="Shape 23"/>
          <p:cNvSpPr txBox="1"/>
          <p:nvPr/>
        </p:nvSpPr>
        <p:spPr>
          <a:xfrm>
            <a:off x="8567928" y="3392424"/>
            <a:ext cx="22494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Return</a:t>
            </a:r>
            <a:endParaRPr lang="en-US" sz="1700">
              <a:latin typeface="Calibri"/>
            </a:endParaRPr>
          </a:p>
        </p:txBody>
      </p:sp>
      <p:sp>
        <p:nvSpPr>
          <p:cNvPr id="24" name="Shape 24"/>
          <p:cNvSpPr txBox="1"/>
          <p:nvPr/>
        </p:nvSpPr>
        <p:spPr>
          <a:xfrm>
            <a:off x="8586216" y="3840480"/>
            <a:ext cx="2212848" cy="8686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calculated value</a:t>
            </a:r>
            <a:endParaRPr lang="en-US" sz="1900"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Void Methods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2 • Methods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22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731520" y="1097280"/>
            <a:ext cx="5212080" cy="320040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static void showWelcome() {</a:t>
            </a:r>
            <a:endParaRPr lang="en-US" sz="2200">
              <a:latin typeface="Consolas"/>
            </a:endParaRPr>
          </a:p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    System.out.println("Welcome!");</a:t>
            </a:r>
            <a:endParaRPr lang="en-US" sz="2200">
              <a:latin typeface="Consolas"/>
            </a:endParaRPr>
          </a:p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}</a:t>
            </a:r>
            <a:endParaRPr lang="en-US" sz="2200">
              <a:latin typeface="Consolas"/>
            </a:endParaRPr>
          </a:p>
          <a:p>
            <a:pPr algn="l">
              <a:buNone/>
            </a:pPr>
            <a:endParaRPr lang="en-US" sz="2200">
              <a:latin typeface="Consolas"/>
            </a:endParaRPr>
          </a:p>
          <a:p>
            <a:pPr algn="l">
              <a:buNone/>
            </a:pPr>
            <a:r>
              <a:rPr lang="en-US" sz="2200" b="0">
                <a:solidFill>
                  <a:srgbClr val="203040"/>
                </a:solidFill>
                <a:latin typeface="Consolas"/>
              </a:rPr>
              <a:t>showWelcome();</a:t>
            </a:r>
            <a:endParaRPr lang="en-US" sz="22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263640" y="1097280"/>
            <a:ext cx="5029200" cy="16916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263640" y="1097280"/>
            <a:ext cx="50292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6373368" y="1152144"/>
            <a:ext cx="48097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void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391656" y="1600200"/>
            <a:ext cx="4773168" cy="10972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The method performs an action but does not return a value.</a:t>
            </a:r>
            <a:endParaRPr lang="en-US" sz="21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6263640" y="3108960"/>
            <a:ext cx="5029200" cy="169164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263640" y="3108960"/>
            <a:ext cx="502920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373368" y="3163824"/>
            <a:ext cx="48097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Method Call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391656" y="3611880"/>
            <a:ext cx="4773168" cy="10972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000" b="0">
                <a:solidFill>
                  <a:srgbClr val="203040"/>
                </a:solidFill>
                <a:latin typeface="Calibri"/>
              </a:rPr>
              <a:t>Defining a method does not run it. Calling it runs it.</a:t>
            </a:r>
            <a:endParaRPr lang="en-US" sz="2000"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Parameters and Arguments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2 • Methods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23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85800" y="1051560"/>
            <a:ext cx="5577840" cy="30175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static void greet(String name) {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    System.out.println("Hello " + name);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}</a:t>
            </a:r>
            <a:endParaRPr lang="en-US" sz="2100">
              <a:latin typeface="Consolas"/>
            </a:endParaRPr>
          </a:p>
          <a:p>
            <a:pPr algn="l">
              <a:buNone/>
            </a:pP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greet("Ali");</a:t>
            </a:r>
            <a:endParaRPr lang="en-US" sz="2100">
              <a:latin typeface="Consolas"/>
            </a:endParaRPr>
          </a:p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onsolas"/>
              </a:rPr>
              <a:t>greet("Sara");</a:t>
            </a:r>
            <a:endParaRPr lang="en-US" sz="21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583680" y="1051560"/>
            <a:ext cx="4709160" cy="155448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583680" y="1051560"/>
            <a:ext cx="470916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6693408" y="1106424"/>
            <a:ext cx="448970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Parameter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711696" y="1554480"/>
            <a:ext cx="4453128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name is the variable in the method definition.</a:t>
            </a:r>
            <a:endParaRPr lang="en-US" sz="19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6583680" y="2926080"/>
            <a:ext cx="4709160" cy="155448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583680" y="2926080"/>
            <a:ext cx="470916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693408" y="2980944"/>
            <a:ext cx="448970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Argument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711696" y="3429000"/>
            <a:ext cx="4453128" cy="96012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"Ali" and "Sara" are values supplied during calls.</a:t>
            </a:r>
            <a:endParaRPr lang="en-US" sz="1900"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Methods with Return Values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2 • Methods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24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60120"/>
            <a:ext cx="5943600" cy="40233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static double calculateAverage(int total, int count) {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return (double) total / count;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}</a:t>
            </a:r>
            <a:endParaRPr lang="en-US" sz="1900">
              <a:latin typeface="Consolas"/>
            </a:endParaRPr>
          </a:p>
          <a:p>
            <a:pPr algn="l">
              <a:buNone/>
            </a:pP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double average = calculateAverage(420, 5);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System.out.println(average);</a:t>
            </a:r>
            <a:endParaRPr lang="en-US" sz="19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040880" y="1508760"/>
            <a:ext cx="818388" cy="82296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Inputs</a:t>
            </a:r>
            <a:endParaRPr lang="en-US" sz="1300">
              <a:latin typeface="Calibri"/>
            </a:endParaRPr>
          </a:p>
        </p:txBody>
      </p:sp>
      <p:cxnSp>
        <p:nvCxnSpPr>
          <p:cNvPr id="10" name="Connector 10"/>
          <p:cNvCxnSpPr/>
          <p:nvPr/>
        </p:nvCxnSpPr>
        <p:spPr>
          <a:xfrm>
            <a:off x="7895844" y="19202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1" name="Shape 11"/>
          <p:cNvSpPr txBox="1"/>
          <p:nvPr/>
        </p:nvSpPr>
        <p:spPr>
          <a:xfrm>
            <a:off x="8170164" y="1508760"/>
            <a:ext cx="818388" cy="82296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Process</a:t>
            </a:r>
            <a:endParaRPr lang="en-US" sz="1300">
              <a:latin typeface="Calibri"/>
            </a:endParaRPr>
          </a:p>
        </p:txBody>
      </p:sp>
      <p:cxnSp>
        <p:nvCxnSpPr>
          <p:cNvPr id="12" name="Connector 12"/>
          <p:cNvCxnSpPr/>
          <p:nvPr/>
        </p:nvCxnSpPr>
        <p:spPr>
          <a:xfrm>
            <a:off x="9025128" y="19202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3" name="Shape 13"/>
          <p:cNvSpPr txBox="1"/>
          <p:nvPr/>
        </p:nvSpPr>
        <p:spPr>
          <a:xfrm>
            <a:off x="9299448" y="1508760"/>
            <a:ext cx="818388" cy="82296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return</a:t>
            </a:r>
            <a:endParaRPr lang="en-US" sz="1300">
              <a:latin typeface="Calibri"/>
            </a:endParaRPr>
          </a:p>
        </p:txBody>
      </p:sp>
      <p:cxnSp>
        <p:nvCxnSpPr>
          <p:cNvPr id="14" name="Connector 14"/>
          <p:cNvCxnSpPr/>
          <p:nvPr/>
        </p:nvCxnSpPr>
        <p:spPr>
          <a:xfrm>
            <a:off x="10154412" y="192024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5" name="Shape 15"/>
          <p:cNvSpPr txBox="1"/>
          <p:nvPr/>
        </p:nvSpPr>
        <p:spPr>
          <a:xfrm>
            <a:off x="10428732" y="1508760"/>
            <a:ext cx="818388" cy="822960"/>
          </a:xfrm>
          <a:prstGeom prst="roundRect">
            <a:avLst/>
          </a:prstGeom>
          <a:solidFill>
            <a:srgbClr val="3C8C5A"/>
          </a:solidFill>
          <a:ln w="12700">
            <a:solidFill>
              <a:srgbClr val="3C8C5A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</a:rPr>
              <a:t>Store result</a:t>
            </a:r>
            <a:endParaRPr lang="en-US" sz="13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040880" y="3063240"/>
            <a:ext cx="4206240" cy="150876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7"/>
          <p:cNvSpPr txBox="1"/>
          <p:nvPr/>
        </p:nvSpPr>
        <p:spPr>
          <a:xfrm>
            <a:off x="7040880" y="3063240"/>
            <a:ext cx="420624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8"/>
          <p:cNvSpPr txBox="1"/>
          <p:nvPr/>
        </p:nvSpPr>
        <p:spPr>
          <a:xfrm>
            <a:off x="7150608" y="3118104"/>
            <a:ext cx="398678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Key Rule</a:t>
            </a:r>
            <a:endParaRPr lang="en-US" sz="17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7168896" y="3566160"/>
            <a:ext cx="3950208" cy="91440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The returned value must match the declared return type.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Passing Arrays to Methods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2 • Methods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25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868680"/>
            <a:ext cx="6720840" cy="50749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static int calculateTotal(int[] marks) {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int total = 0;</a:t>
            </a:r>
            <a:endParaRPr lang="en-US" sz="1800">
              <a:latin typeface="Consolas"/>
            </a:endParaRPr>
          </a:p>
          <a:p>
            <a:pPr algn="l">
              <a:buNone/>
            </a:pP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for (int mark : marks) {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    total += mark;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}</a:t>
            </a:r>
            <a:endParaRPr lang="en-US" sz="1800">
              <a:latin typeface="Consolas"/>
            </a:endParaRPr>
          </a:p>
          <a:p>
            <a:pPr algn="l">
              <a:buNone/>
            </a:pP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    return total;</a:t>
            </a:r>
            <a:endParaRPr lang="en-US" sz="1800">
              <a:latin typeface="Consolas"/>
            </a:endParaRPr>
          </a:p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onsolas"/>
              </a:rPr>
              <a:t>}</a:t>
            </a:r>
            <a:endParaRPr lang="en-US" sz="18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680960" y="914400"/>
            <a:ext cx="3657600" cy="18288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680960" y="914400"/>
            <a:ext cx="36576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790688" y="969264"/>
            <a:ext cx="34381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Parameter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808976" y="1417320"/>
            <a:ext cx="3401568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int[] marks accepts an integer array.</a:t>
            </a:r>
            <a:endParaRPr lang="en-US" sz="19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680960" y="3108960"/>
            <a:ext cx="3657600" cy="18288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7680960" y="3108960"/>
            <a:ext cx="365760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7790688" y="3163824"/>
            <a:ext cx="34381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Reusable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808976" y="3611880"/>
            <a:ext cx="3401568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800" b="0">
                <a:solidFill>
                  <a:srgbClr val="203040"/>
                </a:solidFill>
                <a:latin typeface="Calibri"/>
              </a:rPr>
              <a:t>The same method can process arrays of different lengths.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Method Overloading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2 • Methods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26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5486400" cy="42976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static int add(int a, int b) {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return a + b;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}</a:t>
            </a:r>
            <a:endParaRPr lang="en-US" sz="1900">
              <a:latin typeface="Consolas"/>
            </a:endParaRPr>
          </a:p>
          <a:p>
            <a:pPr algn="l">
              <a:buNone/>
            </a:pP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static double add(double a, double b) {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return a + b;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}</a:t>
            </a:r>
            <a:endParaRPr lang="en-US" sz="19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6492240" y="914400"/>
            <a:ext cx="4754880" cy="18288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6492240" y="914400"/>
            <a:ext cx="475488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6601968" y="969264"/>
            <a:ext cx="45354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Same Name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6620256" y="1417320"/>
            <a:ext cx="4498848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100" b="0">
                <a:solidFill>
                  <a:srgbClr val="203040"/>
                </a:solidFill>
                <a:latin typeface="Calibri"/>
              </a:rPr>
              <a:t>Both methods are named add.</a:t>
            </a:r>
            <a:endParaRPr lang="en-US" sz="21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6492240" y="3063240"/>
            <a:ext cx="4754880" cy="18288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6492240" y="3063240"/>
            <a:ext cx="4754880" cy="393192"/>
          </a:xfrm>
          <a:prstGeom prst="roundRect">
            <a:avLst/>
          </a:prstGeom>
          <a:solidFill>
            <a:srgbClr val="D99614"/>
          </a:solidFill>
          <a:ln w="0">
            <a:solidFill>
              <a:srgbClr val="D99614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6601968" y="3118104"/>
            <a:ext cx="453542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Different Parameters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6620256" y="3566160"/>
            <a:ext cx="4498848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Java selects the method by argument types and count.</a:t>
            </a:r>
            <a:endParaRPr lang="en-US" sz="1900"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Variable Scope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2 • Methods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27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6126480" cy="438912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CD6DF"/>
            </a:solidFill>
          </a:ln>
        </p:spPr>
        <p:txBody>
          <a:bodyPr wrap="square" lIns="137160" tIns="137160" rIns="137160" bIns="137160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static int square(int number) {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int result = number * number;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    return result;</a:t>
            </a: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}</a:t>
            </a:r>
            <a:endParaRPr lang="en-US" sz="1900">
              <a:latin typeface="Consolas"/>
            </a:endParaRPr>
          </a:p>
          <a:p>
            <a:pPr algn="l">
              <a:buNone/>
            </a:pPr>
            <a:endParaRPr lang="en-US" sz="1900">
              <a:latin typeface="Consolas"/>
            </a:endParaRPr>
          </a:p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onsolas"/>
              </a:rPr>
              <a:t>// number and result are not available here</a:t>
            </a:r>
            <a:endParaRPr lang="en-US" sz="1900">
              <a:latin typeface="Consolas"/>
            </a:endParaRPr>
          </a:p>
        </p:txBody>
      </p:sp>
      <p:sp>
        <p:nvSpPr>
          <p:cNvPr id="9" name="Shape 9"/>
          <p:cNvSpPr txBox="1"/>
          <p:nvPr/>
        </p:nvSpPr>
        <p:spPr>
          <a:xfrm>
            <a:off x="7178040" y="914400"/>
            <a:ext cx="4114800" cy="18288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10"/>
          <p:cNvSpPr txBox="1"/>
          <p:nvPr/>
        </p:nvSpPr>
        <p:spPr>
          <a:xfrm>
            <a:off x="7178040" y="914400"/>
            <a:ext cx="4114800" cy="393192"/>
          </a:xfrm>
          <a:prstGeom prst="roundRect">
            <a:avLst/>
          </a:prstGeom>
          <a:solidFill>
            <a:srgbClr val="246A9B"/>
          </a:solidFill>
          <a:ln w="0">
            <a:solidFill>
              <a:srgbClr val="246A9B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1" name="Shape 11"/>
          <p:cNvSpPr txBox="1"/>
          <p:nvPr/>
        </p:nvSpPr>
        <p:spPr>
          <a:xfrm>
            <a:off x="7287768" y="969264"/>
            <a:ext cx="38953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Local Variables</a:t>
            </a:r>
            <a:endParaRPr lang="en-US" sz="1700">
              <a:latin typeface="Calibri"/>
            </a:endParaRPr>
          </a:p>
        </p:txBody>
      </p:sp>
      <p:sp>
        <p:nvSpPr>
          <p:cNvPr id="12" name="Shape 12"/>
          <p:cNvSpPr txBox="1"/>
          <p:nvPr/>
        </p:nvSpPr>
        <p:spPr>
          <a:xfrm>
            <a:off x="7306056" y="1417320"/>
            <a:ext cx="3858768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A variable declared inside a method belongs to that method.</a:t>
            </a:r>
            <a:endParaRPr lang="en-US" sz="1900">
              <a:latin typeface="Calibri"/>
            </a:endParaRPr>
          </a:p>
        </p:txBody>
      </p:sp>
      <p:sp>
        <p:nvSpPr>
          <p:cNvPr id="13" name="Shape 13"/>
          <p:cNvSpPr txBox="1"/>
          <p:nvPr/>
        </p:nvSpPr>
        <p:spPr>
          <a:xfrm>
            <a:off x="7178040" y="3063240"/>
            <a:ext cx="4114800" cy="1828800"/>
          </a:xfrm>
          <a:prstGeom prst="roundRect">
            <a:avLst/>
          </a:prstGeom>
          <a:solidFill>
            <a:srgbClr val="F2F6F9"/>
          </a:solidFill>
          <a:ln w="1651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4" name="Shape 14"/>
          <p:cNvSpPr txBox="1"/>
          <p:nvPr/>
        </p:nvSpPr>
        <p:spPr>
          <a:xfrm>
            <a:off x="7178040" y="3063240"/>
            <a:ext cx="4114800" cy="393192"/>
          </a:xfrm>
          <a:prstGeom prst="roundRect">
            <a:avLst/>
          </a:prstGeom>
          <a:solidFill>
            <a:srgbClr val="17807E"/>
          </a:solidFill>
          <a:ln w="0">
            <a:solidFill>
              <a:srgbClr val="17807E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15" name="Shape 15"/>
          <p:cNvSpPr txBox="1"/>
          <p:nvPr/>
        </p:nvSpPr>
        <p:spPr>
          <a:xfrm>
            <a:off x="7287768" y="3118104"/>
            <a:ext cx="3895344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700" b="1">
                <a:solidFill>
                  <a:srgbClr val="FFFFFF"/>
                </a:solidFill>
                <a:latin typeface="Calibri"/>
              </a:rPr>
              <a:t>Why it matters</a:t>
            </a:r>
            <a:endParaRPr lang="en-US" sz="1700">
              <a:latin typeface="Calibri"/>
            </a:endParaRPr>
          </a:p>
        </p:txBody>
      </p:sp>
      <p:sp>
        <p:nvSpPr>
          <p:cNvPr id="16" name="Shape 16"/>
          <p:cNvSpPr txBox="1"/>
          <p:nvPr/>
        </p:nvSpPr>
        <p:spPr>
          <a:xfrm>
            <a:off x="7306056" y="3566160"/>
            <a:ext cx="3858768" cy="123444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1900" b="0">
                <a:solidFill>
                  <a:srgbClr val="203040"/>
                </a:solidFill>
                <a:latin typeface="Calibri"/>
              </a:rPr>
              <a:t>Scope prevents accidental access and naming conflicts.</a:t>
            </a:r>
            <a:endParaRPr lang="en-US" sz="1900"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Practice and Final Challenge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Part 4 • Application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36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640080" y="914400"/>
            <a:ext cx="5394960" cy="512064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146304" tIns="118872" rIns="91440" bIns="91440" anchor="t"/>
          <a:lstStyle/>
          <a:p>
            <a:pPr algn="l">
              <a:buNone/>
            </a:pPr>
            <a:r>
              <a:rPr lang="en-US" sz="2100" b="1">
                <a:solidFill>
                  <a:srgbClr val="163D63"/>
                </a:solidFill>
              </a:rPr>
              <a:t>Lab Tasks</a:t>
            </a:r>
          </a:p>
          <a:p>
            <a:pPr marL="256032" indent="-146304" algn="l">
              <a:buChar char="•"/>
            </a:pPr>
            <a:r>
              <a:rPr lang="en-US" sz="1900">
                <a:solidFill>
                  <a:srgbClr val="203040"/>
                </a:solidFill>
                <a:latin typeface="Calibri"/>
              </a:rPr>
              <a:t>Create an array of five temperatures and find the average</a:t>
            </a:r>
            <a:endParaRPr lang="en-US" sz="1900"/>
          </a:p>
          <a:p>
            <a:pPr marL="256032" indent="-146304" algn="l">
              <a:buChar char="•"/>
            </a:pPr>
            <a:r>
              <a:rPr lang="en-US" sz="1900">
                <a:solidFill>
                  <a:srgbClr val="203040"/>
                </a:solidFill>
                <a:latin typeface="Calibri"/>
              </a:rPr>
              <a:t>Write a method that returns the largest array value</a:t>
            </a:r>
            <a:endParaRPr lang="en-US" sz="1900"/>
          </a:p>
          <a:p>
            <a:pPr marL="256032" indent="-146304" algn="l">
              <a:buChar char="•"/>
            </a:pPr>
            <a:r>
              <a:rPr lang="en-US" sz="1900">
                <a:solidFill>
                  <a:srgbClr val="203040"/>
                </a:solidFill>
                <a:latin typeface="Calibri"/>
              </a:rPr>
              <a:t>Create a Book class with title, author, and price</a:t>
            </a:r>
            <a:endParaRPr lang="en-US" sz="1900"/>
          </a:p>
          <a:p>
            <a:pPr marL="256032" indent="-146304" algn="l">
              <a:buChar char="•"/>
            </a:pPr>
            <a:r>
              <a:rPr lang="en-US" sz="1900">
                <a:solidFill>
                  <a:srgbClr val="203040"/>
                </a:solidFill>
                <a:latin typeface="Calibri"/>
              </a:rPr>
              <a:t>Create three Book objects and store them in an array</a:t>
            </a:r>
            <a:endParaRPr lang="en-US" sz="1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hape 2"/>
          <p:cNvSpPr txBox="1"/>
          <p:nvPr/>
        </p:nvSpPr>
        <p:spPr>
          <a:xfrm>
            <a:off x="0" y="-9144"/>
            <a:ext cx="12191695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3D63"/>
          </a:solidFill>
          <a:ln w="0">
            <a:solidFill>
              <a:srgbClr val="163D63"/>
            </a:solidFill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4"/>
          <p:cNvSpPr txBox="1"/>
          <p:nvPr/>
        </p:nvSpPr>
        <p:spPr>
          <a:xfrm>
            <a:off x="502920" y="109728"/>
            <a:ext cx="11109960" cy="420624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2500" b="1">
                <a:solidFill>
                  <a:srgbClr val="FFFFFF"/>
                </a:solidFill>
                <a:latin typeface="Calibri"/>
              </a:rPr>
              <a:t>Final Mental Model</a:t>
            </a:r>
            <a:endParaRPr lang="en-US" sz="2500">
              <a:latin typeface="Calibri"/>
            </a:endParaRPr>
          </a:p>
        </p:txBody>
      </p:sp>
      <p:cxnSp>
        <p:nvCxnSpPr>
          <p:cNvPr id="5" name="Connector 5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3970">
            <a:solidFill>
              <a:srgbClr val="CCD6DF"/>
            </a:solidFill>
            <a:tailEnd type="none"/>
          </a:ln>
        </p:spPr>
      </p:cxnSp>
      <p:sp>
        <p:nvSpPr>
          <p:cNvPr id="6" name="Shape 6"/>
          <p:cNvSpPr txBox="1"/>
          <p:nvPr/>
        </p:nvSpPr>
        <p:spPr>
          <a:xfrm>
            <a:off x="530352" y="6519672"/>
            <a:ext cx="996696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l">
              <a:buNone/>
            </a:pPr>
            <a:r>
              <a:rPr lang="en-US" sz="900" b="0">
                <a:solidFill>
                  <a:srgbClr val="657586"/>
                </a:solidFill>
                <a:latin typeface="Calibri"/>
              </a:rPr>
              <a:t>Java Programming • Fundamentals to Intermediate  |  Conclusion | Soban Hussain • Teaching Assistant</a:t>
            </a:r>
            <a:endParaRPr lang="en-US" sz="900">
              <a:latin typeface="Calibri"/>
            </a:endParaRPr>
          </a:p>
        </p:txBody>
      </p:sp>
      <p:sp>
        <p:nvSpPr>
          <p:cNvPr id="7" name="Shape 7"/>
          <p:cNvSpPr txBox="1"/>
          <p:nvPr/>
        </p:nvSpPr>
        <p:spPr>
          <a:xfrm>
            <a:off x="10927080" y="6492240"/>
            <a:ext cx="6858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r">
              <a:buNone/>
            </a:pPr>
            <a:r>
              <a:rPr lang="en-US" sz="1000" b="1">
                <a:solidFill>
                  <a:srgbClr val="163D63"/>
                </a:solidFill>
                <a:latin typeface="Calibri"/>
              </a:rPr>
              <a:t>37</a:t>
            </a:r>
            <a:endParaRPr lang="en-US" sz="1000">
              <a:latin typeface="Calibri"/>
            </a:endParaRPr>
          </a:p>
        </p:txBody>
      </p:sp>
      <p:sp>
        <p:nvSpPr>
          <p:cNvPr id="8" name="Shape 8"/>
          <p:cNvSpPr txBox="1"/>
          <p:nvPr/>
        </p:nvSpPr>
        <p:spPr>
          <a:xfrm>
            <a:off x="594360" y="1600200"/>
            <a:ext cx="1569720" cy="1005840"/>
          </a:xfrm>
          <a:prstGeom prst="roundRect">
            <a:avLst/>
          </a:prstGeom>
          <a:solidFill>
            <a:srgbClr val="246A9B"/>
          </a:solidFill>
          <a:ln w="12700">
            <a:solidFill>
              <a:srgbClr val="246A9B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Array</a:t>
            </a:r>
            <a:endParaRPr lang="en-US" sz="1600">
              <a:latin typeface="Calibri"/>
            </a:endParaRPr>
          </a:p>
        </p:txBody>
      </p:sp>
      <p:cxnSp>
        <p:nvCxnSpPr>
          <p:cNvPr id="9" name="Connector 9"/>
          <p:cNvCxnSpPr/>
          <p:nvPr/>
        </p:nvCxnSpPr>
        <p:spPr>
          <a:xfrm>
            <a:off x="2200656" y="210312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0" name="Shape 10"/>
          <p:cNvSpPr txBox="1"/>
          <p:nvPr/>
        </p:nvSpPr>
        <p:spPr>
          <a:xfrm>
            <a:off x="2474976" y="1600200"/>
            <a:ext cx="1569720" cy="100584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Loop</a:t>
            </a:r>
            <a:endParaRPr lang="en-US" sz="1600">
              <a:latin typeface="Calibri"/>
            </a:endParaRPr>
          </a:p>
        </p:txBody>
      </p:sp>
      <p:cxnSp>
        <p:nvCxnSpPr>
          <p:cNvPr id="11" name="Connector 11"/>
          <p:cNvCxnSpPr/>
          <p:nvPr/>
        </p:nvCxnSpPr>
        <p:spPr>
          <a:xfrm>
            <a:off x="4081272" y="210312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2" name="Shape 12"/>
          <p:cNvSpPr txBox="1"/>
          <p:nvPr/>
        </p:nvSpPr>
        <p:spPr>
          <a:xfrm>
            <a:off x="4355592" y="1600200"/>
            <a:ext cx="1569720" cy="1005840"/>
          </a:xfrm>
          <a:prstGeom prst="roundRect">
            <a:avLst/>
          </a:prstGeom>
          <a:solidFill>
            <a:srgbClr val="D99614"/>
          </a:solidFill>
          <a:ln w="12700">
            <a:solidFill>
              <a:srgbClr val="D99614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Method</a:t>
            </a:r>
            <a:endParaRPr lang="en-US" sz="1600">
              <a:latin typeface="Calibri"/>
            </a:endParaRPr>
          </a:p>
        </p:txBody>
      </p:sp>
      <p:cxnSp>
        <p:nvCxnSpPr>
          <p:cNvPr id="13" name="Connector 13"/>
          <p:cNvCxnSpPr/>
          <p:nvPr/>
        </p:nvCxnSpPr>
        <p:spPr>
          <a:xfrm>
            <a:off x="5961888" y="2103120"/>
            <a:ext cx="237744" cy="0"/>
          </a:xfrm>
          <a:prstGeom prst="line">
            <a:avLst/>
          </a:prstGeom>
          <a:ln w="25400">
            <a:solidFill>
              <a:srgbClr val="657586"/>
            </a:solidFill>
            <a:tailEnd type="none"/>
          </a:ln>
        </p:spPr>
      </p:cxnSp>
      <p:sp>
        <p:nvSpPr>
          <p:cNvPr id="18" name="Shape 18"/>
          <p:cNvSpPr txBox="1"/>
          <p:nvPr/>
        </p:nvSpPr>
        <p:spPr>
          <a:xfrm>
            <a:off x="6312408" y="1600200"/>
            <a:ext cx="1569720" cy="1005840"/>
          </a:xfrm>
          <a:prstGeom prst="roundRect">
            <a:avLst/>
          </a:prstGeom>
          <a:solidFill>
            <a:srgbClr val="17807E"/>
          </a:solidFill>
          <a:ln w="12700">
            <a:solidFill>
              <a:srgbClr val="17807E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Application</a:t>
            </a:r>
            <a:endParaRPr lang="en-US" sz="1600">
              <a:latin typeface="Calibri"/>
            </a:endParaRPr>
          </a:p>
        </p:txBody>
      </p:sp>
      <p:sp>
        <p:nvSpPr>
          <p:cNvPr id="19" name="Shape 19"/>
          <p:cNvSpPr txBox="1"/>
          <p:nvPr/>
        </p:nvSpPr>
        <p:spPr>
          <a:xfrm>
            <a:off x="914400" y="3246120"/>
            <a:ext cx="10332720" cy="914400"/>
          </a:xfrm>
          <a:prstGeom prst="roundRect">
            <a:avLst/>
          </a:prstGeom>
          <a:solidFill>
            <a:srgbClr val="F2F6F9"/>
          </a:solidFill>
          <a:ln w="12700">
            <a:solidFill>
              <a:srgbClr val="CCD6DF"/>
            </a:solidFill>
          </a:ln>
        </p:spPr>
        <p:txBody>
          <a:bodyPr wrap="square" lIns="73152" tIns="73152" rIns="73152" bIns="73152" anchor="ctr"/>
          <a:lstStyle/>
          <a:p>
            <a:pPr algn="ctr">
              <a:buNone/>
            </a:pPr>
            <a:r>
              <a:rPr lang="en-US" sz="2300" b="1">
                <a:solidFill>
                  <a:srgbClr val="163D63"/>
                </a:solidFill>
                <a:latin typeface="Calibri"/>
              </a:rPr>
              <a:t>Store many values → process them → reuse logic → model entities → build systems</a:t>
            </a:r>
            <a:endParaRPr lang="en-US" sz="2300">
              <a:latin typeface="Calibri"/>
            </a:endParaRPr>
          </a:p>
        </p:txBody>
      </p:sp>
      <p:sp>
        <p:nvSpPr>
          <p:cNvPr id="20" name="Shape 20"/>
          <p:cNvSpPr txBox="1"/>
          <p:nvPr/>
        </p:nvSpPr>
        <p:spPr>
          <a:xfrm>
            <a:off x="914400" y="4709160"/>
            <a:ext cx="10332720" cy="640080"/>
          </a:xfrm>
          <a:prstGeom prst="rect">
            <a:avLst/>
          </a:prstGeom>
          <a:noFill/>
          <a:ln w="12700">
            <a:noFill/>
          </a:ln>
        </p:spPr>
        <p:txBody>
          <a:bodyPr wrap="square" lIns="73152" tIns="73152" rIns="73152" bIns="73152" anchor="t"/>
          <a:lstStyle/>
          <a:p>
            <a:pPr algn="ctr">
              <a:buNone/>
            </a:pPr>
            <a:r>
              <a:rPr lang="en-US" sz="1800" b="1">
                <a:solidFill>
                  <a:srgbClr val="17807E"/>
                </a:solidFill>
                <a:latin typeface="Calibri"/>
              </a:rPr>
              <a:t>Soban Hussain • Teaching Assistant • The University of Larkano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Lecture Theme">
  <a:themeElements>
    <a:clrScheme name="Java Lecture">
      <a:dk1>
        <a:sysClr val="windowText" lastClr="000000"/>
      </a:dk1>
      <a:lt1>
        <a:sysClr val="window" lastClr="FFFFFF"/>
      </a:lt1>
      <a:dk2>
        <a:srgbClr val="163D63"/>
      </a:dk2>
      <a:lt2>
        <a:srgbClr val="F2F6F9"/>
      </a:lt2>
      <a:accent1>
        <a:srgbClr val="246A9B"/>
      </a:accent1>
      <a:accent2>
        <a:srgbClr val="17807E"/>
      </a:accent2>
      <a:accent3>
        <a:srgbClr val="D99614"/>
      </a:accent3>
      <a:accent4>
        <a:srgbClr val="3C8C5A"/>
      </a:accent4>
      <a:accent5>
        <a:srgbClr val="B64040"/>
      </a:accent5>
      <a:accent6>
        <a:srgbClr val="657586"/>
      </a:accent6>
      <a:hlink>
        <a:srgbClr val="0563C1"/>
      </a:hlink>
      <a:folHlink>
        <a:srgbClr val="954F72"/>
      </a:folHlink>
    </a:clrScheme>
    <a:fontScheme name="Calibri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1270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  <a:ln w="19050" cap="flat" cmpd="sng" algn="ctr">
          <a:solidFill>
            <a:schemeClr val="phClr"/>
          </a:solidFill>
          <a:prstDash val="solid"/>
          <a:miter lim="800000"/>
          <a:headEnd type="none" w="med" len="med"/>
          <a:tailEnd type="none" w="med" len="me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2102</Words>
  <Application>Microsoft Office PowerPoint</Application>
  <PresentationFormat>Widescreen</PresentationFormat>
  <Paragraphs>396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Calibri</vt:lpstr>
      <vt:lpstr>Consolas</vt:lpstr>
      <vt:lpstr>Java Lecture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&amp; Working with Java</dc:title>
  <dc:subject>Java Programming from Fundamentals to Intermediate</dc:subject>
  <dc:creator>OpenAI Codex</dc:creator>
  <cp:keywords>Java, OOP, programming, lecture, lab</cp:keywords>
  <dc:description>Editable 73-slide Java programming lecture deck.</dc:description>
  <cp:lastModifiedBy>Yasir Ali Naich</cp:lastModifiedBy>
  <cp:revision>5</cp:revision>
  <dcterms:created xsi:type="dcterms:W3CDTF">2026-08-23T00:00:00Z</dcterms:created>
  <dcterms:modified xsi:type="dcterms:W3CDTF">2026-09-15T14:17:47Z</dcterms:modified>
</cp:coreProperties>
</file>