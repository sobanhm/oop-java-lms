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2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Object-Oriented Programming with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Weeks 1–2: Java Foundations → Classes &amp; Objects</a:t>
            </a:r>
          </a:p>
          <a:p>
            <a:pPr>
              <a:spcAft>
                <a:spcPts val="1000"/>
              </a:spcAft>
              <a:defRPr sz="2000"/>
            </a:pPr>
            <a:r>
              <a:t>BS Computer Science — Second Semester</a:t>
            </a:r>
          </a:p>
          <a:p>
            <a:pPr>
              <a:spcAft>
                <a:spcPts val="1000"/>
              </a:spcAft>
              <a:defRPr sz="2000"/>
            </a:pPr>
            <a:r>
              <a:t>Theory + Laboratory Sessions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We Will Learn 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Goal: build programming confidence before advanced 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Concept → Analogy → Code → Trace → Modify → Problem → Lab</a:t>
            </a:r>
          </a:p>
          <a:p>
            <a:pPr>
              <a:spcAft>
                <a:spcPts val="1000"/>
              </a:spcAft>
              <a:defRPr sz="2000"/>
            </a:pPr>
            <a:r>
              <a:t>Predict the output before running code.</a:t>
            </a:r>
          </a:p>
          <a:p>
            <a:pPr>
              <a:spcAft>
                <a:spcPts val="1000"/>
              </a:spcAft>
              <a:defRPr sz="2000"/>
            </a:pPr>
            <a:r>
              <a:t>Type the code yourself; do not just copy it.</a:t>
            </a:r>
          </a:p>
          <a:p>
            <a:pPr>
              <a:spcAft>
                <a:spcPts val="1000"/>
              </a:spcAft>
              <a:defRPr sz="2000"/>
            </a:pPr>
            <a:r>
              <a:t>Read compiler errors carefully.</a:t>
            </a:r>
          </a:p>
          <a:p>
            <a:pPr>
              <a:spcAft>
                <a:spcPts val="1000"/>
              </a:spcAft>
              <a:defRPr sz="2000"/>
            </a:pPr>
            <a:r>
              <a:t>Every theory concept will lead to a lab exercise.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Week 1: Java basics, program structure, variables, data types, operators, input/output.</a:t>
            </a:r>
          </a:p>
          <a:p>
            <a:pPr>
              <a:spcAft>
                <a:spcPts val="1000"/>
              </a:spcAft>
              <a:defRPr sz="2000"/>
            </a:pPr>
            <a:r>
              <a:t>Week 2: conditions, loops, methods, classes and objects.</a:t>
            </a:r>
          </a:p>
          <a:p>
            <a:pPr>
              <a:spcAft>
                <a:spcPts val="1000"/>
              </a:spcAft>
              <a:defRPr sz="2000"/>
            </a:pPr>
            <a:r>
              <a:t>We move from procedural problem solving toward object-oriented thinking.</a:t>
            </a:r>
          </a:p>
          <a:p>
            <a:pPr>
              <a:spcAft>
                <a:spcPts val="1000"/>
              </a:spcAft>
              <a:defRPr sz="2000"/>
            </a:pPr>
            <a:r>
              <a:t>Advanced OOP topics such as inheritance and polymorphism come later.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Programming?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Think of a program as a precise recipe for solving a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Programming is giving a computer a precise sequence of instructions.</a:t>
            </a:r>
          </a:p>
          <a:p>
            <a:pPr>
              <a:spcAft>
                <a:spcPts val="1000"/>
              </a:spcAft>
              <a:defRPr sz="2000"/>
            </a:pPr>
            <a:r>
              <a:t>A computer does not guess our intention.</a:t>
            </a:r>
          </a:p>
          <a:p>
            <a:pPr>
              <a:spcAft>
                <a:spcPts val="1000"/>
              </a:spcAft>
              <a:defRPr sz="2000"/>
            </a:pPr>
            <a:r>
              <a:t>Input → Processing → Output</a:t>
            </a:r>
          </a:p>
          <a:p>
            <a:pPr>
              <a:spcAft>
                <a:spcPts val="1000"/>
              </a:spcAft>
              <a:defRPr sz="2000"/>
            </a:pPr>
            <a:r>
              <a:t>Example: marks → calculate percentage → display grade.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Java?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Platform independent through bytecode + JVM.</a:t>
            </a:r>
          </a:p>
          <a:p>
            <a:pPr>
              <a:spcAft>
                <a:spcPts val="1000"/>
              </a:spcAft>
              <a:defRPr sz="2000"/>
            </a:pPr>
            <a:r>
              <a:t>Object-oriented: models real-world entities as objects.</a:t>
            </a:r>
          </a:p>
          <a:p>
            <a:pPr>
              <a:spcAft>
                <a:spcPts val="1000"/>
              </a:spcAft>
              <a:defRPr sz="2000"/>
            </a:pPr>
            <a:r>
              <a:t>Strongly typed: variables have declared types.</a:t>
            </a:r>
          </a:p>
          <a:p>
            <a:pPr>
              <a:spcAft>
                <a:spcPts val="1000"/>
              </a:spcAft>
              <a:defRPr sz="2000"/>
            </a:pPr>
            <a:r>
              <a:t>Robust and widely used in enterprise and business systems.</a:t>
            </a:r>
          </a:p>
          <a:p>
            <a:pPr>
              <a:spcAft>
                <a:spcPts val="1000"/>
              </a:spcAft>
              <a:defRPr sz="2000"/>
            </a:pPr>
            <a:r>
              <a:t>Large ecosystem of libraries, tools and frameworks.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JDK, JVM and Java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JDK: tools required to develop and compile Java programs.</a:t>
            </a:r>
          </a:p>
          <a:p>
            <a:pPr>
              <a:spcAft>
                <a:spcPts val="1000"/>
              </a:spcAft>
              <a:defRPr sz="2000"/>
            </a:pPr>
            <a:r>
              <a:t>javac: compiler that converts source code to bytecode.</a:t>
            </a:r>
          </a:p>
          <a:p>
            <a:pPr>
              <a:spcAft>
                <a:spcPts val="1000"/>
              </a:spcAft>
              <a:defRPr sz="2000"/>
            </a:pPr>
            <a:r>
              <a:t>JVM: executes Java bytecode.</a:t>
            </a:r>
          </a:p>
          <a:p>
            <a:pPr>
              <a:spcAft>
                <a:spcPts val="1000"/>
              </a:spcAft>
              <a:defRPr sz="2000"/>
            </a:pPr>
            <a:r>
              <a:t>Flow: .java → javac → .class bytecode → JVM → output.</a:t>
            </a:r>
          </a:p>
          <a:p>
            <a:pPr>
              <a:spcAft>
                <a:spcPts val="1000"/>
              </a:spcAft>
              <a:defRPr sz="2000"/>
            </a:pPr>
            <a:r>
              <a:t>Question: Why can the same bytecode run on different operating systems?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Your First Java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Rules: public class name matches file name; statements normally end with 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public class LearnJava {</a:t>
            </a:r>
            <a:br/>
            <a:r>
              <a:t>    public static void main(String[] args) {</a:t>
            </a:r>
            <a:br/>
            <a:r>
              <a:t>        System.out.println("Hello World");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Anatomy of main()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public — accessible to the runtime.</a:t>
            </a:r>
          </a:p>
          <a:p>
            <a:pPr>
              <a:spcAft>
                <a:spcPts val="1000"/>
              </a:spcAft>
              <a:defRPr sz="2000"/>
            </a:pPr>
            <a:r>
              <a:t>static — can run without creating an object first.</a:t>
            </a:r>
          </a:p>
          <a:p>
            <a:pPr>
              <a:spcAft>
                <a:spcPts val="1000"/>
              </a:spcAft>
              <a:defRPr sz="2000"/>
            </a:pPr>
            <a:r>
              <a:t>void — returns no value.</a:t>
            </a:r>
          </a:p>
          <a:p>
            <a:pPr>
              <a:spcAft>
                <a:spcPts val="1000"/>
              </a:spcAft>
              <a:defRPr sz="2000"/>
            </a:pPr>
            <a:r>
              <a:t>main() — standard entry point of a Java application.</a:t>
            </a:r>
          </a:p>
          <a:p>
            <a:pPr>
              <a:spcAft>
                <a:spcPts val="1000"/>
              </a:spcAft>
              <a:defRPr sz="2000"/>
            </a:pPr>
            <a:r>
              <a:t>String[] args — command-line text arguments.</a:t>
            </a:r>
          </a:p>
          <a:p>
            <a:pPr>
              <a:spcAft>
                <a:spcPts val="1000"/>
              </a:spcAft>
              <a:defRPr sz="2000"/>
            </a:pPr>
            <a:r>
              <a:t>System.out.println() — prints output and moves to a new 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Common Java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Syntax error: violates Java grammar.</a:t>
            </a:r>
          </a:p>
          <a:p>
            <a:pPr>
              <a:spcAft>
                <a:spcPts val="1000"/>
              </a:spcAft>
              <a:defRPr sz="2000"/>
            </a:pPr>
            <a:r>
              <a:t>Runtime error: compiles but fails during execution.</a:t>
            </a:r>
          </a:p>
          <a:p>
            <a:pPr>
              <a:spcAft>
                <a:spcPts val="1000"/>
              </a:spcAft>
              <a:defRPr sz="2000"/>
            </a:pPr>
            <a:r>
              <a:t>Logic error: runs but produces the wrong answer.</a:t>
            </a:r>
          </a:p>
          <a:p>
            <a:pPr>
              <a:spcAft>
                <a:spcPts val="1000"/>
              </a:spcAft>
              <a:defRPr sz="2000"/>
            </a:pPr>
            <a:r>
              <a:t>Debugging habit: read the FIRST compiler error carefully.</a:t>
            </a:r>
          </a:p>
          <a:p>
            <a:pPr>
              <a:spcAft>
                <a:spcPts val="1000"/>
              </a:spcAft>
              <a:defRPr sz="2000"/>
            </a:pPr>
            <a:r>
              <a:t>Instructor activity: deliberately remove a semicolon, brace, or change main().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Variables and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 variable has a name, type, stored value, scope and lifetime.</a:t>
            </a:r>
          </a:p>
          <a:p>
            <a:pPr>
              <a:spcAft>
                <a:spcPts val="1000"/>
              </a:spcAft>
              <a:defRPr sz="2000"/>
            </a:pPr>
            <a:r>
              <a:t>Primitive types: byte, short, int, long, float, double, char, boolean.</a:t>
            </a:r>
          </a:p>
          <a:p>
            <a:pPr>
              <a:spcAft>
                <a:spcPts val="1000"/>
              </a:spcAft>
              <a:defRPr sz="2000"/>
            </a:pPr>
            <a:r>
              <a:t>Reference types include String, arrays and objects.</a:t>
            </a:r>
          </a:p>
          <a:p>
            <a:pPr>
              <a:spcAft>
                <a:spcPts val="1000"/>
              </a:spcAft>
              <a:defRPr sz="2000"/>
            </a:pPr>
            <a:r>
              <a:t>Important: String is a class, not a primitive type.</a:t>
            </a:r>
          </a:p>
          <a:p>
            <a:pPr>
              <a:spcAft>
                <a:spcPts val="1000"/>
              </a:spcAft>
              <a:defRPr sz="2000"/>
            </a:pPr>
            <a:r>
              <a:t>Example: int marks = 85;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Operators and Expressions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Arithmetic: +  -  *  /  %</a:t>
            </a:r>
          </a:p>
          <a:p>
            <a:pPr>
              <a:spcAft>
                <a:spcPts val="1000"/>
              </a:spcAft>
              <a:defRPr sz="2000"/>
            </a:pPr>
            <a:r>
              <a:t>Relational: &gt;  &lt;  &gt;=  &lt;=  ==  !=</a:t>
            </a:r>
          </a:p>
          <a:p>
            <a:pPr>
              <a:spcAft>
                <a:spcPts val="1000"/>
              </a:spcAft>
              <a:defRPr sz="2000"/>
            </a:pPr>
            <a:r>
              <a:t>Logical: &amp;&amp;  ||  !</a:t>
            </a:r>
          </a:p>
          <a:p>
            <a:pPr>
              <a:spcAft>
                <a:spcPts val="1000"/>
              </a:spcAft>
              <a:defRPr sz="2000"/>
            </a:pPr>
            <a:r>
              <a:t>Assignment: =  +=  -=  *=  /=</a:t>
            </a:r>
          </a:p>
          <a:p>
            <a:pPr>
              <a:spcAft>
                <a:spcPts val="1000"/>
              </a:spcAft>
              <a:defRPr sz="2000"/>
            </a:pPr>
            <a:r>
              <a:t>Increment/decrement: ++  --</a:t>
            </a:r>
          </a:p>
          <a:p>
            <a:pPr>
              <a:spcAft>
                <a:spcPts val="1000"/>
              </a:spcAft>
              <a:defRPr sz="2000"/>
            </a:pPr>
            <a:r>
              <a:t>An expression combines values, variables and operators.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Integer Division — Predict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Ask students to predict the output before running the program.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 x = 10;</a:t>
            </a:r>
            <a:br/>
            <a:r>
              <a:t>int y = 3;</a:t>
            </a:r>
            <a:br/>
            <a:br/>
            <a:r>
              <a:t>System.out.println(x / y); // ?</a:t>
            </a:r>
            <a:br/>
            <a:r>
              <a:t>System.out.println(x % y); // ?</a:t>
            </a:r>
            <a:br/>
            <a:br/>
            <a:r>
              <a:t>// Decimal result:</a:t>
            </a:r>
            <a:br/>
            <a:r>
              <a:t>double result = 10.0 / 3;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Keyboard Input with Scanner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Common methods: nextInt(), nextDouble(), next(), nextLine(), nextBoolean().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import java.util.Scanner;</a:t>
            </a:r>
            <a:br/>
            <a:br/>
            <a:r>
              <a:t>Scanner input = new Scanner(System.in);</a:t>
            </a:r>
            <a:br/>
            <a:r>
              <a:t>System.out.print("Enter your name: ");</a:t>
            </a:r>
            <a:br/>
            <a:r>
              <a:t>String name = input.nextLine();</a:t>
            </a:r>
            <a:br/>
            <a:r>
              <a:t>System.out.print("Enter your age: ");</a:t>
            </a:r>
            <a:br/>
            <a:r>
              <a:t>int age = input.nextInt();</a:t>
            </a:r>
            <a:br/>
            <a:br/>
            <a:r>
              <a:t>System.out.println(name + " is " + age + " years old.");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 1 Lab — Build Small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Hello World</a:t>
            </a:r>
          </a:p>
          <a:p>
            <a:pPr>
              <a:spcAft>
                <a:spcPts val="1000"/>
              </a:spcAft>
              <a:defRPr sz="2000"/>
            </a:pPr>
            <a:r>
              <a:t>2. Student information</a:t>
            </a:r>
          </a:p>
          <a:p>
            <a:pPr>
              <a:spcAft>
                <a:spcPts val="1000"/>
              </a:spcAft>
              <a:defRPr sz="2000"/>
            </a:pPr>
            <a:r>
              <a:t>3. Addition of two numbers</a:t>
            </a:r>
          </a:p>
          <a:p>
            <a:pPr>
              <a:spcAft>
                <a:spcPts val="1000"/>
              </a:spcAft>
              <a:defRPr sz="2000"/>
            </a:pPr>
            <a:r>
              <a:t>4. Average of three numbers</a:t>
            </a:r>
          </a:p>
          <a:p>
            <a:pPr>
              <a:spcAft>
                <a:spcPts val="1000"/>
              </a:spcAft>
              <a:defRPr sz="2000"/>
            </a:pPr>
            <a:r>
              <a:t>5. Area of rectangle</a:t>
            </a:r>
          </a:p>
          <a:p>
            <a:pPr>
              <a:spcAft>
                <a:spcPts val="1000"/>
              </a:spcAft>
              <a:defRPr sz="2000"/>
            </a:pPr>
            <a:r>
              <a:t>6. Area of circle</a:t>
            </a:r>
          </a:p>
          <a:p>
            <a:pPr>
              <a:spcAft>
                <a:spcPts val="1000"/>
              </a:spcAft>
              <a:defRPr sz="2000"/>
            </a:pPr>
            <a:r>
              <a:t>7. Celsius → Fahrenheit</a:t>
            </a:r>
          </a:p>
          <a:p>
            <a:pPr>
              <a:spcAft>
                <a:spcPts val="1000"/>
              </a:spcAft>
              <a:defRPr sz="2000"/>
            </a:pPr>
            <a:r>
              <a:t>8. Simple interest</a:t>
            </a:r>
          </a:p>
          <a:p>
            <a:pPr>
              <a:spcAft>
                <a:spcPts val="1000"/>
              </a:spcAft>
              <a:defRPr sz="2000"/>
            </a:pPr>
            <a:r>
              <a:t>9. Percentage calculator</a:t>
            </a:r>
          </a:p>
          <a:p>
            <a:pPr>
              <a:spcAft>
                <a:spcPts val="1000"/>
              </a:spcAft>
              <a:defRPr sz="2000"/>
            </a:pPr>
            <a:r>
              <a:t>10. Basic grade calculator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 1 Mini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Lab rule: type → compile → test with multiple inputs → explain your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Create a Student Marks Program.</a:t>
            </a:r>
          </a:p>
          <a:p>
            <a:pPr>
              <a:spcAft>
                <a:spcPts val="1000"/>
              </a:spcAft>
              <a:defRPr sz="2000"/>
            </a:pPr>
            <a:r>
              <a:t>Input: student name, five subject marks, total possible marks.</a:t>
            </a:r>
          </a:p>
          <a:p>
            <a:pPr>
              <a:spcAft>
                <a:spcPts val="1000"/>
              </a:spcAft>
              <a:defRPr sz="2000"/>
            </a:pPr>
            <a:r>
              <a:t>Calculate: total obtained marks and percentage.</a:t>
            </a:r>
          </a:p>
          <a:p>
            <a:pPr>
              <a:spcAft>
                <a:spcPts val="1000"/>
              </a:spcAft>
              <a:defRPr sz="2000"/>
            </a:pPr>
            <a:r>
              <a:t>Display a clear result summary.</a:t>
            </a:r>
          </a:p>
          <a:p>
            <a:pPr>
              <a:spcAft>
                <a:spcPts val="1000"/>
              </a:spcAft>
              <a:defRPr sz="2000"/>
            </a:pPr>
            <a:r>
              <a:t>Extension: add pass/fail decision after learning if-else.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 2: From Steps to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Conditions let a program choose what to do.</a:t>
            </a:r>
          </a:p>
          <a:p>
            <a:pPr>
              <a:spcAft>
                <a:spcPts val="1000"/>
              </a:spcAft>
              <a:defRPr sz="2000"/>
            </a:pPr>
            <a:r>
              <a:t>A condition evaluates to true or false.</a:t>
            </a:r>
          </a:p>
          <a:p>
            <a:pPr>
              <a:spcAft>
                <a:spcPts val="1000"/>
              </a:spcAft>
              <a:defRPr sz="2000"/>
            </a:pPr>
            <a:r>
              <a:t>Use if for one optional action.</a:t>
            </a:r>
          </a:p>
          <a:p>
            <a:pPr>
              <a:spcAft>
                <a:spcPts val="1000"/>
              </a:spcAft>
              <a:defRPr sz="2000"/>
            </a:pPr>
            <a:r>
              <a:t>Use if-else for two alternatives.</a:t>
            </a:r>
          </a:p>
          <a:p>
            <a:pPr>
              <a:spcAft>
                <a:spcPts val="1000"/>
              </a:spcAft>
              <a:defRPr sz="2000"/>
            </a:pPr>
            <a:r>
              <a:t>Use else-if for multiple ordered conditions.</a:t>
            </a:r>
          </a:p>
          <a:p>
            <a:pPr>
              <a:spcAft>
                <a:spcPts val="1000"/>
              </a:spcAft>
              <a:defRPr sz="2000"/>
            </a:pPr>
            <a:r>
              <a:t>Use switch for fixed equality-based choices.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if, if-else and else-if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Order matters: conditions are checked from top to bottom.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if (marks &gt;= 80) {</a:t>
            </a:r>
            <a:br/>
            <a:r>
              <a:t>    System.out.println("Grade A");</a:t>
            </a:r>
            <a:br/>
            <a:r>
              <a:t>} else if (marks &gt;= 70) {</a:t>
            </a:r>
            <a:br/>
            <a:r>
              <a:t>    System.out.println("Grade B");</a:t>
            </a:r>
            <a:br/>
            <a:r>
              <a:t>} else if (marks &gt;= 60) {</a:t>
            </a:r>
            <a:br/>
            <a:r>
              <a:t>    System.out.println("Grade C");</a:t>
            </a:r>
            <a:br/>
            <a:r>
              <a:t>} else {</a:t>
            </a:r>
            <a:br/>
            <a:r>
              <a:t>    System.out.println("Grade F");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switch and Decision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Use switch when one expression is compared with several fixed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switch (choice) {</a:t>
            </a:r>
            <a:br/>
            <a:r>
              <a:t>    case 1:</a:t>
            </a:r>
            <a:br/>
            <a:r>
              <a:t>        System.out.println("Add");</a:t>
            </a:r>
            <a:br/>
            <a:r>
              <a:t>        break;</a:t>
            </a:r>
            <a:br/>
            <a:r>
              <a:t>    case 2:</a:t>
            </a:r>
            <a:br/>
            <a:r>
              <a:t>        System.out.println("Subtract");</a:t>
            </a:r>
            <a:br/>
            <a:r>
              <a:t>        break;</a:t>
            </a:r>
            <a:br/>
            <a:r>
              <a:t>    default:</a:t>
            </a:r>
            <a:br/>
            <a:r>
              <a:t>        System.out.println("Invalid choice");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Do We Need Loops?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Repetition without loops causes duplicated code.</a:t>
            </a:r>
          </a:p>
          <a:p>
            <a:pPr>
              <a:spcAft>
                <a:spcPts val="1000"/>
              </a:spcAft>
              <a:defRPr sz="2000"/>
            </a:pPr>
            <a:r>
              <a:t>Loops define a repeated action once.</a:t>
            </a:r>
          </a:p>
          <a:p>
            <a:pPr>
              <a:spcAft>
                <a:spcPts val="1000"/>
              </a:spcAft>
              <a:defRPr sz="2000"/>
            </a:pPr>
            <a:r>
              <a:t>They control when repetition begins and ends.</a:t>
            </a:r>
          </a:p>
          <a:p>
            <a:pPr>
              <a:spcAft>
                <a:spcPts val="1000"/>
              </a:spcAft>
              <a:defRPr sz="2000"/>
            </a:pPr>
            <a:r>
              <a:t>They are useful for processing many values.</a:t>
            </a:r>
          </a:p>
          <a:p>
            <a:pPr>
              <a:spcAft>
                <a:spcPts val="1000"/>
              </a:spcAft>
              <a:defRPr sz="2000"/>
            </a:pPr>
            <a:r>
              <a:t>Basic loop cycle: initialize → condition → body → update → repeat/exit.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for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Three parts: initialization → condition → update.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for (int i = 1; i &lt;= 10; i++) {</a:t>
            </a:r>
            <a:br/>
            <a:r>
              <a:t>    System.out.println(i);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while and do-while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while checks before the body; do-while executes the body at least once.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 i = 1;</a:t>
            </a:r>
            <a:br/>
            <a:r>
              <a:t>while (i &lt;= 10) {</a:t>
            </a:r>
            <a:br/>
            <a:r>
              <a:t>    System.out.println(i);</a:t>
            </a:r>
            <a:br/>
            <a:r>
              <a:t>    i++;</a:t>
            </a:r>
            <a:br/>
            <a:r>
              <a:t>}</a:t>
            </a:r>
            <a:br/>
            <a:br/>
            <a:r>
              <a:t>int j = 1;</a:t>
            </a:r>
            <a:br/>
            <a:r>
              <a:t>do {</a:t>
            </a:r>
            <a:br/>
            <a:r>
              <a:t>    System.out.println(j);</a:t>
            </a:r>
            <a:br/>
            <a:r>
              <a:t>    j++;</a:t>
            </a:r>
            <a:br/>
            <a:r>
              <a:t>} while (j &lt;= 10);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Which Loop Should I Choose?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for — known/count-controlled repetitions.</a:t>
            </a:r>
          </a:p>
          <a:p>
            <a:pPr>
              <a:spcAft>
                <a:spcPts val="1000"/>
              </a:spcAft>
              <a:defRPr sz="2000"/>
            </a:pPr>
            <a:r>
              <a:t>while — repetition depends on a condition; count may be unknown.</a:t>
            </a:r>
          </a:p>
          <a:p>
            <a:pPr>
              <a:spcAft>
                <a:spcPts val="1000"/>
              </a:spcAft>
              <a:defRPr sz="2000"/>
            </a:pPr>
            <a:r>
              <a:t>do-while — body must execute at least once.</a:t>
            </a:r>
          </a:p>
          <a:p>
            <a:pPr>
              <a:spcAft>
                <a:spcPts val="1000"/>
              </a:spcAft>
              <a:defRPr sz="2000"/>
            </a:pPr>
            <a:r>
              <a:t>Ask: which loop makes my intention clearest?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break and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break exits the loop; continue skips the current iteration.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for (int i = 1; i &lt;= 10; i++) {</a:t>
            </a:r>
            <a:br/>
            <a:r>
              <a:t>    if (i == 6) break;</a:t>
            </a:r>
            <a:br/>
            <a:r>
              <a:t>    System.out.println(i);</a:t>
            </a:r>
            <a:br/>
            <a:r>
              <a:t>}</a:t>
            </a:r>
            <a:br/>
            <a:br/>
            <a:r>
              <a:t>for (int i = 1; i &lt;= 10; i++) {</a:t>
            </a:r>
            <a:br/>
            <a:r>
              <a:t>    if (i == 6) continue;</a:t>
            </a:r>
            <a:br/>
            <a:r>
              <a:t>    System.out.println(i);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 2 Lab — Loop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Implement and trace:</a:t>
            </a:r>
          </a:p>
          <a:p>
            <a:pPr>
              <a:spcAft>
                <a:spcPts val="1000"/>
              </a:spcAft>
              <a:defRPr sz="2000"/>
            </a:pPr>
            <a:r>
              <a:t>• numbers 1–100</a:t>
            </a:r>
          </a:p>
          <a:p>
            <a:pPr>
              <a:spcAft>
                <a:spcPts val="1000"/>
              </a:spcAft>
              <a:defRPr sz="2000"/>
            </a:pPr>
            <a:r>
              <a:t>• even and odd numbers</a:t>
            </a:r>
          </a:p>
          <a:p>
            <a:pPr>
              <a:spcAft>
                <a:spcPts val="1000"/>
              </a:spcAft>
              <a:defRPr sz="2000"/>
            </a:pPr>
            <a:r>
              <a:t>• multiplication table</a:t>
            </a:r>
          </a:p>
          <a:p>
            <a:pPr>
              <a:spcAft>
                <a:spcPts val="1000"/>
              </a:spcAft>
              <a:defRPr sz="2000"/>
            </a:pPr>
            <a:r>
              <a:t>• sum from 1 to n</a:t>
            </a:r>
          </a:p>
          <a:p>
            <a:pPr>
              <a:spcAft>
                <a:spcPts val="1000"/>
              </a:spcAft>
              <a:defRPr sz="2000"/>
            </a:pPr>
            <a:r>
              <a:t>• factorial</a:t>
            </a:r>
          </a:p>
          <a:p>
            <a:pPr>
              <a:spcAft>
                <a:spcPts val="1000"/>
              </a:spcAft>
              <a:defRPr sz="2000"/>
            </a:pPr>
            <a:r>
              <a:t>• reverse digits</a:t>
            </a:r>
          </a:p>
          <a:p>
            <a:pPr>
              <a:spcAft>
                <a:spcPts val="1000"/>
              </a:spcAft>
              <a:defRPr sz="2000"/>
            </a:pPr>
            <a:r>
              <a:t>• count digits</a:t>
            </a:r>
          </a:p>
          <a:p>
            <a:pPr>
              <a:spcAft>
                <a:spcPts val="1000"/>
              </a:spcAft>
              <a:defRPr sz="2000"/>
            </a:pPr>
            <a:r>
              <a:t>• prime check</a:t>
            </a:r>
          </a:p>
          <a:p>
            <a:pPr>
              <a:spcAft>
                <a:spcPts val="1000"/>
              </a:spcAft>
              <a:defRPr sz="2000"/>
            </a:pPr>
            <a:r>
              <a:t>• repeat until valid input</a:t>
            </a:r>
          </a:p>
          <a:p>
            <a:pPr>
              <a:spcAft>
                <a:spcPts val="1000"/>
              </a:spcAft>
              <a:defRPr sz="2000"/>
            </a:pPr>
            <a:r>
              <a:t>For difficult problems, require a variable-trace table.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Methods?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Divide a large problem into smaller tasks.</a:t>
            </a:r>
          </a:p>
          <a:p>
            <a:pPr>
              <a:spcAft>
                <a:spcPts val="1000"/>
              </a:spcAft>
              <a:defRPr sz="2000"/>
            </a:pPr>
            <a:r>
              <a:t>Reuse logic without copying code.</a:t>
            </a:r>
          </a:p>
          <a:p>
            <a:pPr>
              <a:spcAft>
                <a:spcPts val="1000"/>
              </a:spcAft>
              <a:defRPr sz="2000"/>
            </a:pPr>
            <a:r>
              <a:t>Improve readability and testing.</a:t>
            </a:r>
          </a:p>
          <a:p>
            <a:pPr>
              <a:spcAft>
                <a:spcPts val="1000"/>
              </a:spcAft>
              <a:defRPr sz="2000"/>
            </a:pPr>
            <a:r>
              <a:t>Prepare for object behavior in OOP.</a:t>
            </a:r>
          </a:p>
          <a:p>
            <a:pPr>
              <a:spcAft>
                <a:spcPts val="1000"/>
              </a:spcAft>
              <a:defRPr sz="2000"/>
            </a:pPr>
            <a:r>
              <a:t>Example: calculateTotal(), calculatePercentage(), displayResult().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Defining and Calling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 method can receive parameters and return a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public static void sayHello() {</a:t>
            </a:r>
            <a:br/>
            <a:r>
              <a:t>    System.out.println("Hello");</a:t>
            </a:r>
            <a:br/>
            <a:r>
              <a:t>}</a:t>
            </a:r>
            <a:br/>
            <a:br/>
            <a:r>
              <a:t>public static int add(int a, int b) {</a:t>
            </a:r>
            <a:br/>
            <a:r>
              <a:t>    return a + b;</a:t>
            </a:r>
            <a:br/>
            <a:r>
              <a:t>}</a:t>
            </a:r>
            <a:br/>
            <a:br/>
            <a:r>
              <a:t>int sum = add(10, 5);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Access modifier: e.g., public.</a:t>
            </a:r>
          </a:p>
          <a:p>
            <a:pPr>
              <a:spcAft>
                <a:spcPts val="1000"/>
              </a:spcAft>
              <a:defRPr sz="2000"/>
            </a:pPr>
            <a:r>
              <a:t>static: belongs to the class rather than an instance.</a:t>
            </a:r>
          </a:p>
          <a:p>
            <a:pPr>
              <a:spcAft>
                <a:spcPts val="1000"/>
              </a:spcAft>
              <a:defRPr sz="2000"/>
            </a:pPr>
            <a:r>
              <a:t>Return type: e.g., int, double, or void.</a:t>
            </a:r>
          </a:p>
          <a:p>
            <a:pPr>
              <a:spcAft>
                <a:spcPts val="1000"/>
              </a:spcAft>
              <a:defRPr sz="2000"/>
            </a:pPr>
            <a:r>
              <a:t>Method name: meaningful action name.</a:t>
            </a:r>
          </a:p>
          <a:p>
            <a:pPr>
              <a:spcAft>
                <a:spcPts val="1000"/>
              </a:spcAft>
              <a:defRPr sz="2000"/>
            </a:pPr>
            <a:r>
              <a:t>Parameter list: inputs declared by the method.</a:t>
            </a:r>
          </a:p>
          <a:p>
            <a:pPr>
              <a:spcAft>
                <a:spcPts val="1000"/>
              </a:spcAft>
              <a:defRPr sz="2000"/>
            </a:pPr>
            <a:r>
              <a:t>Parameter = definition; argument = actual value supplied in a call.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Scope and Return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Local variables exist only inside their method's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public static double calculateAverage(int a, int b, int c) {</a:t>
            </a:r>
            <a:br/>
            <a:r>
              <a:t>    double average = (a + b + c) / 3.0;</a:t>
            </a:r>
            <a:br/>
            <a:r>
              <a:t>    return average;</a:t>
            </a:r>
            <a:br/>
            <a:r>
              <a:t>}</a:t>
            </a:r>
            <a:br/>
            <a:br/>
            <a:r>
              <a:t>public static void main(String[] args) {</a:t>
            </a:r>
            <a:br/>
            <a:r>
              <a:t>    double result = calculateAverage(70, 80, 90);</a:t>
            </a:r>
            <a:br/>
            <a:r>
              <a:t>    System.out.println(result);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End-of-Class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Can you create, compile and run a Java class?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Can you explain source → bytecode → JVM?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Can you choose appropriate data types?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Can you read input and produce output?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Can you use if/else and loops?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Can you write methods with parameters and return </a:t>
            </a:r>
            <a:r>
              <a:t>values?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1737</Words>
  <Application>Microsoft Office PowerPoint</Application>
  <PresentationFormat>Widescreen</PresentationFormat>
  <Paragraphs>158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Yasir Ali Naich</cp:lastModifiedBy>
  <cp:revision>4</cp:revision>
  <dcterms:created xsi:type="dcterms:W3CDTF">2013-01-27T09:14:16Z</dcterms:created>
  <dcterms:modified xsi:type="dcterms:W3CDTF">2026-09-15T13:22:20Z</dcterms:modified>
  <cp:category/>
</cp:coreProperties>
</file>