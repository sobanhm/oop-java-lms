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3" r:id="rId48"/>
    <p:sldId id="305" r:id="rId49"/>
    <p:sldId id="306" r:id="rId50"/>
    <p:sldId id="307" r:id="rId51"/>
    <p:sldId id="308" r:id="rId52"/>
    <p:sldId id="309" r:id="rId53"/>
    <p:sldId id="310" r:id="rId54"/>
    <p:sldId id="311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8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Java Foundations → Arrays → Methods → User-Defined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Object-Oriented Programming — Theory +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 slow, step-by-step lecture for beginners.</a:t>
            </a:r>
          </a:p>
          <a:p>
            <a:pPr>
              <a:spcAft>
                <a:spcPts val="800"/>
              </a:spcAft>
              <a:defRPr sz="1900"/>
            </a:pPr>
            <a:r>
              <a:t>Goal: understand the idea before memorizing syntax.</a:t>
            </a:r>
          </a:p>
          <a:p>
            <a:pPr>
              <a:spcAft>
                <a:spcPts val="800"/>
              </a:spcAft>
              <a:defRPr sz="1900"/>
            </a:pPr>
            <a:r>
              <a:t>We will repeatedly follow: Explain → Predict → Code → Run → Trace → Modify.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We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Do not copy code without understanding it.</a:t>
            </a:r>
          </a:p>
          <a:p>
            <a:pPr>
              <a:spcAft>
                <a:spcPts val="800"/>
              </a:spcAft>
              <a:defRPr sz="1900"/>
            </a:pPr>
            <a:r>
              <a:t>Every program starts with a small problem.</a:t>
            </a:r>
          </a:p>
          <a:p>
            <a:pPr>
              <a:spcAft>
                <a:spcPts val="800"/>
              </a:spcAft>
              <a:defRPr sz="1900"/>
            </a:pPr>
            <a:r>
              <a:t>First identify input, process and output.</a:t>
            </a:r>
          </a:p>
          <a:p>
            <a:pPr>
              <a:spcAft>
                <a:spcPts val="800"/>
              </a:spcAft>
              <a:defRPr sz="1900"/>
            </a:pPr>
            <a:r>
              <a:t>Then write the smallest working code.</a:t>
            </a:r>
          </a:p>
          <a:p>
            <a:pPr>
              <a:spcAft>
                <a:spcPts val="800"/>
              </a:spcAft>
              <a:defRPr sz="1900"/>
            </a:pPr>
            <a:r>
              <a:t>After it works, modify it and observe what changes.</a:t>
            </a:r>
          </a:p>
          <a:p>
            <a:pPr>
              <a:spcAft>
                <a:spcPts val="800"/>
              </a:spcAft>
              <a:defRPr sz="1900"/>
            </a:pPr>
            <a:r>
              <a:t>If an error occurs, read it and trace the program.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Part 1 — First Understand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 variable stores one value.</a:t>
            </a:r>
          </a:p>
          <a:p>
            <a:pPr>
              <a:spcAft>
                <a:spcPts val="800"/>
              </a:spcAft>
              <a:defRPr sz="1900"/>
            </a:pPr>
            <a:r>
              <a:t>Example: int age = 20;</a:t>
            </a:r>
          </a:p>
          <a:p>
            <a:pPr>
              <a:spcAft>
                <a:spcPts val="800"/>
              </a:spcAft>
              <a:defRPr sz="1900"/>
            </a:pPr>
            <a:r>
              <a:t>If we need 1 student's marks, one variable is enough.</a:t>
            </a:r>
          </a:p>
          <a:p>
            <a:pPr>
              <a:spcAft>
                <a:spcPts val="800"/>
              </a:spcAft>
              <a:defRPr sz="1900"/>
            </a:pPr>
            <a:r>
              <a:t>If we need 50 students' marks, many separate variables become difficult.</a:t>
            </a:r>
          </a:p>
          <a:p>
            <a:pPr>
              <a:spcAft>
                <a:spcPts val="800"/>
              </a:spcAft>
              <a:defRPr sz="1900"/>
            </a:pPr>
            <a:r>
              <a:t>This is the problem arrays solve.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From One Value to Many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One variable stores one value; an array lets one variable represent multiple same-type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// One value</a:t>
            </a:r>
            <a:br/>
            <a:r>
              <a:t>int mark = 85;</a:t>
            </a:r>
            <a:br/>
            <a:br/>
            <a:r>
              <a:t>// Many values</a:t>
            </a:r>
            <a:br/>
            <a:r>
              <a:t>int[] marks = {85, 72, 91, 68, 77};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an Array?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Think: one row of numbered boxes.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An array stores multiple values of the same data type.</a:t>
            </a:r>
          </a:p>
          <a:p>
            <a:pPr>
              <a:spcAft>
                <a:spcPts val="800"/>
              </a:spcAft>
              <a:defRPr sz="1900"/>
            </a:pPr>
            <a:r>
              <a:t>All values are accessed using one array name.</a:t>
            </a:r>
          </a:p>
          <a:p>
            <a:pPr>
              <a:spcAft>
                <a:spcPts val="800"/>
              </a:spcAft>
              <a:defRPr sz="1900"/>
            </a:pPr>
            <a:r>
              <a:t>Each value has a position called an index.</a:t>
            </a:r>
          </a:p>
          <a:p>
            <a:pPr>
              <a:spcAft>
                <a:spcPts val="800"/>
              </a:spcAft>
              <a:defRPr sz="1900"/>
            </a:pPr>
            <a:r>
              <a:t>Java indexes start at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Visualizing an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marks[0] is 85. marks[2] is 91. marks[4] is 77.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marks = {85, 72, 91, 68, 77};</a:t>
            </a:r>
            <a:br/>
            <a:br/>
            <a:r>
              <a:t>Index:    0    1    2    3    4</a:t>
            </a:r>
            <a:br/>
            <a:r>
              <a:t>Value:   85   72   91   68  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Three Things Students Must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Array name → marks</a:t>
            </a:r>
          </a:p>
          <a:p>
            <a:pPr>
              <a:spcAft>
                <a:spcPts val="800"/>
              </a:spcAft>
              <a:defRPr sz="1900"/>
            </a:pPr>
            <a:r>
              <a:t>2. Index → position, starting at 0</a:t>
            </a:r>
          </a:p>
          <a:p>
            <a:pPr>
              <a:spcAft>
                <a:spcPts val="800"/>
              </a:spcAft>
              <a:defRPr sz="1900"/>
            </a:pPr>
            <a:r>
              <a:t>3. Value → data stored at that position</a:t>
            </a:r>
          </a:p>
          <a:p>
            <a:pPr>
              <a:spcAft>
                <a:spcPts val="800"/>
              </a:spcAft>
              <a:defRPr sz="1900"/>
            </a:pPr>
            <a:r>
              <a:t>Example: marks[2] → index 2 contains value 91.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Creating an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// Empty array with fixed size</a:t>
            </a:r>
            <a:br/>
            <a:r>
              <a:t>int[] marks = new int[5];</a:t>
            </a:r>
            <a:br/>
            <a:br/>
            <a:r>
              <a:t>// Array with values</a:t>
            </a:r>
            <a:br/>
            <a:r>
              <a:t>int[] scores = {80, 75, 90, 65, 88};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Happens with new int[5]?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endParaRPr lang="en-US" dirty="0"/>
          </a:p>
          <a:p>
            <a:pPr>
              <a:spcAft>
                <a:spcPts val="800"/>
              </a:spcAft>
              <a:defRPr sz="1900"/>
            </a:pPr>
            <a:endParaRPr lang="en-US" dirty="0"/>
          </a:p>
          <a:p>
            <a:pPr>
              <a:spcAft>
                <a:spcPts val="800"/>
              </a:spcAft>
              <a:defRPr sz="1900"/>
            </a:pPr>
            <a:r>
              <a:rPr dirty="0"/>
              <a:t>Java creates space for 5 integers.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The positions are 0, 1, 2, 3 and 4.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For an int array, initial values are 0.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You cannot use index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08176"/>
            <a:ext cx="10104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numbers = new int[5];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Accessing an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Output: 80 and 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marks = {80, 75, 90};</a:t>
            </a:r>
            <a:br/>
            <a:br/>
            <a:r>
              <a:t>System.out.println(marks[0]);</a:t>
            </a:r>
            <a:br/>
            <a:r>
              <a:t>System.out.println(marks[2]);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Changing an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value at index 1 changes from 75 to 85.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marks = {80, 75, 90};</a:t>
            </a:r>
            <a:br/>
            <a:br/>
            <a:r>
              <a:t>marks[1] = 85;</a:t>
            </a:r>
            <a:br/>
            <a:br/>
            <a:r>
              <a:t>System.out.println(marks[1]);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Array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length = number of elements. Last valid index = length - 1.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marks = {80, 75, 90, 65, 88};</a:t>
            </a:r>
            <a:br/>
            <a:br/>
            <a:r>
              <a:t>System.out.println(marks.length);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Most Common Array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Valid indexes: 0 to 4. Invalid index → ArrayIndexOutOfBoundsException.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marks = new int[5];</a:t>
            </a:r>
            <a:br/>
            <a:br/>
            <a:r>
              <a:t>// Valid</a:t>
            </a:r>
            <a:br/>
            <a:r>
              <a:t>marks[4] = 90;</a:t>
            </a:r>
            <a:br/>
            <a:br/>
            <a:r>
              <a:t>// Invalid</a:t>
            </a:r>
            <a:br/>
            <a:r>
              <a:t>// marks[5] = 90;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Practice 1 — Predict 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STOP: Ask students to write the output before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a = {10, 20, 30, 40};</a:t>
            </a:r>
            <a:br/>
            <a:br/>
            <a:r>
              <a:t>System.out.println(a[0]);</a:t>
            </a:r>
            <a:br/>
            <a:r>
              <a:t>System.out.println(a[3]);</a:t>
            </a:r>
            <a:br/>
            <a:r>
              <a:t>a[1] = 99;</a:t>
            </a:r>
            <a:br/>
            <a:r>
              <a:t>System.out.println(a[1]);</a:t>
            </a:r>
            <a:br/>
            <a:r>
              <a:t>System.out.println(a.length);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Do We Need Loops?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If an array has 5 elements, we could access them one by one.</a:t>
            </a:r>
          </a:p>
          <a:p>
            <a:pPr>
              <a:spcAft>
                <a:spcPts val="800"/>
              </a:spcAft>
              <a:defRPr sz="1900"/>
            </a:pPr>
            <a:r>
              <a:t>But what if it has 1,000 elements?</a:t>
            </a:r>
          </a:p>
          <a:p>
            <a:pPr>
              <a:spcAft>
                <a:spcPts val="800"/>
              </a:spcAft>
              <a:defRPr sz="1900"/>
            </a:pPr>
            <a:r>
              <a:t>A loop lets us repeat the same operation for every element.</a:t>
            </a:r>
          </a:p>
          <a:p>
            <a:pPr>
              <a:spcAft>
                <a:spcPts val="800"/>
              </a:spcAft>
              <a:defRPr sz="1900"/>
            </a:pPr>
            <a:r>
              <a:t>The loop index becomes the array index.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First Array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 = position. marks[i] = value at that 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marks = {80, 75, 90, 65};</a:t>
            </a:r>
            <a:br/>
            <a:br/>
            <a:r>
              <a:t>for (int i = 0; i &lt; marks.length; i++) {</a:t>
            </a:r>
            <a:br/>
            <a:r>
              <a:t>    System.out.println(marks[i]);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Understand the Three Parts of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Start → condition → update. If the condition becomes false, the loop stops.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for (int i = 0; i &lt; marks.length; i++) {</a:t>
            </a:r>
            <a:br/>
            <a:r>
              <a:t>    // work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Trace the Loop Slowly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i = 0 → 0 &lt; 4 → print marks[0]</a:t>
            </a:r>
          </a:p>
          <a:p>
            <a:pPr>
              <a:spcAft>
                <a:spcPts val="800"/>
              </a:spcAft>
              <a:defRPr sz="1900"/>
            </a:pPr>
            <a:r>
              <a:t>i = 1 → 1 &lt; 4 → print marks[1]</a:t>
            </a:r>
          </a:p>
          <a:p>
            <a:pPr>
              <a:spcAft>
                <a:spcPts val="800"/>
              </a:spcAft>
              <a:defRPr sz="1900"/>
            </a:pPr>
            <a:r>
              <a:t>i = 2 → 2 &lt; 4 → print marks[2]</a:t>
            </a:r>
          </a:p>
          <a:p>
            <a:pPr>
              <a:spcAft>
                <a:spcPts val="800"/>
              </a:spcAft>
              <a:defRPr sz="1900"/>
            </a:pPr>
            <a:r>
              <a:t>i = 3 → 3 &lt; 4 → print marks[3]</a:t>
            </a:r>
          </a:p>
          <a:p>
            <a:pPr>
              <a:spcAft>
                <a:spcPts val="800"/>
              </a:spcAft>
              <a:defRPr sz="1900"/>
            </a:pPr>
            <a:r>
              <a:t>i = 4 → 4 &lt; 4 is false → stop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Enhanced for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Read it as: for every mark inside marks, execute the body.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for (int mark : marks) {</a:t>
            </a:r>
            <a:br/>
            <a:r>
              <a:t>    System.out.println(mark);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Traditional for vs Enhanced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Traditional for → useful when you need the index.</a:t>
            </a:r>
          </a:p>
          <a:p>
            <a:pPr>
              <a:spcAft>
                <a:spcPts val="800"/>
              </a:spcAft>
              <a:defRPr sz="1900"/>
            </a:pPr>
            <a:r>
              <a:t>Enhanced for → useful when you only need each value.</a:t>
            </a:r>
          </a:p>
          <a:p>
            <a:pPr>
              <a:spcAft>
                <a:spcPts val="800"/>
              </a:spcAft>
              <a:defRPr sz="1900"/>
            </a:pPr>
            <a:r>
              <a:t>Both can visit every array element.</a:t>
            </a:r>
          </a:p>
          <a:p>
            <a:pPr>
              <a:spcAft>
                <a:spcPts val="800"/>
              </a:spcAft>
              <a:defRPr sz="1900"/>
            </a:pPr>
            <a:r>
              <a:t>Beginners should first master the traditional loop, then use enhanced for.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Array Problem 1 — 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accumulator starts at 0 and grows one value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marks = {80, 75, 90, 65};</a:t>
            </a:r>
            <a:br/>
            <a:r>
              <a:t>int sum = 0;</a:t>
            </a:r>
            <a:br/>
            <a:br/>
            <a:r>
              <a:t>for (int mark : marks) {</a:t>
            </a:r>
            <a:br/>
            <a:r>
              <a:t>    sum += mark;</a:t>
            </a:r>
            <a:br/>
            <a:r>
              <a:t>}</a:t>
            </a:r>
            <a:br/>
            <a:br/>
            <a:r>
              <a:t>System.out.println("Total = " + sum);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Array Problem 2 —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Use double when you want a decimal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double average = (double) sum / marks.length;</a:t>
            </a:r>
            <a:br/>
            <a:br/>
            <a:r>
              <a:t>System.out.printf("Average = %.2f%n", average);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Array Problem 3 — Maximum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Start with the first value. Compare the rest one by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 max = marks[0];</a:t>
            </a:r>
            <a:br/>
            <a:br/>
            <a:r>
              <a:t>for (int i = 1; i &lt; marks.length; i++) {</a:t>
            </a:r>
            <a:br/>
            <a:r>
              <a:t>    if (marks[i] &gt; max) {</a:t>
            </a:r>
            <a:br/>
            <a:r>
              <a:t>        max = marks[i];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Array Problem 4 —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 min = marks[0];</a:t>
            </a:r>
            <a:br/>
            <a:br/>
            <a:r>
              <a:t>for (int i = 1; i &lt; marks.length; i++) {</a:t>
            </a:r>
            <a:br/>
            <a:r>
              <a:t>    if (marks[i] &lt; min) {</a:t>
            </a:r>
            <a:br/>
            <a:r>
              <a:t>        min = marks[i];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Array Problem 5 —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We check each value until we find the target or reach the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 target = 90;</a:t>
            </a:r>
            <a:br/>
            <a:r>
              <a:t>boolean found = false;</a:t>
            </a:r>
            <a:br/>
            <a:br/>
            <a:r>
              <a:t>for (int mark : marks) {</a:t>
            </a:r>
            <a:br/>
            <a:r>
              <a:t>    if (mark == target) {</a:t>
            </a:r>
            <a:br/>
            <a:r>
              <a:t>        found = true;</a:t>
            </a:r>
            <a:br/>
            <a:r>
              <a:t>        break;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Taking Array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loop controls the position; Scanner supplies the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Scanner input = new Scanner(System.in);</a:t>
            </a:r>
            <a:br/>
            <a:r>
              <a:t>int[] marks = new int[5];</a:t>
            </a:r>
            <a:br/>
            <a:br/>
            <a:r>
              <a:t>for (int i = 0; i &lt; marks.length; i++) {</a:t>
            </a:r>
            <a:br/>
            <a:r>
              <a:t>    System.out.print("Enter mark " + (i + 1) + ": ");</a:t>
            </a:r>
            <a:br/>
            <a:r>
              <a:t>    marks[i] = input.nextInt();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Guided Lab — Student Marks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Create an array for 5 marks.</a:t>
            </a:r>
          </a:p>
          <a:p>
            <a:pPr>
              <a:spcAft>
                <a:spcPts val="800"/>
              </a:spcAft>
              <a:defRPr sz="1900"/>
            </a:pPr>
            <a:r>
              <a:t>Take all marks from the user.</a:t>
            </a:r>
          </a:p>
          <a:p>
            <a:pPr>
              <a:spcAft>
                <a:spcPts val="800"/>
              </a:spcAft>
              <a:defRPr sz="1900"/>
            </a:pPr>
            <a:r>
              <a:t>Display every mark.</a:t>
            </a:r>
          </a:p>
          <a:p>
            <a:pPr>
              <a:spcAft>
                <a:spcPts val="800"/>
              </a:spcAft>
              <a:defRPr sz="1900"/>
            </a:pPr>
            <a:r>
              <a:t>Calculate total and average.</a:t>
            </a:r>
          </a:p>
          <a:p>
            <a:pPr>
              <a:spcAft>
                <a:spcPts val="800"/>
              </a:spcAft>
              <a:defRPr sz="1900"/>
            </a:pPr>
            <a:r>
              <a:t>Find highest and lowest mark.</a:t>
            </a:r>
          </a:p>
          <a:p>
            <a:pPr>
              <a:spcAft>
                <a:spcPts val="800"/>
              </a:spcAft>
              <a:defRPr sz="1900"/>
            </a:pPr>
            <a:r>
              <a:t>Count passes (mark &gt;= 50).</a:t>
            </a:r>
          </a:p>
          <a:p>
            <a:pPr>
              <a:spcAft>
                <a:spcPts val="800"/>
              </a:spcAft>
              <a:defRPr sz="1900"/>
            </a:pPr>
            <a:r>
              <a:t>Search for a mark entered by the user.</a:t>
            </a:r>
          </a:p>
          <a:p>
            <a:pPr>
              <a:spcAft>
                <a:spcPts val="800"/>
              </a:spcAft>
              <a:defRPr sz="1900"/>
            </a:pPr>
            <a:r>
              <a:t>Test with your own values.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Part 2 — Why Methods?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Imagine main() contains every operation.</a:t>
            </a:r>
          </a:p>
          <a:p>
            <a:pPr>
              <a:spcAft>
                <a:spcPts val="800"/>
              </a:spcAft>
              <a:defRPr sz="1900"/>
            </a:pPr>
            <a:r>
              <a:t>Input, calculation, searching, display and validation can make it very long.</a:t>
            </a:r>
          </a:p>
          <a:p>
            <a:pPr>
              <a:spcAft>
                <a:spcPts val="800"/>
              </a:spcAft>
              <a:defRPr sz="1900"/>
            </a:pPr>
            <a:r>
              <a:t>Methods divide a large program into small, understandable tasks.</a:t>
            </a:r>
          </a:p>
          <a:p>
            <a:pPr>
              <a:spcAft>
                <a:spcPts val="800"/>
              </a:spcAft>
              <a:defRPr sz="1900"/>
            </a:pPr>
            <a:r>
              <a:t>A good method should have a clear responsibility.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7379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Is a Method?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endParaRPr lang="en-US" dirty="0"/>
          </a:p>
          <a:p>
            <a:pPr>
              <a:spcAft>
                <a:spcPts val="800"/>
              </a:spcAft>
              <a:defRPr sz="1900"/>
            </a:pPr>
            <a:endParaRPr lang="en-US" dirty="0"/>
          </a:p>
          <a:p>
            <a:pPr>
              <a:spcAft>
                <a:spcPts val="800"/>
              </a:spcAft>
              <a:defRPr sz="1900"/>
            </a:pPr>
            <a:endParaRPr lang="en-US" dirty="0"/>
          </a:p>
          <a:p>
            <a:pPr>
              <a:spcAft>
                <a:spcPts val="800"/>
              </a:spcAft>
              <a:defRPr sz="1900"/>
            </a:pPr>
            <a:r>
              <a:rPr dirty="0"/>
              <a:t>A method is a named block of code that performs a task.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We write it once and can call it whenever needed.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Methods improve readability, reuse and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042416"/>
            <a:ext cx="4031873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rPr dirty="0"/>
              <a:t>static void </a:t>
            </a:r>
            <a:r>
              <a:rPr dirty="0" err="1"/>
              <a:t>sayHello</a:t>
            </a:r>
            <a:r>
              <a:rPr dirty="0"/>
              <a:t>() {</a:t>
            </a:r>
            <a:br>
              <a:rPr dirty="0"/>
            </a:br>
            <a:r>
              <a:rPr dirty="0"/>
              <a:t>    </a:t>
            </a:r>
            <a:r>
              <a:rPr dirty="0" err="1"/>
              <a:t>System.out.println</a:t>
            </a:r>
            <a:r>
              <a:rPr dirty="0"/>
              <a:t>("Hello");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68854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Calling a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Defining a method does not execute it. Calling the method executes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static void sayHello() {</a:t>
            </a:r>
            <a:br/>
            <a:r>
              <a:t>    System.out.println("Hello");</a:t>
            </a:r>
            <a:br/>
            <a:r>
              <a:t>}</a:t>
            </a:r>
            <a:br/>
            <a:br/>
            <a:r>
              <a:t>public static void main(String[] args) {</a:t>
            </a:r>
            <a:br/>
            <a:r>
              <a:t>    sayHello();</a:t>
            </a:r>
            <a:br/>
            <a:r>
              <a:t>    sayHello();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 With a 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name = parameter. "Ali" and "Sara" = arguments.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static void greet(String name) {</a:t>
            </a:r>
            <a:br/>
            <a:r>
              <a:t>    System.out.println("Hello " + name);</a:t>
            </a:r>
            <a:br/>
            <a:r>
              <a:t>}</a:t>
            </a:r>
            <a:br/>
            <a:br/>
            <a:r>
              <a:t>greet("Ali");</a:t>
            </a:r>
            <a:br/>
            <a:r>
              <a:t>greet("Sara");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6958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Method With a Return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method sends a value back using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static int add(int a, int b) {</a:t>
            </a:r>
            <a:br/>
            <a:r>
              <a:t>    return a + b;</a:t>
            </a:r>
            <a:br/>
            <a:r>
              <a:t>}</a:t>
            </a:r>
            <a:br/>
            <a:br/>
            <a:r>
              <a:t>int result = add(10, 20);</a:t>
            </a:r>
            <a:br/>
            <a:r>
              <a:t>System.out.println(result);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Four Questions About Any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is the method called?</a:t>
            </a:r>
          </a:p>
          <a:p>
            <a:pPr>
              <a:spcAft>
                <a:spcPts val="800"/>
              </a:spcAft>
              <a:defRPr sz="1900"/>
            </a:pPr>
            <a:r>
              <a:t>2. What information does it need? → parameters</a:t>
            </a:r>
          </a:p>
          <a:p>
            <a:pPr>
              <a:spcAft>
                <a:spcPts val="800"/>
              </a:spcAft>
              <a:defRPr sz="1900"/>
            </a:pPr>
            <a:r>
              <a:t>3. What does it return? → return type</a:t>
            </a:r>
          </a:p>
          <a:p>
            <a:pPr>
              <a:spcAft>
                <a:spcPts val="800"/>
              </a:spcAft>
              <a:defRPr sz="1900"/>
            </a:pPr>
            <a:r>
              <a:t>4. What task does it perform? → method body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Passing an Array to a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 array can be supplied as a method argument.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static int calculateTotal(int[] numbers) {</a:t>
            </a:r>
            <a:br/>
            <a:r>
              <a:t>    int total = 0;</a:t>
            </a:r>
            <a:br/>
            <a:br/>
            <a:r>
              <a:t>    for (int n : numbers) {</a:t>
            </a:r>
            <a:br/>
            <a:r>
              <a:t>        total += n;</a:t>
            </a:r>
            <a:br/>
            <a:r>
              <a:t>    }</a:t>
            </a:r>
            <a:br/>
            <a:br/>
            <a:r>
              <a:t>    return total;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Use the Array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marks = {80, 75, 90};</a:t>
            </a:r>
            <a:br/>
            <a:br/>
            <a:r>
              <a:t>int total = calculateTotal(marks);</a:t>
            </a:r>
            <a:br/>
            <a:br/>
            <a:r>
              <a:t>System.out.println("Total = " + total);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Part 3 — User-Defined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Java already provides classes such as String and Scanner.</a:t>
            </a:r>
          </a:p>
          <a:p>
            <a:pPr>
              <a:spcAft>
                <a:spcPts val="800"/>
              </a:spcAft>
              <a:defRPr sz="1900"/>
            </a:pPr>
            <a:r>
              <a:t>We can create our own classes for our own problems.</a:t>
            </a:r>
          </a:p>
          <a:p>
            <a:pPr>
              <a:spcAft>
                <a:spcPts val="800"/>
              </a:spcAft>
              <a:defRPr sz="1900"/>
            </a:pPr>
            <a:r>
              <a:t>Examples: Student, Car, Book, Employee, BankAccount.</a:t>
            </a:r>
          </a:p>
          <a:p>
            <a:pPr>
              <a:spcAft>
                <a:spcPts val="800"/>
              </a:spcAft>
              <a:defRPr sz="1900"/>
            </a:pPr>
            <a:r>
              <a:t>A user-defined class groups related data and behavior.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Start With a Real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Problem: We need to represent a Student.</a:t>
            </a:r>
          </a:p>
          <a:p>
            <a:pPr>
              <a:spcAft>
                <a:spcPts val="800"/>
              </a:spcAft>
              <a:defRPr sz="1900"/>
            </a:pPr>
            <a:r>
              <a:t>What information does a Student have?</a:t>
            </a:r>
          </a:p>
          <a:p>
            <a:pPr>
              <a:spcAft>
                <a:spcPts val="800"/>
              </a:spcAft>
              <a:defRPr sz="1900"/>
            </a:pPr>
            <a:r>
              <a:t>Name, roll number, marks.</a:t>
            </a:r>
          </a:p>
          <a:p>
            <a:pPr>
              <a:spcAft>
                <a:spcPts val="800"/>
              </a:spcAft>
              <a:defRPr sz="1900"/>
            </a:pPr>
            <a:r>
              <a:t>What can a Student do?</a:t>
            </a:r>
          </a:p>
          <a:p>
            <a:pPr>
              <a:spcAft>
                <a:spcPts val="800"/>
              </a:spcAft>
              <a:defRPr sz="1900"/>
            </a:pPr>
            <a:r>
              <a:t>Calculate total, calculate percentage, display result.</a:t>
            </a:r>
          </a:p>
          <a:p>
            <a:pPr>
              <a:spcAft>
                <a:spcPts val="800"/>
              </a:spcAft>
              <a:defRPr sz="1900"/>
            </a:pPr>
            <a:r>
              <a:t>These answers help us design the class.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Create the Student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name, rollNumber and marks are attributes.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class Student {</a:t>
            </a:r>
            <a:br/>
            <a:r>
              <a:t>    String name;</a:t>
            </a:r>
            <a:br/>
            <a:r>
              <a:t>    int rollNumber;</a:t>
            </a:r>
            <a:br/>
            <a:r>
              <a:t>    int[] marks;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an Attribute?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An attribute is data that describes an object.</a:t>
            </a:r>
          </a:p>
          <a:p>
            <a:pPr>
              <a:spcAft>
                <a:spcPts val="800"/>
              </a:spcAft>
              <a:defRPr sz="1900"/>
            </a:pPr>
            <a:r>
              <a:t>For Student:</a:t>
            </a:r>
          </a:p>
          <a:p>
            <a:pPr>
              <a:spcAft>
                <a:spcPts val="800"/>
              </a:spcAft>
              <a:defRPr sz="1900"/>
            </a:pPr>
            <a:r>
              <a:t>name → identifies the student</a:t>
            </a:r>
          </a:p>
          <a:p>
            <a:pPr>
              <a:spcAft>
                <a:spcPts val="800"/>
              </a:spcAft>
              <a:defRPr sz="1900"/>
            </a:pPr>
            <a:r>
              <a:t>rollNumber → identifies the student record</a:t>
            </a:r>
          </a:p>
          <a:p>
            <a:pPr>
              <a:spcAft>
                <a:spcPts val="800"/>
              </a:spcAft>
              <a:defRPr sz="1900"/>
            </a:pPr>
            <a:r>
              <a:t>marks → stores academic data.</a:t>
            </a:r>
          </a:p>
          <a:p>
            <a:pPr>
              <a:spcAft>
                <a:spcPts val="800"/>
              </a:spcAft>
              <a:defRPr sz="1900"/>
            </a:pPr>
            <a:r>
              <a:t>Attributes represent the object's state.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Add a Method to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method works directly with the Student object's 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class Student {</a:t>
            </a:r>
            <a:br/>
            <a:r>
              <a:t>    String name;</a:t>
            </a:r>
            <a:br/>
            <a:r>
              <a:t>    int rollNumber;</a:t>
            </a:r>
            <a:br/>
            <a:r>
              <a:t>    int[] marks;</a:t>
            </a:r>
            <a:br/>
            <a:br/>
            <a:r>
              <a:t>    int calculateTotal() {</a:t>
            </a:r>
            <a:br/>
            <a:r>
              <a:t>        int total = 0;</a:t>
            </a:r>
            <a:br/>
            <a:r>
              <a:t>        for (int mark : marks) {</a:t>
            </a:r>
            <a:br/>
            <a:r>
              <a:t>            total += mark;</a:t>
            </a:r>
            <a:br/>
            <a:r>
              <a:t>        }</a:t>
            </a:r>
            <a:br/>
            <a:r>
              <a:t>        return total;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Calculate Percentage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method reuses calculateTotal() instead of duplicating the calculation.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double calculatePercentage() {</a:t>
            </a:r>
            <a:br/>
            <a:r>
              <a:t>    return (double) calculateTotal()</a:t>
            </a:r>
            <a:br/>
            <a:r>
              <a:t>           / 300 * 100;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Create a Student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5761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Class = blueprint. Object = actual instance.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Student s1 = new Student();</a:t>
            </a:r>
            <a:br/>
            <a:br/>
            <a:r>
              <a:t>s1.name = "Ali";</a:t>
            </a:r>
            <a:br/>
            <a:r>
              <a:t>s1.rollNumber = 101;</a:t>
            </a:r>
            <a:br/>
            <a:r>
              <a:t>s1.marks = new int[]{80, 75, 90};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Use the Student 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6436377" cy="21852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endParaRPr lang="en-US" dirty="0"/>
          </a:p>
          <a:p>
            <a:pPr>
              <a:defRPr sz="1700">
                <a:latin typeface="Consolas"/>
              </a:defRPr>
            </a:pPr>
            <a:endParaRPr lang="en-US" dirty="0"/>
          </a:p>
          <a:p>
            <a:pPr>
              <a:defRPr sz="1700">
                <a:latin typeface="Consolas"/>
              </a:defRPr>
            </a:pPr>
            <a:endParaRPr lang="en-US" dirty="0"/>
          </a:p>
          <a:p>
            <a:pPr>
              <a:defRPr sz="1700">
                <a:latin typeface="Consolas"/>
              </a:defRPr>
            </a:pPr>
            <a:r>
              <a:rPr dirty="0" err="1"/>
              <a:t>System.out.println</a:t>
            </a:r>
            <a:r>
              <a:rPr dirty="0"/>
              <a:t>("Name: " + s1.name);</a:t>
            </a:r>
            <a:br>
              <a:rPr dirty="0"/>
            </a:br>
            <a:r>
              <a:rPr dirty="0" err="1"/>
              <a:t>System.out.println</a:t>
            </a:r>
            <a:r>
              <a:rPr dirty="0"/>
              <a:t>("Roll No: " + s1.rollNumber);</a:t>
            </a:r>
            <a:br>
              <a:rPr dirty="0"/>
            </a:br>
            <a:r>
              <a:rPr dirty="0" err="1"/>
              <a:t>System.out.println</a:t>
            </a:r>
            <a:r>
              <a:rPr dirty="0"/>
              <a:t>("Total: " + s1.calculateTotal());</a:t>
            </a:r>
            <a:br>
              <a:rPr dirty="0"/>
            </a:br>
            <a:r>
              <a:rPr dirty="0" err="1"/>
              <a:t>System.out.printf</a:t>
            </a:r>
            <a:r>
              <a:rPr dirty="0"/>
              <a:t>("Percentage: %.2f%%%n",</a:t>
            </a:r>
            <a:br>
              <a:rPr dirty="0"/>
            </a:br>
            <a:r>
              <a:rPr dirty="0"/>
              <a:t>                  s1.calculatePercentage());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Understand the Dot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dot means: access something belonging to this object.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s1.name</a:t>
            </a:r>
            <a:br/>
            <a:r>
              <a:t>s1.rollNumber</a:t>
            </a:r>
            <a:br/>
            <a:r>
              <a:t>s1.marks</a:t>
            </a:r>
            <a:br/>
            <a:r>
              <a:t>s1.calculateTotal()</a:t>
            </a:r>
            <a:br/>
            <a:r>
              <a:t>s1.calculatePercentage()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One Class → Many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Same class definition, different objects, different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Student s1 = new Student();</a:t>
            </a:r>
            <a:br/>
            <a:r>
              <a:t>Student s2 = new Student();</a:t>
            </a:r>
            <a:br/>
            <a:br/>
            <a:r>
              <a:t>s1.name = "Ali";</a:t>
            </a:r>
            <a:br/>
            <a:r>
              <a:t>s2.name = "Sara";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Array of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array stores references to Student objects.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Student[] students = new Student[3];</a:t>
            </a:r>
            <a:br/>
            <a:br/>
            <a:r>
              <a:t>students[0] = new Student();</a:t>
            </a:r>
            <a:br/>
            <a:r>
              <a:t>students[1] = new Student();</a:t>
            </a:r>
            <a:br/>
            <a:r>
              <a:t>students[2] = new Student();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Complete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ARRAY → stores multiple values.</a:t>
            </a:r>
          </a:p>
          <a:p>
            <a:pPr>
              <a:spcAft>
                <a:spcPts val="800"/>
              </a:spcAft>
              <a:defRPr sz="1900"/>
            </a:pPr>
            <a:r>
              <a:t>METHOD → performs a task.</a:t>
            </a:r>
          </a:p>
          <a:p>
            <a:pPr>
              <a:spcAft>
                <a:spcPts val="800"/>
              </a:spcAft>
              <a:defRPr sz="1900"/>
            </a:pPr>
            <a:r>
              <a:t>CLASS → defines a custom type.</a:t>
            </a:r>
          </a:p>
          <a:p>
            <a:pPr>
              <a:spcAft>
                <a:spcPts val="800"/>
              </a:spcAft>
              <a:defRPr sz="1900"/>
            </a:pPr>
            <a:r>
              <a:t>OBJECT → actual instance of that class.</a:t>
            </a:r>
          </a:p>
          <a:p>
            <a:pPr>
              <a:spcAft>
                <a:spcPts val="800"/>
              </a:spcAft>
              <a:defRPr sz="1900"/>
            </a:pPr>
            <a:r>
              <a:t>ATTRIBUTE → object's data/state.</a:t>
            </a:r>
          </a:p>
          <a:p>
            <a:pPr>
              <a:spcAft>
                <a:spcPts val="800"/>
              </a:spcAft>
              <a:defRPr sz="1900"/>
            </a:pPr>
            <a:r>
              <a:t>METHOD → object's behavior.</a:t>
            </a:r>
          </a:p>
          <a:p>
            <a:pPr>
              <a:spcAft>
                <a:spcPts val="800"/>
              </a:spcAft>
              <a:defRPr sz="1900"/>
            </a:pPr>
            <a:r>
              <a:t>ARRAY OF OBJECTS → many objects managed together.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Build the Project in Small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Step 1 → create Student class.</a:t>
            </a:r>
          </a:p>
          <a:p>
            <a:pPr>
              <a:spcAft>
                <a:spcPts val="800"/>
              </a:spcAft>
              <a:defRPr sz="1900"/>
            </a:pPr>
            <a:r>
              <a:t>Step 2 → add attributes.</a:t>
            </a:r>
          </a:p>
          <a:p>
            <a:pPr>
              <a:spcAft>
                <a:spcPts val="800"/>
              </a:spcAft>
              <a:defRPr sz="1900"/>
            </a:pPr>
            <a:r>
              <a:t>Step 3 → add calculateTotal().</a:t>
            </a:r>
          </a:p>
          <a:p>
            <a:pPr>
              <a:spcAft>
                <a:spcPts val="800"/>
              </a:spcAft>
              <a:defRPr sz="1900"/>
            </a:pPr>
            <a:r>
              <a:t>Step 4 → test one object.</a:t>
            </a:r>
          </a:p>
          <a:p>
            <a:pPr>
              <a:spcAft>
                <a:spcPts val="800"/>
              </a:spcAft>
              <a:defRPr sz="1900"/>
            </a:pPr>
            <a:r>
              <a:t>Step 5 → add calculatePercentage().</a:t>
            </a:r>
          </a:p>
          <a:p>
            <a:pPr>
              <a:spcAft>
                <a:spcPts val="800"/>
              </a:spcAft>
              <a:defRPr sz="1900"/>
            </a:pPr>
            <a:r>
              <a:t>Step 6 → create multiple objects.</a:t>
            </a:r>
          </a:p>
          <a:p>
            <a:pPr>
              <a:spcAft>
                <a:spcPts val="800"/>
              </a:spcAft>
              <a:defRPr sz="1900"/>
            </a:pPr>
            <a:r>
              <a:t>Step 7 → create array of Student objects.</a:t>
            </a:r>
          </a:p>
          <a:p>
            <a:pPr>
              <a:spcAft>
                <a:spcPts val="800"/>
              </a:spcAft>
              <a:defRPr sz="1900"/>
            </a:pPr>
            <a:r>
              <a:t>Step 8 → process objects with a loop.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Common Beginner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Using array[5] when the array has length 5.</a:t>
            </a:r>
          </a:p>
          <a:p>
            <a:pPr>
              <a:spcAft>
                <a:spcPts val="800"/>
              </a:spcAft>
              <a:defRPr sz="1900"/>
            </a:pPr>
            <a:r>
              <a:t>Writing i &lt;= array.length instead of i &lt; array.length.</a:t>
            </a:r>
          </a:p>
          <a:p>
            <a:pPr>
              <a:spcAft>
                <a:spcPts val="800"/>
              </a:spcAft>
              <a:defRPr sz="1900"/>
            </a:pPr>
            <a:r>
              <a:t>Confusing index with value.</a:t>
            </a:r>
          </a:p>
          <a:p>
            <a:pPr>
              <a:spcAft>
                <a:spcPts val="800"/>
              </a:spcAft>
              <a:defRPr sz="1900"/>
            </a:pPr>
            <a:r>
              <a:t>Calling a method before understanding its parameters.</a:t>
            </a:r>
          </a:p>
          <a:p>
            <a:pPr>
              <a:spcAft>
                <a:spcPts val="800"/>
              </a:spcAft>
              <a:defRPr sz="1900"/>
            </a:pPr>
            <a:r>
              <a:t>Forgetting new Student().</a:t>
            </a:r>
          </a:p>
          <a:p>
            <a:pPr>
              <a:spcAft>
                <a:spcPts val="800"/>
              </a:spcAft>
              <a:defRPr sz="1900"/>
            </a:pPr>
            <a:r>
              <a:t>Trying to use an object that has not been created.</a:t>
            </a:r>
          </a:p>
          <a:p>
            <a:pPr>
              <a:spcAft>
                <a:spcPts val="800"/>
              </a:spcAft>
              <a:defRPr sz="1900"/>
            </a:pPr>
            <a:r>
              <a:t>Putting all logic into main() instead of using methods.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Debugging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Read the FIRST error message.</a:t>
            </a:r>
          </a:p>
          <a:p>
            <a:pPr>
              <a:spcAft>
                <a:spcPts val="800"/>
              </a:spcAft>
              <a:defRPr sz="1900"/>
            </a:pPr>
            <a:r>
              <a:t>Go to the line mentioned by the compiler.</a:t>
            </a:r>
          </a:p>
          <a:p>
            <a:pPr>
              <a:spcAft>
                <a:spcPts val="800"/>
              </a:spcAft>
              <a:defRPr sz="1900"/>
            </a:pPr>
            <a:r>
              <a:t>Check spelling, brackets, semicolons and data types.</a:t>
            </a:r>
          </a:p>
          <a:p>
            <a:pPr>
              <a:spcAft>
                <a:spcPts val="800"/>
              </a:spcAft>
              <a:defRPr sz="1900"/>
            </a:pPr>
            <a:r>
              <a:t>For wrong output, print intermediate values.</a:t>
            </a:r>
          </a:p>
          <a:p>
            <a:pPr>
              <a:spcAft>
                <a:spcPts val="800"/>
              </a:spcAft>
              <a:defRPr sz="1900"/>
            </a:pPr>
            <a:r>
              <a:t>Trace loops one iteration at a time.</a:t>
            </a:r>
          </a:p>
          <a:p>
            <a:pPr>
              <a:spcAft>
                <a:spcPts val="800"/>
              </a:spcAft>
              <a:defRPr sz="1900"/>
            </a:pPr>
            <a:r>
              <a:t>Change one thing at a time.</a:t>
            </a:r>
          </a:p>
          <a:p>
            <a:pPr>
              <a:spcAft>
                <a:spcPts val="800"/>
              </a:spcAft>
              <a:defRPr sz="1900"/>
            </a:pPr>
            <a:r>
              <a:t>Never debug by random guessing.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Classroom Exercise — Predict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STOP. Ask students for the output before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0789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nsolas"/>
              </a:defRPr>
            </a:pPr>
            <a:r>
              <a:t>int[] numbers = {10, 20, 30};</a:t>
            </a:r>
            <a:br/>
            <a:br/>
            <a:r>
              <a:t>for (int i = 0; i &lt; numbers.length; i++) {</a:t>
            </a:r>
            <a:br/>
            <a:r>
              <a:t>    numbers[i] = numbers[i] + 5;</a:t>
            </a:r>
            <a:br/>
            <a:r>
              <a:t>}</a:t>
            </a:r>
            <a:br/>
            <a:br/>
            <a:r>
              <a:t>for (int n : numbers) {</a:t>
            </a:r>
            <a:br/>
            <a:r>
              <a:t>    System.out.println(n);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Practical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rPr dirty="0"/>
              <a:t>Build a small Student Result System without copying a complete solution.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Required concepts: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✓ Array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✓ Loop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✓ Method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✓ User-defined class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✓ Object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✓ ✓ Input and output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Check — Students Should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54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rPr dirty="0"/>
              <a:t>What is an array?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Why does Java start array indexes at 0?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What does length mean?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What is a method?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Parameter vs argument?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What is a class?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What is an object?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What does new do?</a:t>
            </a:r>
          </a:p>
          <a:p>
            <a:pPr>
              <a:spcAft>
                <a:spcPts val="800"/>
              </a:spcAft>
              <a:defRPr sz="1900"/>
            </a:pPr>
            <a:r>
              <a:rPr dirty="0"/>
              <a:t>What is an attribute?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Remember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Don't memorize Java syntax without understanding it.</a:t>
            </a:r>
          </a:p>
          <a:p>
            <a:pPr>
              <a:spcAft>
                <a:spcPts val="800"/>
              </a:spcAft>
              <a:defRPr sz="1900"/>
            </a:pPr>
            <a:r>
              <a:t>Think about the problem first.</a:t>
            </a:r>
          </a:p>
          <a:p>
            <a:pPr>
              <a:spcAft>
                <a:spcPts val="800"/>
              </a:spcAft>
              <a:defRPr sz="1900"/>
            </a:pPr>
            <a:r>
              <a:t>Break the problem into small tasks.</a:t>
            </a:r>
          </a:p>
          <a:p>
            <a:pPr>
              <a:spcAft>
                <a:spcPts val="800"/>
              </a:spcAft>
              <a:defRPr sz="1900"/>
            </a:pPr>
            <a:r>
              <a:t>Use arrays for groups of values.</a:t>
            </a:r>
          </a:p>
          <a:p>
            <a:pPr>
              <a:spcAft>
                <a:spcPts val="800"/>
              </a:spcAft>
              <a:defRPr sz="1900"/>
            </a:pPr>
            <a:r>
              <a:t>Use methods for tasks.</a:t>
            </a:r>
          </a:p>
          <a:p>
            <a:pPr>
              <a:spcAft>
                <a:spcPts val="800"/>
              </a:spcAft>
              <a:defRPr sz="1900"/>
            </a:pPr>
            <a:r>
              <a:t>Use classes to model entities.</a:t>
            </a:r>
          </a:p>
          <a:p>
            <a:pPr>
              <a:spcAft>
                <a:spcPts val="800"/>
              </a:spcAft>
              <a:defRPr sz="1900"/>
            </a:pPr>
            <a:r>
              <a:t>Use objects to work with actual entities.</a:t>
            </a:r>
          </a:p>
          <a:p>
            <a:pPr>
              <a:spcAft>
                <a:spcPts val="800"/>
              </a:spcAft>
              <a:defRPr sz="1900"/>
            </a:pPr>
            <a:r>
              <a:t>Build → run → trace → modify → understand.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2866</Words>
  <Application>Microsoft Office PowerPoint</Application>
  <PresentationFormat>Widescreen</PresentationFormat>
  <Paragraphs>252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Yasir Ali Naich</cp:lastModifiedBy>
  <cp:revision>8</cp:revision>
  <dcterms:created xsi:type="dcterms:W3CDTF">2013-01-27T09:14:16Z</dcterms:created>
  <dcterms:modified xsi:type="dcterms:W3CDTF">2026-09-15T13:38:12Z</dcterms:modified>
  <cp:category/>
</cp:coreProperties>
</file>