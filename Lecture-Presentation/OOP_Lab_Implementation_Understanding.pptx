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OOP Lab Session — From Problem to Working Java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BS Computer Science — Second Semester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Hands-on implementation session</a:t>
            </a:r>
          </a:p>
          <a:p>
            <a:pPr>
              <a:spcAft>
                <a:spcPts val="800"/>
              </a:spcAft>
              <a:defRPr sz="1900"/>
            </a:pPr>
            <a:r>
              <a:t>Understand what we type, why we type it, and what happens when it runs.</a:t>
            </a:r>
          </a:p>
          <a:p>
            <a:pPr>
              <a:spcAft>
                <a:spcPts val="800"/>
              </a:spcAft>
              <a:defRPr sz="1900"/>
            </a:pPr>
            <a:r>
              <a:t>We build programs step by step instead of copying complete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Today's Lab 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Create and run a Java class successfully.</a:t>
            </a:r>
          </a:p>
          <a:p>
            <a:pPr>
              <a:spcAft>
                <a:spcPts val="800"/>
              </a:spcAft>
              <a:defRPr sz="1900"/>
            </a:pPr>
            <a:r>
              <a:t>Understand class structure and main().</a:t>
            </a:r>
          </a:p>
          <a:p>
            <a:pPr>
              <a:spcAft>
                <a:spcPts val="800"/>
              </a:spcAft>
              <a:defRPr sz="1900"/>
            </a:pPr>
            <a:r>
              <a:t>Use variables, input, processing and output.</a:t>
            </a:r>
          </a:p>
          <a:p>
            <a:pPr>
              <a:spcAft>
                <a:spcPts val="800"/>
              </a:spcAft>
              <a:defRPr sz="1900"/>
            </a:pPr>
            <a:r>
              <a:t>Use conditions and loops to solve problems.</a:t>
            </a:r>
          </a:p>
          <a:p>
            <a:pPr>
              <a:spcAft>
                <a:spcPts val="800"/>
              </a:spcAft>
              <a:defRPr sz="1900"/>
            </a:pPr>
            <a:r>
              <a:t>Create classes, methods and multiple objects.</a:t>
            </a:r>
          </a:p>
          <a:p>
            <a:pPr>
              <a:spcAft>
                <a:spcPts val="800"/>
              </a:spcAft>
              <a:defRPr sz="1900"/>
            </a:pPr>
            <a:r>
              <a:t>Trace the program when something goes wrong.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Golden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Understand the problem — identify input and required output.</a:t>
            </a:r>
          </a:p>
          <a:p>
            <a:pPr>
              <a:spcAft>
                <a:spcPts val="800"/>
              </a:spcAft>
              <a:defRPr sz="1900"/>
            </a:pPr>
            <a:r>
              <a:t>2. Plan — write the formula, logic or small flowchart.</a:t>
            </a:r>
          </a:p>
          <a:p>
            <a:pPr>
              <a:spcAft>
                <a:spcPts val="800"/>
              </a:spcAft>
              <a:defRPr sz="1900"/>
            </a:pPr>
            <a:r>
              <a:t>3. Code — start with the smallest working version.</a:t>
            </a:r>
          </a:p>
          <a:p>
            <a:pPr>
              <a:spcAft>
                <a:spcPts val="800"/>
              </a:spcAft>
              <a:defRPr sz="1900"/>
            </a:pPr>
            <a:r>
              <a:t>4. Compile — fix syntax/compiler errors.</a:t>
            </a:r>
          </a:p>
          <a:p>
            <a:pPr>
              <a:spcAft>
                <a:spcPts val="800"/>
              </a:spcAft>
              <a:defRPr sz="1900"/>
            </a:pPr>
            <a:r>
              <a:t>5. Run — test with real input.</a:t>
            </a:r>
          </a:p>
          <a:p>
            <a:pPr>
              <a:spcAft>
                <a:spcPts val="800"/>
              </a:spcAft>
              <a:defRPr sz="1900"/>
            </a:pPr>
            <a:r>
              <a:t>6. Trace — follow variable values when output is wrong.</a:t>
            </a:r>
          </a:p>
          <a:p>
            <a:pPr>
              <a:spcAft>
                <a:spcPts val="800"/>
              </a:spcAft>
              <a:defRPr sz="1900"/>
            </a:pPr>
            <a:r>
              <a:t>7. Improve — add methods, validation or objects.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Input → Process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rPr dirty="0"/>
              <a:t>INPUT: What information does the program receive?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PROCESS: What calculations or decisions are required?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OUTPUT: What should the user see?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Example — Student Marks: name + marks → total + percentage → result summary.</a:t>
            </a:r>
          </a:p>
          <a:p>
            <a:pPr>
              <a:spcAft>
                <a:spcPts val="800"/>
              </a:spcAft>
              <a:defRPr sz="19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 1 — Your First Java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Identify: class → main() → statement →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2304287"/>
            <a:ext cx="5474576" cy="27084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endParaRPr lang="en-US" dirty="0"/>
          </a:p>
          <a:p>
            <a:pPr>
              <a:defRPr sz="1700">
                <a:latin typeface="Consolas"/>
              </a:defRPr>
            </a:pPr>
            <a:r>
              <a:rPr dirty="0"/>
              <a:t>public class </a:t>
            </a:r>
            <a:r>
              <a:rPr dirty="0" err="1"/>
              <a:t>LearnJava</a:t>
            </a:r>
            <a:r>
              <a:rPr dirty="0"/>
              <a:t> {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/>
              <a:t>        </a:t>
            </a:r>
            <a:r>
              <a:rPr dirty="0" err="1"/>
              <a:t>System.out.println</a:t>
            </a:r>
            <a:r>
              <a:rPr dirty="0"/>
              <a:t>("Hello World");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/>
              <a:t>    }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Trace Before You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Execution starts from main().</a:t>
            </a:r>
          </a:p>
          <a:p>
            <a:pPr>
              <a:spcAft>
                <a:spcPts val="800"/>
              </a:spcAft>
              <a:defRPr sz="1900"/>
            </a:pPr>
            <a:r>
              <a:t>println() sends text to standard output.</a:t>
            </a:r>
          </a:p>
          <a:p>
            <a:pPr>
              <a:spcAft>
                <a:spcPts val="800"/>
              </a:spcAft>
              <a:defRPr sz="1900"/>
            </a:pPr>
            <a:r>
              <a:t>Statements normally end with ;</a:t>
            </a:r>
          </a:p>
          <a:p>
            <a:pPr>
              <a:spcAft>
                <a:spcPts val="800"/>
              </a:spcAft>
              <a:defRPr sz="1900"/>
            </a:pPr>
            <a:r>
              <a:t>Braces { } define blocks.</a:t>
            </a:r>
          </a:p>
          <a:p>
            <a:pPr>
              <a:spcAft>
                <a:spcPts val="800"/>
              </a:spcAft>
              <a:defRPr sz="1900"/>
            </a:pPr>
            <a:r>
              <a:t>Predict what happens if you remove ;, a brace, or change main().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 2 —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For every variable: type + name +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String name = "Ali";</a:t>
            </a:r>
            <a:br/>
            <a:r>
              <a:t>int age = 20;</a:t>
            </a:r>
            <a:br/>
            <a:r>
              <a:t>double cgpa = 3.25;</a:t>
            </a:r>
            <a:br/>
            <a:br/>
            <a:r>
              <a:t>System.out.println(name);</a:t>
            </a:r>
            <a:br/>
            <a:r>
              <a:t>System.out.println(age);</a:t>
            </a:r>
            <a:br/>
            <a:r>
              <a:t>System.out.println(cgpa);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Declaration, Initialization,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 age;       // declaration</a:t>
            </a:r>
            <a:br/>
            <a:r>
              <a:t>age = 20;       // assignment</a:t>
            </a:r>
            <a:br/>
            <a:r>
              <a:t>age = 21;       // re-assignment</a:t>
            </a:r>
            <a:br/>
            <a:br/>
            <a:r>
              <a:t>int marks = 85; // declaration + initialization</a:t>
            </a:r>
            <a:br/>
            <a:r>
              <a:t>final double PI = 3.14159;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 3 — Keyboard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Prompt → input → variable →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6917278" cy="40164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rPr dirty="0"/>
              <a:t>import </a:t>
            </a:r>
            <a:r>
              <a:rPr dirty="0" err="1"/>
              <a:t>java.util.Scanner</a:t>
            </a:r>
            <a:r>
              <a:rPr dirty="0"/>
              <a:t>;</a:t>
            </a:r>
            <a:br>
              <a:rPr dirty="0"/>
            </a:br>
            <a:br>
              <a:rPr dirty="0"/>
            </a:br>
            <a:r>
              <a:rPr dirty="0"/>
              <a:t>Scanner input = new Scanner(System.in);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 err="1"/>
              <a:t>System.out.print</a:t>
            </a:r>
            <a:r>
              <a:rPr dirty="0"/>
              <a:t>("Enter name: ");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/>
              <a:t>String name = </a:t>
            </a:r>
            <a:r>
              <a:rPr dirty="0" err="1"/>
              <a:t>input.nextLine</a:t>
            </a:r>
            <a:r>
              <a:rPr dirty="0"/>
              <a:t>();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 err="1"/>
              <a:t>System.out.print</a:t>
            </a:r>
            <a:r>
              <a:rPr dirty="0"/>
              <a:t>("Enter age: ");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/>
              <a:t>int age = </a:t>
            </a:r>
            <a:r>
              <a:rPr dirty="0" err="1"/>
              <a:t>input.nextInt</a:t>
            </a:r>
            <a:r>
              <a:rPr dirty="0"/>
              <a:t>();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 err="1"/>
              <a:t>System.out.println</a:t>
            </a:r>
            <a:r>
              <a:rPr dirty="0"/>
              <a:t>(name + " is " + age + " years old.");</a:t>
            </a:r>
            <a:endParaRPr lang="en-US" dirty="0"/>
          </a:p>
          <a:p>
            <a:pPr>
              <a:defRPr sz="1700">
                <a:latin typeface="Consolas"/>
              </a:defRPr>
            </a:pPr>
            <a:br>
              <a:rPr dirty="0"/>
            </a:br>
            <a:r>
              <a:rPr dirty="0" err="1"/>
              <a:t>input.close</a:t>
            </a:r>
            <a:r>
              <a:rPr dirty="0"/>
              <a:t>();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Scanner: Which Method?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nextInt() → integer</a:t>
            </a:r>
          </a:p>
          <a:p>
            <a:pPr>
              <a:spcAft>
                <a:spcPts val="800"/>
              </a:spcAft>
              <a:defRPr sz="1900"/>
            </a:pPr>
            <a:r>
              <a:t>nextDouble() → decimal</a:t>
            </a:r>
          </a:p>
          <a:p>
            <a:pPr>
              <a:spcAft>
                <a:spcPts val="800"/>
              </a:spcAft>
              <a:defRPr sz="1900"/>
            </a:pPr>
            <a:r>
              <a:t>next() → one token/word</a:t>
            </a:r>
          </a:p>
          <a:p>
            <a:pPr>
              <a:spcAft>
                <a:spcPts val="800"/>
              </a:spcAft>
              <a:defRPr sz="1900"/>
            </a:pPr>
            <a:r>
              <a:t>nextLine() → complete line</a:t>
            </a:r>
          </a:p>
          <a:p>
            <a:pPr>
              <a:spcAft>
                <a:spcPts val="800"/>
              </a:spcAft>
              <a:defRPr sz="1900"/>
            </a:pPr>
            <a:r>
              <a:t>nextBoolean() → true/false</a:t>
            </a:r>
          </a:p>
          <a:p>
            <a:pPr>
              <a:spcAft>
                <a:spcPts val="800"/>
              </a:spcAft>
              <a:defRPr sz="1900"/>
            </a:pPr>
            <a:r>
              <a:t>Remember the nextInt() + nextLine() newline issue.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 4 — Build a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Instructor: build it live and let students predict each next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Problem: input two numbers.</a:t>
            </a:r>
          </a:p>
          <a:p>
            <a:pPr>
              <a:spcAft>
                <a:spcPts val="800"/>
              </a:spcAft>
              <a:defRPr sz="1900"/>
            </a:pPr>
            <a:r>
              <a:t>Calculate addition, subtraction, multiplication and division.</a:t>
            </a:r>
          </a:p>
          <a:p>
            <a:pPr>
              <a:spcAft>
                <a:spcPts val="800"/>
              </a:spcAft>
              <a:defRPr sz="1900"/>
            </a:pPr>
            <a:r>
              <a:t>First write IPO.</a:t>
            </a:r>
          </a:p>
          <a:p>
            <a:pPr>
              <a:spcAft>
                <a:spcPts val="800"/>
              </a:spcAft>
              <a:defRPr sz="1900"/>
            </a:pPr>
            <a:r>
              <a:t>Then declare variables.</a:t>
            </a:r>
          </a:p>
          <a:p>
            <a:pPr>
              <a:spcAft>
                <a:spcPts val="800"/>
              </a:spcAft>
              <a:defRPr sz="1900"/>
            </a:pPr>
            <a:r>
              <a:t>Then calculate.</a:t>
            </a:r>
          </a:p>
          <a:p>
            <a:pPr>
              <a:spcAft>
                <a:spcPts val="800"/>
              </a:spcAft>
              <a:defRPr sz="1900"/>
            </a:pPr>
            <a:r>
              <a:t>Finally display clear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Calculator — Core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Students should supply input and output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double sum = a + b;</a:t>
            </a:r>
            <a:br/>
            <a:r>
              <a:t>double difference = a - b;</a:t>
            </a:r>
            <a:br/>
            <a:r>
              <a:t>double product = a * b;</a:t>
            </a:r>
            <a:br/>
            <a:r>
              <a:t>double quotient = a / b;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 5 — Percentage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Ask why double is useful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double obtained = 425;</a:t>
            </a:r>
            <a:br/>
            <a:r>
              <a:t>double total = 500;</a:t>
            </a:r>
            <a:br/>
            <a:r>
              <a:t>double percentage = obtained / total * 100;</a:t>
            </a:r>
            <a:br/>
            <a:r>
              <a:t>System.out.println("Percentage = " + percentage);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Now We Add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 condition evaluates to true or false.</a:t>
            </a:r>
          </a:p>
          <a:p>
            <a:pPr>
              <a:spcAft>
                <a:spcPts val="800"/>
              </a:spcAft>
              <a:defRPr sz="1900"/>
            </a:pPr>
            <a:r>
              <a:t>Example: percentage &gt;= 50?</a:t>
            </a:r>
          </a:p>
          <a:p>
            <a:pPr>
              <a:spcAft>
                <a:spcPts val="800"/>
              </a:spcAft>
              <a:defRPr sz="1900"/>
            </a:pPr>
            <a:r>
              <a:t>true → Pass</a:t>
            </a:r>
          </a:p>
          <a:p>
            <a:pPr>
              <a:spcAft>
                <a:spcPts val="800"/>
              </a:spcAft>
              <a:defRPr sz="1900"/>
            </a:pPr>
            <a:r>
              <a:t>false → Fail</a:t>
            </a:r>
          </a:p>
          <a:p>
            <a:pPr>
              <a:spcAft>
                <a:spcPts val="800"/>
              </a:spcAft>
              <a:defRPr sz="1900"/>
            </a:pPr>
            <a:r>
              <a:t>The computer follows exactly the condition we write.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3963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Lab </a:t>
            </a:r>
            <a:r>
              <a:rPr lang="en-US" dirty="0"/>
              <a:t>Task</a:t>
            </a:r>
            <a:r>
              <a:rPr dirty="0"/>
              <a:t> — Pass /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Predict results for 49, 50 and 75 before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if (percentage &gt;= 50) {</a:t>
            </a:r>
            <a:br/>
            <a:r>
              <a:t>    System.out.println("Pass");</a:t>
            </a:r>
            <a:br/>
            <a:r>
              <a:t>} else {</a:t>
            </a:r>
            <a:br/>
            <a:r>
              <a:t>    System.out.println("Fail");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4099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Lab </a:t>
            </a:r>
            <a:r>
              <a:rPr lang="en-US" dirty="0"/>
              <a:t>Task</a:t>
            </a:r>
            <a:r>
              <a:rPr dirty="0"/>
              <a:t> — Grade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Conditions are checked from top to bottom.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if (marks &gt;= 80) {</a:t>
            </a:r>
            <a:br/>
            <a:r>
              <a:t>    System.out.println("A");</a:t>
            </a:r>
            <a:br/>
            <a:r>
              <a:t>} else if (marks &gt;= 70) {</a:t>
            </a:r>
            <a:br/>
            <a:r>
              <a:t>    System.out.println("B");</a:t>
            </a:r>
            <a:br/>
            <a:r>
              <a:t>} else if (marks &gt;= 60) {</a:t>
            </a:r>
            <a:br/>
            <a:r>
              <a:t>    System.out.println("C");</a:t>
            </a:r>
            <a:br/>
            <a:r>
              <a:t>} else if (marks &gt;= 50) {</a:t>
            </a:r>
            <a:br/>
            <a:r>
              <a:t>    System.out.println("D");</a:t>
            </a:r>
            <a:br/>
            <a:r>
              <a:t>} else {</a:t>
            </a:r>
            <a:br/>
            <a:r>
              <a:t>    System.out.println("F");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Logic Mistake to 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80 also satisfies &gt;= 50, so A is never reached.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// Wrong order</a:t>
            </a:r>
            <a:br/>
            <a:r>
              <a:t>if (marks &gt;= 50) {</a:t>
            </a:r>
            <a:br/>
            <a:r>
              <a:t>    System.out.println("D");</a:t>
            </a:r>
            <a:br/>
            <a:r>
              <a:t>} else if (marks &gt;= 80) {</a:t>
            </a:r>
            <a:br/>
            <a:r>
              <a:t>    System.out.println("A");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9846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Why Loops?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endParaRPr lang="en-US" dirty="0"/>
          </a:p>
          <a:p>
            <a:pPr>
              <a:spcAft>
                <a:spcPts val="800"/>
              </a:spcAft>
              <a:defRPr sz="1900"/>
            </a:pPr>
            <a:endParaRPr lang="en-US" dirty="0"/>
          </a:p>
          <a:p>
            <a:pPr>
              <a:spcAft>
                <a:spcPts val="800"/>
              </a:spcAft>
              <a:defRPr sz="1900"/>
            </a:pPr>
            <a:endParaRPr lang="en-US" dirty="0"/>
          </a:p>
          <a:p>
            <a:pPr>
              <a:spcAft>
                <a:spcPts val="800"/>
              </a:spcAft>
              <a:defRPr sz="1900"/>
            </a:pPr>
            <a:r>
              <a:rPr dirty="0"/>
              <a:t>Printing 1–100 with 100 statements is repetitive and difficult to maintain.</a:t>
            </a:r>
            <a:endParaRPr lang="en-US" dirty="0"/>
          </a:p>
          <a:p>
            <a:pPr>
              <a:spcAft>
                <a:spcPts val="800"/>
              </a:spcAft>
              <a:defRPr sz="1900"/>
            </a:pPr>
            <a:endParaRPr dirty="0"/>
          </a:p>
          <a:p>
            <a:pPr>
              <a:spcAft>
                <a:spcPts val="800"/>
              </a:spcAft>
              <a:defRPr sz="1900"/>
            </a:pPr>
            <a:r>
              <a:rPr dirty="0"/>
              <a:t>A loop describes the repeated action once.</a:t>
            </a:r>
            <a:endParaRPr lang="en-US" dirty="0"/>
          </a:p>
          <a:p>
            <a:pPr>
              <a:spcAft>
                <a:spcPts val="800"/>
              </a:spcAft>
              <a:defRPr sz="1900"/>
            </a:pPr>
            <a:endParaRPr dirty="0"/>
          </a:p>
          <a:p>
            <a:pPr>
              <a:spcAft>
                <a:spcPts val="800"/>
              </a:spcAft>
              <a:defRPr sz="1900"/>
            </a:pPr>
            <a:r>
              <a:rPr dirty="0"/>
              <a:t>Every loop needs a starting point, condition and update.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Build a for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Trace: i=1 → print → i++ → condition → repeat → stop.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for (int i = 1; i &lt;= 5; i++) {</a:t>
            </a:r>
            <a:br/>
            <a:r>
              <a:t>    System.out.println(i);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Loop Trace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Iteration 1: i=1 → true → print 1 → i becomes 2.</a:t>
            </a:r>
          </a:p>
          <a:p>
            <a:pPr>
              <a:spcAft>
                <a:spcPts val="800"/>
              </a:spcAft>
              <a:defRPr sz="1900"/>
            </a:pPr>
            <a:r>
              <a:t>Continue until the condition becomes false.</a:t>
            </a:r>
          </a:p>
          <a:p>
            <a:pPr>
              <a:spcAft>
                <a:spcPts val="800"/>
              </a:spcAft>
              <a:defRPr sz="1900"/>
            </a:pPr>
            <a:r>
              <a:t>Students: trace 1–10 on paper.</a:t>
            </a:r>
          </a:p>
          <a:p>
            <a:pPr>
              <a:spcAft>
                <a:spcPts val="800"/>
              </a:spcAft>
              <a:defRPr sz="1900"/>
            </a:pPr>
            <a:r>
              <a:t>Then modify the loop to print even numbers only.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while vs do-while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Which one prints?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 i = 10;</a:t>
            </a:r>
            <a:br/>
            <a:r>
              <a:t>while (i &lt; 10) {</a:t>
            </a:r>
            <a:br/>
            <a:r>
              <a:t>    System.out.println(i);</a:t>
            </a:r>
            <a:br/>
            <a:r>
              <a:t>}</a:t>
            </a:r>
            <a:br/>
            <a:br/>
            <a:r>
              <a:t>do {</a:t>
            </a:r>
            <a:br/>
            <a:r>
              <a:t>    System.out.println(i);</a:t>
            </a:r>
            <a:br/>
            <a:r>
              <a:t>} while (i &lt; 10);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1897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Lab</a:t>
            </a:r>
            <a:r>
              <a:rPr lang="en-US" dirty="0"/>
              <a:t> Task</a:t>
            </a:r>
            <a:r>
              <a:rPr dirty="0"/>
              <a:t> — Why Methods?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Methods divide a large problem into smaller tasks.</a:t>
            </a:r>
          </a:p>
          <a:p>
            <a:pPr>
              <a:spcAft>
                <a:spcPts val="800"/>
              </a:spcAft>
              <a:defRPr sz="1900"/>
            </a:pPr>
            <a:r>
              <a:t>They avoid copying the same logic.</a:t>
            </a:r>
          </a:p>
          <a:p>
            <a:pPr>
              <a:spcAft>
                <a:spcPts val="800"/>
              </a:spcAft>
              <a:defRPr sz="1900"/>
            </a:pPr>
            <a:r>
              <a:t>They improve readability and testing.</a:t>
            </a:r>
          </a:p>
          <a:p>
            <a:pPr>
              <a:spcAft>
                <a:spcPts val="800"/>
              </a:spcAft>
              <a:defRPr sz="1900"/>
            </a:pPr>
            <a:r>
              <a:t>Examples: calculateTotal(), calculatePercentage(), displayResult().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 Without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void means no value is returned.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public static void sayHello() {</a:t>
            </a:r>
            <a:br/>
            <a:r>
              <a:t>    System.out.println("Hello Student");</a:t>
            </a:r>
            <a:br/>
            <a:r>
              <a:t>}</a:t>
            </a:r>
            <a:br/>
            <a:br/>
            <a:r>
              <a:t>public static void main(String[] args) {</a:t>
            </a:r>
            <a:br/>
            <a:r>
              <a:t>    sayHello();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 With Parameters +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a,b = parameters; 10,5 = arguments; result receives the return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public static int add(int a, int b) {</a:t>
            </a:r>
            <a:br/>
            <a:r>
              <a:t>    return a + b;</a:t>
            </a:r>
            <a:br/>
            <a:r>
              <a:t>}</a:t>
            </a:r>
            <a:br/>
            <a:br/>
            <a:r>
              <a:t>int result = add(10, 5);</a:t>
            </a:r>
            <a:br/>
            <a:r>
              <a:t>System.out.println(result);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Now We Enter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Earlier we focused mainly on instructions and methods.</a:t>
            </a:r>
          </a:p>
          <a:p>
            <a:pPr>
              <a:spcAft>
                <a:spcPts val="800"/>
              </a:spcAft>
              <a:defRPr sz="1900"/>
            </a:pPr>
            <a:r>
              <a:t>OOP asks: what entities exist in this problem?</a:t>
            </a:r>
          </a:p>
          <a:p>
            <a:pPr>
              <a:spcAft>
                <a:spcPts val="800"/>
              </a:spcAft>
              <a:defRPr sz="1900"/>
            </a:pPr>
            <a:r>
              <a:t>What data belongs to each entity?</a:t>
            </a:r>
          </a:p>
          <a:p>
            <a:pPr>
              <a:spcAft>
                <a:spcPts val="800"/>
              </a:spcAft>
              <a:defRPr sz="1900"/>
            </a:pPr>
            <a:r>
              <a:t>What behavior belongs to each entity?</a:t>
            </a:r>
          </a:p>
          <a:p>
            <a:pPr>
              <a:spcAft>
                <a:spcPts val="800"/>
              </a:spcAft>
              <a:defRPr sz="1900"/>
            </a:pPr>
            <a:r>
              <a:t>Example: Student has student data and student-related behavior.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Identify the Class Before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Problem: Student Result System.</a:t>
            </a:r>
          </a:p>
          <a:p>
            <a:pPr>
              <a:spcAft>
                <a:spcPts val="800"/>
              </a:spcAft>
              <a:defRPr sz="1900"/>
            </a:pPr>
            <a:r>
              <a:t>Main entity → Student.</a:t>
            </a:r>
          </a:p>
          <a:p>
            <a:pPr>
              <a:spcAft>
                <a:spcPts val="800"/>
              </a:spcAft>
              <a:defRPr sz="1900"/>
            </a:pPr>
            <a:r>
              <a:t>State/data → name, rollNumber, marks1, marks2, marks3.</a:t>
            </a:r>
          </a:p>
          <a:p>
            <a:pPr>
              <a:spcAft>
                <a:spcPts val="800"/>
              </a:spcAft>
              <a:defRPr sz="1900"/>
            </a:pPr>
            <a:r>
              <a:t>Behavior → calculateTotal(), calculatePercentage(), displayResult.</a:t>
            </a:r>
          </a:p>
          <a:p>
            <a:pPr>
              <a:spcAft>
                <a:spcPts val="800"/>
              </a:spcAft>
              <a:defRPr sz="1900"/>
            </a:pPr>
            <a:r>
              <a:t>This is the bridge from problem statement to class design.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Class =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We are defining what every Student object can contain.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class Student {</a:t>
            </a:r>
            <a:br/>
            <a:r>
              <a:t>    String name;</a:t>
            </a:r>
            <a:br/>
            <a:r>
              <a:t>    String rollNumber;</a:t>
            </a:r>
            <a:br/>
            <a:r>
              <a:t>    double marks1, marks2, marks3;</a:t>
            </a:r>
            <a:br/>
            <a:br/>
            <a:r>
              <a:t>    // methods go here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 = Actual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Same class; different objects; independent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3430747" cy="140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rPr dirty="0"/>
              <a:t>Student s1 = new Student();</a:t>
            </a:r>
            <a:br>
              <a:rPr dirty="0"/>
            </a:br>
            <a:r>
              <a:rPr dirty="0"/>
              <a:t>Student s2 = new Student();</a:t>
            </a:r>
            <a:br>
              <a:rPr dirty="0"/>
            </a:br>
            <a:br>
              <a:rPr dirty="0"/>
            </a:br>
            <a:r>
              <a:rPr dirty="0"/>
              <a:t>s1.name = "</a:t>
            </a:r>
            <a:r>
              <a:rPr lang="en-US" dirty="0"/>
              <a:t>Ali</a:t>
            </a:r>
            <a:r>
              <a:rPr dirty="0"/>
              <a:t>";</a:t>
            </a:r>
            <a:br>
              <a:rPr dirty="0"/>
            </a:br>
            <a:r>
              <a:rPr dirty="0"/>
              <a:t>s2.name = "</a:t>
            </a:r>
            <a:r>
              <a:rPr lang="en-US" dirty="0"/>
              <a:t>Sara</a:t>
            </a:r>
            <a:r>
              <a:rPr dirty="0"/>
              <a:t>";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Does new Student()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Student s1; → declares a reference variable.</a:t>
            </a:r>
          </a:p>
          <a:p>
            <a:pPr>
              <a:spcAft>
                <a:spcPts val="800"/>
              </a:spcAft>
              <a:defRPr sz="1900"/>
            </a:pPr>
            <a:r>
              <a:t>new Student(); → creates a Student object.</a:t>
            </a:r>
          </a:p>
          <a:p>
            <a:pPr>
              <a:spcAft>
                <a:spcPts val="800"/>
              </a:spcAft>
              <a:defRPr sz="1900"/>
            </a:pPr>
            <a:r>
              <a:t>s1 = new Student(); → s1 refers to that object.</a:t>
            </a:r>
          </a:p>
          <a:p>
            <a:pPr>
              <a:spcAft>
                <a:spcPts val="800"/>
              </a:spcAft>
              <a:defRPr sz="1900"/>
            </a:pPr>
            <a:r>
              <a:t>s1.name = "Ali"; → changes the object's state.</a:t>
            </a:r>
          </a:p>
          <a:p>
            <a:pPr>
              <a:spcAft>
                <a:spcPts val="800"/>
              </a:spcAft>
              <a:defRPr sz="1900"/>
            </a:pPr>
            <a:r>
              <a:t>s1.calculateTotal(); → invokes behavior on that object.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Add Behavior to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rPr dirty="0"/>
              <a:t>class Student {</a:t>
            </a:r>
            <a:br>
              <a:rPr dirty="0"/>
            </a:br>
            <a:r>
              <a:rPr dirty="0"/>
              <a:t>    String name;</a:t>
            </a:r>
            <a:br>
              <a:rPr dirty="0"/>
            </a:br>
            <a:r>
              <a:rPr dirty="0"/>
              <a:t>    double marks1, marks2, marks3;</a:t>
            </a:r>
            <a:br>
              <a:rPr dirty="0"/>
            </a:br>
            <a:br>
              <a:rPr dirty="0"/>
            </a:br>
            <a:r>
              <a:rPr dirty="0"/>
              <a:t>    double </a:t>
            </a:r>
            <a:r>
              <a:rPr dirty="0" err="1"/>
              <a:t>calculateTotal</a:t>
            </a:r>
            <a:r>
              <a:rPr dirty="0"/>
              <a:t>() {</a:t>
            </a:r>
            <a:br>
              <a:rPr dirty="0"/>
            </a:br>
            <a:r>
              <a:rPr dirty="0"/>
              <a:t>        return marks1 + marks2 + marks3;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double </a:t>
            </a:r>
            <a:r>
              <a:rPr dirty="0" err="1"/>
              <a:t>calculatePercentage</a:t>
            </a:r>
            <a:r>
              <a:rPr dirty="0"/>
              <a:t>() {</a:t>
            </a:r>
            <a:br>
              <a:rPr dirty="0"/>
            </a:br>
            <a:r>
              <a:rPr dirty="0"/>
              <a:t>        return </a:t>
            </a:r>
            <a:r>
              <a:rPr dirty="0" err="1"/>
              <a:t>calculateTotal</a:t>
            </a:r>
            <a:r>
              <a:rPr dirty="0"/>
              <a:t>() / 300 * 100;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Create and Use the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Create → assign state → call behavior → display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rPr dirty="0"/>
              <a:t>public class Main {</a:t>
            </a:r>
            <a:br>
              <a:rPr dirty="0"/>
            </a:br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  <a:br>
              <a:rPr dirty="0"/>
            </a:br>
            <a:r>
              <a:rPr dirty="0"/>
              <a:t>        Student s1 = new Student();</a:t>
            </a:r>
            <a:br>
              <a:rPr dirty="0"/>
            </a:br>
            <a:r>
              <a:rPr dirty="0"/>
              <a:t>        s1.name = "Ali";</a:t>
            </a:r>
            <a:br>
              <a:rPr dirty="0"/>
            </a:br>
            <a:r>
              <a:rPr dirty="0"/>
              <a:t>        s1.marks1 = 80;</a:t>
            </a:r>
            <a:br>
              <a:rPr dirty="0"/>
            </a:br>
            <a:r>
              <a:rPr dirty="0"/>
              <a:t>        s1.marks2 = 75;</a:t>
            </a:r>
            <a:br>
              <a:rPr dirty="0"/>
            </a:br>
            <a:r>
              <a:rPr dirty="0"/>
              <a:t>        s1.marks3 = 90;</a:t>
            </a:r>
            <a:br>
              <a:rPr dirty="0"/>
            </a:br>
            <a:br>
              <a:rPr dirty="0"/>
            </a:br>
            <a:r>
              <a:rPr dirty="0"/>
              <a:t>        </a:t>
            </a:r>
            <a:r>
              <a:rPr dirty="0" err="1"/>
              <a:t>System.out.println</a:t>
            </a:r>
            <a:r>
              <a:rPr dirty="0"/>
              <a:t>(s1.name);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System.out.println</a:t>
            </a:r>
            <a:r>
              <a:rPr dirty="0"/>
              <a:t>(s1.calculateTotal());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System.out.println</a:t>
            </a:r>
            <a:r>
              <a:rPr dirty="0"/>
              <a:t>(s1.calculatePercentage());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Multiple Objects — Core OOP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One class definition can create many independent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Student s1 = new Student();</a:t>
            </a:r>
            <a:br/>
            <a:r>
              <a:t>Student s2 = new Student();</a:t>
            </a:r>
            <a:br/>
            <a:br/>
            <a:r>
              <a:t>s1.name = "Ali";</a:t>
            </a:r>
            <a:br/>
            <a:r>
              <a:t>s1.marks1 = 80;</a:t>
            </a:r>
            <a:br/>
            <a:br/>
            <a:r>
              <a:t>s2.name = "Sara";</a:t>
            </a:r>
            <a:br/>
            <a:r>
              <a:t>s2.marks1 = 92;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Complete Lab Challenge — Student Result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Create Student class.</a:t>
            </a:r>
          </a:p>
          <a:p>
            <a:pPr>
              <a:spcAft>
                <a:spcPts val="800"/>
              </a:spcAft>
              <a:defRPr sz="1900"/>
            </a:pPr>
            <a:r>
              <a:t>2. Add name, rollNumber and three marks.</a:t>
            </a:r>
          </a:p>
          <a:p>
            <a:pPr>
              <a:spcAft>
                <a:spcPts val="800"/>
              </a:spcAft>
              <a:defRPr sz="1900"/>
            </a:pPr>
            <a:r>
              <a:t>3. Add calculateTotal().</a:t>
            </a:r>
          </a:p>
          <a:p>
            <a:pPr>
              <a:spcAft>
                <a:spcPts val="800"/>
              </a:spcAft>
              <a:defRPr sz="1900"/>
            </a:pPr>
            <a:r>
              <a:t>4. Add calculatePercentage().</a:t>
            </a:r>
          </a:p>
          <a:p>
            <a:pPr>
              <a:spcAft>
                <a:spcPts val="800"/>
              </a:spcAft>
              <a:defRPr sz="1900"/>
            </a:pPr>
            <a:r>
              <a:t>5. Create at least two Student objects.</a:t>
            </a:r>
          </a:p>
          <a:p>
            <a:pPr>
              <a:spcAft>
                <a:spcPts val="800"/>
              </a:spcAft>
              <a:defRPr sz="1900"/>
            </a:pPr>
            <a:r>
              <a:t>6. Give them different data.</a:t>
            </a:r>
          </a:p>
          <a:p>
            <a:pPr>
              <a:spcAft>
                <a:spcPts val="800"/>
              </a:spcAft>
              <a:defRPr sz="1900"/>
            </a:pPr>
            <a:r>
              <a:t>7. Display each result.</a:t>
            </a:r>
          </a:p>
          <a:p>
            <a:pPr>
              <a:spcAft>
                <a:spcPts val="800"/>
              </a:spcAft>
              <a:defRPr sz="1900"/>
            </a:pPr>
            <a:r>
              <a:t>8. Test with different marks.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Debugging — Do Not Guess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Compiler error → read the FIRST error carefully.</a:t>
            </a:r>
          </a:p>
          <a:p>
            <a:pPr>
              <a:spcAft>
                <a:spcPts val="800"/>
              </a:spcAft>
              <a:defRPr sz="1900"/>
            </a:pPr>
            <a:r>
              <a:t>Check spelling, semicolons, braces, class names and types.</a:t>
            </a:r>
          </a:p>
          <a:p>
            <a:pPr>
              <a:spcAft>
                <a:spcPts val="800"/>
              </a:spcAft>
              <a:defRPr sz="1900"/>
            </a:pPr>
            <a:r>
              <a:t>Wrong output → trace variable values.</a:t>
            </a:r>
          </a:p>
          <a:p>
            <a:pPr>
              <a:spcAft>
                <a:spcPts val="800"/>
              </a:spcAft>
              <a:defRPr sz="1900"/>
            </a:pPr>
            <a:r>
              <a:t>Input issue → check Scanner method and input order.</a:t>
            </a:r>
          </a:p>
          <a:p>
            <a:pPr>
              <a:spcAft>
                <a:spcPts val="800"/>
              </a:spcAft>
              <a:defRPr sz="1900"/>
            </a:pPr>
            <a:r>
              <a:t>Object issue → check whether you created it using new.</a:t>
            </a:r>
          </a:p>
          <a:p>
            <a:pPr>
              <a:spcAft>
                <a:spcPts val="800"/>
              </a:spcAft>
              <a:defRPr sz="1900"/>
            </a:pPr>
            <a:r>
              <a:t>Change one thing at a time and test again.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Type the code; do not just copy it.</a:t>
            </a:r>
          </a:p>
          <a:p>
            <a:pPr>
              <a:spcAft>
                <a:spcPts val="800"/>
              </a:spcAft>
              <a:defRPr sz="1900"/>
            </a:pPr>
            <a:r>
              <a:t>Predict output before running.</a:t>
            </a:r>
          </a:p>
          <a:p>
            <a:pPr>
              <a:spcAft>
                <a:spcPts val="800"/>
              </a:spcAft>
              <a:defRPr sz="1900"/>
            </a:pPr>
            <a:r>
              <a:t>Change examples and observe the result.</a:t>
            </a:r>
          </a:p>
          <a:p>
            <a:pPr>
              <a:spcAft>
                <a:spcPts val="800"/>
              </a:spcAft>
              <a:defRPr sz="1900"/>
            </a:pPr>
            <a:r>
              <a:t>Test normal and boundary inputs.</a:t>
            </a:r>
          </a:p>
          <a:p>
            <a:pPr>
              <a:spcAft>
                <a:spcPts val="800"/>
              </a:spcAft>
              <a:defRPr sz="1900"/>
            </a:pPr>
            <a:r>
              <a:t>Be able to explain each important line.</a:t>
            </a:r>
          </a:p>
          <a:p>
            <a:pPr>
              <a:spcAft>
                <a:spcPts val="800"/>
              </a:spcAft>
              <a:defRPr sz="1900"/>
            </a:pPr>
            <a:r>
              <a:t>Ask: What does this line do? Why is it needed?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Understanding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What is the difference between a class and an object?</a:t>
            </a:r>
          </a:p>
          <a:p>
            <a:pPr>
              <a:spcAft>
                <a:spcPts val="800"/>
              </a:spcAft>
              <a:defRPr sz="1900"/>
            </a:pPr>
            <a:r>
              <a:t>What does new Student() do?</a:t>
            </a:r>
          </a:p>
          <a:p>
            <a:pPr>
              <a:spcAft>
                <a:spcPts val="800"/>
              </a:spcAft>
              <a:defRPr sz="1900"/>
            </a:pPr>
            <a:r>
              <a:t>Why do we use methods?</a:t>
            </a:r>
          </a:p>
          <a:p>
            <a:pPr>
              <a:spcAft>
                <a:spcPts val="800"/>
              </a:spcAft>
              <a:defRPr sz="1900"/>
            </a:pPr>
            <a:r>
              <a:t>Parameter vs argument?</a:t>
            </a:r>
          </a:p>
          <a:p>
            <a:pPr>
              <a:spcAft>
                <a:spcPts val="800"/>
              </a:spcAft>
              <a:defRPr sz="1900"/>
            </a:pPr>
            <a:r>
              <a:t>Why is 10 / 3 equal to 3 with int operands?</a:t>
            </a:r>
          </a:p>
          <a:p>
            <a:pPr>
              <a:spcAft>
                <a:spcPts val="800"/>
              </a:spcAft>
              <a:defRPr sz="1900"/>
            </a:pPr>
            <a:r>
              <a:t>When would you choose for vs while?</a:t>
            </a:r>
          </a:p>
          <a:p>
            <a:pPr>
              <a:spcAft>
                <a:spcPts val="800"/>
              </a:spcAft>
              <a:defRPr sz="1900"/>
            </a:pPr>
            <a:r>
              <a:t>Can you build the Student Result System without copying it?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Practice After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Create Car: brand, model, color, speed; methods accelerate(), brake(), displayInfo().</a:t>
            </a:r>
          </a:p>
          <a:p>
            <a:pPr>
              <a:spcAft>
                <a:spcPts val="800"/>
              </a:spcAft>
              <a:defRPr sz="1900"/>
            </a:pPr>
            <a:r>
              <a:t>Create two Car objects with different values.</a:t>
            </a:r>
          </a:p>
          <a:p>
            <a:pPr>
              <a:spcAft>
                <a:spcPts val="800"/>
              </a:spcAft>
              <a:defRPr sz="1900"/>
            </a:pPr>
            <a:r>
              <a:t>Create BankAccount: accountNumber, holderName, balance; methods deposit(), withdraw(), displayBalance().</a:t>
            </a:r>
          </a:p>
          <a:p>
            <a:pPr>
              <a:spcAft>
                <a:spcPts val="800"/>
              </a:spcAft>
              <a:defRPr sz="1900"/>
            </a:pPr>
            <a:r>
              <a:t>Focus on understanding implementation, not only getting output.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Mental Model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PROBLEM → identify entity → CLASS → create OBJECT → set STATE → call BEHAVIOR → OUTPUT</a:t>
            </a:r>
          </a:p>
          <a:p>
            <a:pPr>
              <a:spcAft>
                <a:spcPts val="800"/>
              </a:spcAft>
              <a:defRPr sz="1900"/>
            </a:pPr>
            <a:r>
              <a:t>Class = blueprint</a:t>
            </a:r>
          </a:p>
          <a:p>
            <a:pPr>
              <a:spcAft>
                <a:spcPts val="800"/>
              </a:spcAft>
              <a:defRPr sz="1900"/>
            </a:pPr>
            <a:r>
              <a:t>Object = actual instance</a:t>
            </a:r>
          </a:p>
          <a:p>
            <a:pPr>
              <a:spcAft>
                <a:spcPts val="800"/>
              </a:spcAft>
              <a:defRPr sz="1900"/>
            </a:pPr>
            <a:r>
              <a:t>State = data</a:t>
            </a:r>
          </a:p>
          <a:p>
            <a:pPr>
              <a:spcAft>
                <a:spcPts val="800"/>
              </a:spcAft>
              <a:defRPr sz="1900"/>
            </a:pPr>
            <a:r>
              <a:t>Behavior = methods</a:t>
            </a:r>
          </a:p>
          <a:p>
            <a:pPr>
              <a:spcAft>
                <a:spcPts val="800"/>
              </a:spcAft>
              <a:defRPr sz="1900"/>
            </a:pPr>
            <a:r>
              <a:t>Identity = distinct object</a:t>
            </a:r>
          </a:p>
          <a:p>
            <a:pPr>
              <a:spcAft>
                <a:spcPts val="800"/>
              </a:spcAft>
              <a:defRPr sz="1900"/>
            </a:pPr>
            <a:r>
              <a:t>This foundation will support constructors, encapsulation, inheritance and polymorphism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2094</Words>
  <Application>Microsoft Office PowerPoint</Application>
  <PresentationFormat>Widescreen</PresentationFormat>
  <Paragraphs>196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Yasir Ali Naich</cp:lastModifiedBy>
  <cp:revision>6</cp:revision>
  <dcterms:created xsi:type="dcterms:W3CDTF">2013-01-27T09:14:16Z</dcterms:created>
  <dcterms:modified xsi:type="dcterms:W3CDTF">2026-08-20T12:12:10Z</dcterms:modified>
  <cp:category/>
</cp:coreProperties>
</file>